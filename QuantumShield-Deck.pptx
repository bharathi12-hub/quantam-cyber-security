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Findings</c:v>
                </c:pt>
              </c:strCache>
            </c:strRef>
          </c:tx>
          <c:spPr>
            <a:solidFill>
              <a:srgbClr val="FF5C7A"/>
            </a:solidFill>
            <a:effectLst/>
          </c:spPr>
          <c:invertIfNegative val="0"/>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F5C7A"/>
              </a:solidFill>
              <a:effectLst/>
            </c:spPr>
          </c:dPt>
          <c:dPt>
            <c:idx val="1"/>
            <c:invertIfNegative val="0"/>
            <c:bubble3D val="0"/>
            <c:spPr>
              <a:solidFill>
                <a:srgbClr val="FFB547"/>
              </a:solidFill>
              <a:effectLst/>
            </c:spPr>
          </c:dPt>
          <c:dPt>
            <c:idx val="2"/>
            <c:invertIfNegative val="0"/>
            <c:bubble3D val="0"/>
            <c:spPr>
              <a:solidFill>
                <a:srgbClr val="4CC9F0"/>
              </a:solidFill>
              <a:effectLst/>
            </c:spPr>
          </c:dPt>
          <c:dPt>
            <c:idx val="3"/>
            <c:invertIfNegative val="0"/>
            <c:bubble3D val="0"/>
            <c:spPr>
              <a:solidFill>
                <a:srgbClr val="3BE8B0"/>
              </a:solidFill>
              <a:effectLst/>
            </c:spPr>
          </c:dPt>
          <c:cat>
            <c:multiLvlStrRef>
              <c:f>Sheet1!$A$2:$A$5</c:f>
              <c:multiLvlStrCache>
                <c:ptCount val="4"/>
                <c:lvl>
                  <c:pt idx="0">
                    <c:v>Critical</c:v>
                  </c:pt>
                  <c:pt idx="1">
                    <c:v>High</c:v>
                  </c:pt>
                  <c:pt idx="2">
                    <c:v>Medium</c:v>
                  </c:pt>
                  <c:pt idx="3">
                    <c:v>Low</c:v>
                  </c:pt>
                </c:lvl>
              </c:multiLvlStrCache>
            </c:multiLvlStrRef>
          </c:cat>
          <c:val>
            <c:numRef>
              <c:f>Sheet1!$B$2:$B$5</c:f>
              <c:numCache>
                <c:formatCode>General</c:formatCode>
                <c:ptCount val="4"/>
                <c:pt idx="0">
                  <c:v>24</c:v>
                </c:pt>
                <c:pt idx="1">
                  <c:v>45</c:v>
                </c:pt>
                <c:pt idx="2">
                  <c:v>12</c:v>
                </c:pt>
                <c:pt idx="3">
                  <c:v>2</c:v>
                </c:pt>
              </c:numCache>
            </c:numRef>
          </c:val>
        </c:ser>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AA7D0"/>
                </a:solidFill>
                <a:latin typeface="Calibri"/>
              </a:defRPr>
            </a:pPr>
            <a:endParaRPr lang="en-US"/>
          </a:p>
        </c:txPr>
        <c:crossAx val="2094734552"/>
        <c:crosses val="autoZero"/>
        <c:auto val="1"/>
        <c:lblAlgn val="ctr"/>
        <c:noMultiLvlLbl val="1"/>
      </c:catAx>
      <c:valAx>
        <c:axId val="2094734552"/>
        <c:scaling>
          <c:orientation val="minMax"/>
          <c:max val="5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9AA7D0"/>
                </a:solidFill>
                <a:latin typeface="Calibri"/>
              </a:defRPr>
            </a:pPr>
            <a:endParaRPr lang="en-US"/>
          </a:p>
        </c:txPr>
        <c:crossAx val="2094734554"/>
        <c:crosses val="autoZero"/>
        <c:crossBetween val="between"/>
      </c:valAx>
      <c:spPr>
        <a:solidFill>
          <a:srgbClr val="111A3D"/>
        </a:solidFill>
        <a:ln>
          <a:noFill/>
        </a:ln>
        <a:effectLst/>
      </c:spPr>
    </c:plotArea>
    <c:plotVisOnly val="1"/>
    <c:dispBlanksAs val="span"/>
  </c:chart>
  <c:spPr>
    <a:solidFill>
      <a:srgbClr val="111A3D"/>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Exposure</c:v>
                </c:pt>
              </c:strCache>
            </c:strRef>
          </c:tx>
          <c:spPr>
            <a:solidFill>
              <a:schemeClr val="accent1"/>
            </a:solidFill>
            <a:ln w="9525" cap="flat">
              <a:solidFill>
                <a:srgbClr val="F9F9F9"/>
              </a:solidFill>
              <a:prstDash val="solid"/>
              <a:round/>
            </a:ln>
            <a:effectLst/>
          </c:spPr>
          <c:dPt>
            <c:idx val="0"/>
            <c:bubble3D val="0"/>
            <c:spPr>
              <a:solidFill>
                <a:srgbClr val="FF5C7A"/>
              </a:solidFill>
              <a:effectLst/>
            </c:spPr>
          </c:dPt>
          <c:dPt>
            <c:idx val="1"/>
            <c:bubble3D val="0"/>
            <c:spPr>
              <a:solidFill>
                <a:srgbClr val="FFB547"/>
              </a:solidFill>
              <a:effectLst/>
            </c:spPr>
          </c:dPt>
          <c:dPt>
            <c:idx val="2"/>
            <c:bubble3D val="0"/>
            <c:spPr>
              <a:solidFill>
                <a:srgbClr val="9B8CFA"/>
              </a:solidFill>
              <a:effectLst/>
            </c:spPr>
          </c:dPt>
          <c:dLbls>
            <c:dLbl>
              <c:idx val="0"/>
              <c:numFmt formatCode="General" sourceLinked="0"/>
              <c:spPr/>
              <c:txPr>
                <a:bodyPr/>
                <a:lstStyle/>
                <a:p>
                  <a:pPr>
                    <a:defRPr sz="1200" b="1"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Shor-broken</c:v>
                </c:pt>
                <c:pt idx="1">
                  <c:v>Grover-weakened</c:v>
                </c:pt>
                <c:pt idx="2">
                  <c:v>Classically weak</c:v>
                </c:pt>
              </c:strCache>
            </c:strRef>
          </c:cat>
          <c:val>
            <c:numRef>
              <c:f>Sheet1!$B$2:$B$4</c:f>
              <c:numCache>
                <c:ptCount val="3"/>
                <c:pt idx="0">
                  <c:v>25</c:v>
                </c:pt>
                <c:pt idx="1">
                  <c:v>2</c:v>
                </c:pt>
                <c:pt idx="2">
                  <c:v>56</c:v>
                </c:pt>
              </c:numCache>
            </c:numRef>
          </c:val>
        </c:ser>
        <c:firstSliceAng val="0"/>
        <c:holeSize val="58"/>
      </c:doughnutChart>
      <c:spPr>
        <a:solidFill>
          <a:srgbClr val="111A3D"/>
        </a:solidFill>
        <a:ln>
          <a:noFill/>
        </a:ln>
        <a:effectLst/>
      </c:spPr>
    </c:plotArea>
    <c:plotVisOnly val="1"/>
    <c:dispBlanksAs val="span"/>
  </c:chart>
  <c:spPr>
    <a:solidFill>
      <a:srgbClr val="111A3D"/>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Findings</c:v>
                </c:pt>
              </c:strCache>
            </c:strRef>
          </c:tx>
          <c:spPr>
            <a:solidFill>
              <a:srgbClr val="4CC9F0"/>
            </a:solidFill>
            <a:effectLst/>
          </c:spPr>
          <c:invertIfNegative val="0"/>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Sheet1!$A$2:$A$8</c:f>
              <c:multiLvlStrCache>
                <c:ptCount val="7"/>
                <c:lvl>
                  <c:pt idx="0">
                    <c:v>ECDSA</c:v>
                  </c:pt>
                  <c:pt idx="1">
                    <c:v>SHA-1</c:v>
                  </c:pt>
                  <c:pt idx="2">
                    <c:v>3DES / RC4</c:v>
                  </c:pt>
                  <c:pt idx="3">
                    <c:v>Ed25519</c:v>
                  </c:pt>
                  <c:pt idx="4">
                    <c:v>MD5</c:v>
                  </c:pt>
                  <c:pt idx="5">
                    <c:v>RSA</c:v>
                  </c:pt>
                  <c:pt idx="6">
                    <c:v>Embedded secret</c:v>
                  </c:pt>
                </c:lvl>
              </c:multiLvlStrCache>
            </c:multiLvlStrRef>
          </c:cat>
          <c:val>
            <c:numRef>
              <c:f>Sheet1!$B$2:$B$8</c:f>
              <c:numCache>
                <c:formatCode>General</c:formatCode>
                <c:ptCount val="7"/>
                <c:pt idx="0">
                  <c:v>5</c:v>
                </c:pt>
                <c:pt idx="1">
                  <c:v>5</c:v>
                </c:pt>
                <c:pt idx="2">
                  <c:v>6</c:v>
                </c:pt>
                <c:pt idx="3">
                  <c:v>6</c:v>
                </c:pt>
                <c:pt idx="4">
                  <c:v>10</c:v>
                </c:pt>
                <c:pt idx="5">
                  <c:v>11</c:v>
                </c:pt>
                <c:pt idx="6">
                  <c:v>17</c:v>
                </c:pt>
              </c:numCache>
            </c:numRef>
          </c:val>
        </c:ser>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9AA7D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9AA7D0"/>
                </a:solidFill>
                <a:latin typeface="Calibri"/>
              </a:defRPr>
            </a:pPr>
            <a:endParaRPr lang="en-US"/>
          </a:p>
        </c:txPr>
        <c:crossAx val="2094734554"/>
        <c:crosses val="autoZero"/>
        <c:crossBetween val="between"/>
      </c:valAx>
      <c:spPr>
        <a:solidFill>
          <a:srgbClr val="111A3D"/>
        </a:solidFill>
        <a:ln>
          <a:noFill/>
        </a:ln>
        <a:effectLst/>
      </c:spPr>
    </c:plotArea>
    <c:plotVisOnly val="1"/>
    <c:dispBlanksAs val="span"/>
  </c:chart>
  <c:spPr>
    <a:solidFill>
      <a:srgbClr val="111A3D"/>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Classical</c:v>
                </c:pt>
              </c:strCache>
            </c:strRef>
          </c:tx>
          <c:spPr>
            <a:solidFill>
              <a:srgbClr val="6B7AA8"/>
            </a:solidFill>
            <a:effectLst/>
          </c:spPr>
          <c:invertIfNegative val="0"/>
          <c:dLbls>
            <c:numFmt formatCode="#,##0" sourceLinked="0"/>
            <c:txPr>
              <a:bodyPr/>
              <a:lstStyle/>
              <a:p>
                <a:pPr>
                  <a:defRPr b="1" i="0" strike="noStrike" sz="9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Public key</c:v>
                  </c:pt>
                  <c:pt idx="1">
                    <c:v>Signature</c:v>
                  </c:pt>
                  <c:pt idx="2">
                    <c:v>Key / cert storage</c:v>
                  </c:pt>
                </c:lvl>
              </c:multiLvlStrCache>
            </c:multiLvlStrRef>
          </c:cat>
          <c:val>
            <c:numRef>
              <c:f>Sheet1!$B$2:$B$4</c:f>
              <c:numCache>
                <c:formatCode>General</c:formatCode>
                <c:ptCount val="3"/>
                <c:pt idx="0">
                  <c:v>1808</c:v>
                </c:pt>
                <c:pt idx="1">
                  <c:v>576</c:v>
                </c:pt>
                <c:pt idx="2">
                  <c:v>2384</c:v>
                </c:pt>
              </c:numCache>
            </c:numRef>
          </c:val>
        </c:ser>
        <c:ser>
          <c:idx val="1"/>
          <c:order val="1"/>
          <c:tx>
            <c:strRef>
              <c:f>Sheet1!$C$1</c:f>
              <c:strCache>
                <c:ptCount val="1"/>
                <c:pt idx="0">
                  <c:v>Post-quantum</c:v>
                </c:pt>
              </c:strCache>
            </c:strRef>
          </c:tx>
          <c:spPr>
            <a:solidFill>
              <a:srgbClr val="3BE8B0"/>
            </a:solidFill>
            <a:effectLst/>
          </c:spPr>
          <c:invertIfNegative val="0"/>
          <c:dLbls>
            <c:numFmt formatCode="#,##0" sourceLinked="0"/>
            <c:txPr>
              <a:bodyPr/>
              <a:lstStyle/>
              <a:p>
                <a:pPr>
                  <a:defRPr b="1" i="0" strike="noStrike" sz="9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Public key</c:v>
                  </c:pt>
                  <c:pt idx="1">
                    <c:v>Signature</c:v>
                  </c:pt>
                  <c:pt idx="2">
                    <c:v>Key / cert storage</c:v>
                  </c:pt>
                </c:lvl>
              </c:multiLvlStrCache>
            </c:multiLvlStrRef>
          </c:cat>
          <c:val>
            <c:numRef>
              <c:f>Sheet1!$C$2:$C$4</c:f>
              <c:numCache>
                <c:formatCode>General</c:formatCode>
                <c:ptCount val="3"/>
                <c:pt idx="0">
                  <c:v>20352</c:v>
                </c:pt>
                <c:pt idx="1">
                  <c:v>26472</c:v>
                </c:pt>
                <c:pt idx="2">
                  <c:v>46824</c:v>
                </c:pt>
              </c:numCache>
            </c:numRef>
          </c:val>
        </c:ser>
        <c:dLbls>
          <c:numFmt formatCode="#,##0" sourceLinked="0"/>
          <c:txPr>
            <a:bodyPr/>
            <a:lstStyle/>
            <a:p>
              <a:pPr>
                <a:defRPr b="1" i="0" strike="noStrike" sz="900" u="none">
                  <a:solidFill>
                    <a:srgbClr val="FFFFF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AA7D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9AA7D0"/>
                </a:solidFill>
                <a:latin typeface="Calibri"/>
              </a:defRPr>
            </a:pPr>
            <a:endParaRPr lang="en-US"/>
          </a:p>
        </c:txPr>
        <c:crossAx val="2094734554"/>
        <c:crosses val="autoZero"/>
        <c:crossBetween val="between"/>
      </c:valAx>
      <c:spPr>
        <a:solidFill>
          <a:srgbClr val="111A3D"/>
        </a:solidFill>
        <a:ln>
          <a:noFill/>
        </a:ln>
        <a:effectLst/>
      </c:spPr>
    </c:plotArea>
    <c:legend>
      <c:legendPos val="t"/>
      <c:overlay val="0"/>
      <c:txPr>
        <a:bodyPr/>
        <a:lstStyle/>
        <a:p>
          <a:pPr>
            <a:defRPr sz="1000">
              <a:solidFill>
                <a:srgbClr val="9AA7D0"/>
              </a:solidFill>
              <a:latin typeface="Calibri"/>
              <a:cs typeface="Calibri"/>
            </a:defRPr>
          </a:pPr>
          <a:endParaRPr lang="en-US"/>
        </a:p>
      </c:txPr>
    </c:legend>
    <c:plotVisOnly val="1"/>
    <c:dispBlanksAs val="span"/>
  </c:chart>
  <c:spPr>
    <a:solidFill>
      <a:srgbClr val="111A3D"/>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QuantumShield — a post-quantum cryptography discovery, risk, simulation and migration platform, built and running for QUANT-A-THAN 2026. Replace the name and institution placeholders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threats. Shor breaks asymmetric crypto completely — that is the headline. Harvest-now-decrypt-later makes it a present-tense risk, not a 2035 risk: data stolen today is decrypted later. Grover halves symmetric strength, which is survivable by doubling key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dates are public and they are close. FIPS standards landed in August 2024. NIST IR 8547 sets 2030 for deprecation and 2035 for disallowing RSA and ECC. CNSA 2.0 pulls national-security systems earlier. Migration of a large estate takes years, so the work starts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problem statement. NIST solved the algorithm question in 2024. What organizations still cannot do is enumerate their own cryptography. QuantumShield turns six scattered sources into one searchable inventory — the numbers shown are from the live demo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five-stage pipeline is the product. Discover builds the inventory, Assess scores it against quantum threats, Simulate models what migration actually costs on the wire, Plan sequences the work, Prove maps it to the frameworks an auditor asks about. Every stage is a working backend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Inputs are deliberately broad — you can point it at a local path, a GitHub URL, an upload or a paste. The detection core is where the analysis happens. The intelligence layer turns findings into decisions. Everything is exposed over one REST API, so the dashboard has no privileged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differentiator. A regex scanner reports the string. The AST analyzer parses Python properly, resolves imports and aliases, and tracks a tainted value from a hardcoded secret to the cryptographic call that consumes it. If a file fails to parse we degrade to pattern rules rather than dropping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live API output. The estate scores 100 out of 100 on risk — grade F — driven by 24 critical findings. Quantum readiness of 69 and a detection confidence of 77% are computed by the risk engine, not hand-written.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the same 83 findings. On the left, the quantum classification: 25 findings are broken by Shor and must move to PQC; 56 are already weak by classical standards and are cheap wins. On the right, what actually showed up — embedded secrets lead, then RSA and MD5.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mapping is the bridge from finding to fix. Key establishment goes to ML-KEM under FIPS 203; signatures go to ML-DSA under FIPS 204, with SLH-DSA for rare long-lived signatures. The non-quantum items — weak hashes, dead ciphers, embedded secrets — get conventional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planner generates this from the scan — phases, effort in person-days, compatibility scores and rollback strategy per phase. The sequencing decision is the interesting part: phase 2 is the most expensive and least compatible, but it runs first because harvest-now-decrypt-later makes confidentiality irreversible.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slide. Signatures grow roughly 46x, per-handshake bytes go from 227 to 7,533 — about 7.3 GB of extra traffic a day at a million handshakes. CPU is actually fine: ML-KEM is faster than RSA-2048. The recommendation is hybrid deployment so there is never a hard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Compliance-as-code. The engine maps each finding category to specific controls across eight frameworks and scores pass, partial or fail per framework. This estate fails all eight — SC-13 Cryptographic Protection alone picks up 23 findings. The value is that the evidence is attached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discovery surfaces. Certificates are parsed for real, not pattern-matched — we read the key algorithm and size out of the X.509 structure. Dependencies are parsed from four manifest formats and exported as a CycloneDX SBOM, so the crypto risk in your supply chain lands in the same posture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that it runs. 32 backend tests pass, 37 REST endpoints are live, and the repository scanner was pointed at the real pyjwt repo on GitHub — 62 files scanned, 23 findings. The AI advisor is knowledge-based and offline, so no source code ever leaves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was deliberately controlled: build a complete vertical slice that actually runs rather than a wide, hollow demo. The next increments are broader AST coverage, CI gating for continuous assurance, live infrastructure discovery, and the enterprise deployment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QuantumShield turns an invisible and urgent problem into a managed, measurable, auditable migration. Happy to demo the live console or scan a repository of your choosing.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C24"/>
        </a:solidFill>
      </p:bgPr>
    </p:bg>
    <p:spTree>
      <p:nvGrpSpPr>
        <p:cNvPr id="1" name=""/>
        <p:cNvGrpSpPr/>
        <p:nvPr/>
      </p:nvGrpSpPr>
      <p:grpSpPr>
        <a:xfrm>
          <a:off x="0" y="0"/>
          <a:ext cx="0" cy="0"/>
          <a:chOff x="0" y="0"/>
          <a:chExt cx="0" cy="0"/>
        </a:xfrm>
      </p:grpSpPr>
      <p:sp>
        <p:nvSpPr>
          <p:cNvPr id="2" name="Shape 0"/>
          <p:cNvSpPr/>
          <p:nvPr/>
        </p:nvSpPr>
        <p:spPr>
          <a:xfrm>
            <a:off x="7406640" y="2674620"/>
            <a:ext cx="4114800" cy="1508760"/>
          </a:xfrm>
          <a:prstGeom prst="ellipse">
            <a:avLst/>
          </a:prstGeom>
          <a:ln w="19050">
            <a:solidFill>
              <a:srgbClr val="4CC9F0">
                <a:alpha val="65000"/>
              </a:srgbClr>
            </a:solidFill>
            <a:prstDash val="solid"/>
          </a:ln>
        </p:spPr>
      </p:sp>
      <p:sp>
        <p:nvSpPr>
          <p:cNvPr id="3" name="Shape 1"/>
          <p:cNvSpPr/>
          <p:nvPr/>
        </p:nvSpPr>
        <p:spPr>
          <a:xfrm rot="3600000">
            <a:off x="7406640" y="2674620"/>
            <a:ext cx="4114800" cy="1508760"/>
          </a:xfrm>
          <a:prstGeom prst="ellipse">
            <a:avLst/>
          </a:prstGeom>
          <a:ln w="19050">
            <a:solidFill>
              <a:srgbClr val="9B8CFA">
                <a:alpha val="65000"/>
              </a:srgbClr>
            </a:solidFill>
            <a:prstDash val="solid"/>
          </a:ln>
        </p:spPr>
      </p:sp>
      <p:sp>
        <p:nvSpPr>
          <p:cNvPr id="4" name="Shape 2"/>
          <p:cNvSpPr/>
          <p:nvPr/>
        </p:nvSpPr>
        <p:spPr>
          <a:xfrm rot="7200000">
            <a:off x="7406640" y="2674620"/>
            <a:ext cx="4114800" cy="1508760"/>
          </a:xfrm>
          <a:prstGeom prst="ellipse">
            <a:avLst/>
          </a:prstGeom>
          <a:ln w="19050">
            <a:solidFill>
              <a:srgbClr val="3BE8B0">
                <a:alpha val="65000"/>
              </a:srgbClr>
            </a:solidFill>
            <a:prstDash val="solid"/>
          </a:ln>
        </p:spPr>
      </p:sp>
      <p:sp>
        <p:nvSpPr>
          <p:cNvPr id="5" name="Shape 3"/>
          <p:cNvSpPr/>
          <p:nvPr/>
        </p:nvSpPr>
        <p:spPr>
          <a:xfrm>
            <a:off x="9290304" y="3255264"/>
            <a:ext cx="347472" cy="347472"/>
          </a:xfrm>
          <a:prstGeom prst="ellipse">
            <a:avLst/>
          </a:prstGeom>
          <a:solidFill>
            <a:srgbClr val="3BE8B0"/>
          </a:solidFill>
          <a:ln w="12700">
            <a:solidFill>
              <a:srgbClr val="3BE8B0"/>
            </a:solidFill>
            <a:prstDash val="solid"/>
          </a:ln>
        </p:spPr>
      </p:sp>
      <p:sp>
        <p:nvSpPr>
          <p:cNvPr id="6" name="Text 4"/>
          <p:cNvSpPr/>
          <p:nvPr/>
        </p:nvSpPr>
        <p:spPr>
          <a:xfrm>
            <a:off x="795528" y="1783080"/>
            <a:ext cx="6949440" cy="256032"/>
          </a:xfrm>
          <a:prstGeom prst="rect">
            <a:avLst/>
          </a:prstGeom>
          <a:noFill/>
          <a:ln/>
        </p:spPr>
        <p:txBody>
          <a:bodyPr wrap="square" lIns="0" tIns="0" rIns="0" bIns="0" rtlCol="0" anchor="ctr"/>
          <a:lstStyle/>
          <a:p>
            <a:pPr indent="0" marL="0">
              <a:buNone/>
            </a:pPr>
            <a:r>
              <a:rPr lang="en-US" sz="1150" b="1" spc="240" kern="0" dirty="0">
                <a:solidFill>
                  <a:srgbClr val="3BE8B0"/>
                </a:solidFill>
                <a:latin typeface="Calibri" pitchFamily="34" charset="0"/>
                <a:ea typeface="Calibri" pitchFamily="34" charset="-122"/>
                <a:cs typeface="Calibri" pitchFamily="34" charset="-120"/>
              </a:rPr>
              <a:t>QUANT-A-THAN 2026   ·   INNOVATE  ·  BUILD  ·  TRANSFORM</a:t>
            </a:r>
            <a:endParaRPr lang="en-US" sz="1150" dirty="0"/>
          </a:p>
        </p:txBody>
      </p:sp>
      <p:sp>
        <p:nvSpPr>
          <p:cNvPr id="7" name="Text 5"/>
          <p:cNvSpPr/>
          <p:nvPr/>
        </p:nvSpPr>
        <p:spPr>
          <a:xfrm>
            <a:off x="768096" y="2121408"/>
            <a:ext cx="7315200" cy="914400"/>
          </a:xfrm>
          <a:prstGeom prst="rect">
            <a:avLst/>
          </a:prstGeom>
          <a:noFill/>
          <a:ln/>
        </p:spPr>
        <p:txBody>
          <a:bodyPr wrap="square" lIns="0" tIns="0" rIns="0" bIns="0" rtlCol="0" anchor="ctr"/>
          <a:lstStyle/>
          <a:p>
            <a:pPr indent="0" marL="0">
              <a:buNone/>
            </a:pPr>
            <a:r>
              <a:rPr lang="en-US" sz="5800" b="1" dirty="0">
                <a:solidFill>
                  <a:srgbClr val="FFFFFF"/>
                </a:solidFill>
                <a:latin typeface="Calibri" pitchFamily="34" charset="0"/>
                <a:ea typeface="Calibri" pitchFamily="34" charset="-122"/>
                <a:cs typeface="Calibri" pitchFamily="34" charset="-120"/>
              </a:rPr>
              <a:t>QuantumShield</a:t>
            </a:r>
            <a:endParaRPr lang="en-US" sz="5800" dirty="0"/>
          </a:p>
        </p:txBody>
      </p:sp>
      <p:sp>
        <p:nvSpPr>
          <p:cNvPr id="8" name="Text 6"/>
          <p:cNvSpPr/>
          <p:nvPr/>
        </p:nvSpPr>
        <p:spPr>
          <a:xfrm>
            <a:off x="795528" y="3127248"/>
            <a:ext cx="6858000" cy="566928"/>
          </a:xfrm>
          <a:prstGeom prst="rect">
            <a:avLst/>
          </a:prstGeom>
          <a:noFill/>
          <a:ln/>
        </p:spPr>
        <p:txBody>
          <a:bodyPr wrap="square" lIns="0" tIns="0" rIns="0" bIns="0" rtlCol="0" anchor="t"/>
          <a:lstStyle/>
          <a:p>
            <a:pPr indent="0" marL="0">
              <a:buNone/>
            </a:pPr>
            <a:r>
              <a:rPr lang="en-US" sz="1800" dirty="0">
                <a:solidFill>
                  <a:srgbClr val="9AA7D0"/>
                </a:solidFill>
                <a:latin typeface="Calibri" pitchFamily="34" charset="0"/>
                <a:ea typeface="Calibri" pitchFamily="34" charset="-122"/>
                <a:cs typeface="Calibri" pitchFamily="34" charset="-120"/>
              </a:rPr>
              <a:t>Enterprise platform for quantum-safe cryptography assessment &amp; migration</a:t>
            </a:r>
            <a:endParaRPr lang="en-US" sz="1800" dirty="0"/>
          </a:p>
        </p:txBody>
      </p:sp>
      <p:sp>
        <p:nvSpPr>
          <p:cNvPr id="9" name="Text 7"/>
          <p:cNvSpPr/>
          <p:nvPr/>
        </p:nvSpPr>
        <p:spPr>
          <a:xfrm>
            <a:off x="795528" y="3822192"/>
            <a:ext cx="6858000" cy="274320"/>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Discover  ·  Assess  ·  Simulate  ·  Plan  ·  Prove</a:t>
            </a:r>
            <a:endParaRPr lang="en-US" sz="1300" dirty="0"/>
          </a:p>
        </p:txBody>
      </p:sp>
      <p:sp>
        <p:nvSpPr>
          <p:cNvPr id="10" name="Text 8"/>
          <p:cNvSpPr/>
          <p:nvPr/>
        </p:nvSpPr>
        <p:spPr>
          <a:xfrm>
            <a:off x="795528" y="4736592"/>
            <a:ext cx="4572000" cy="219456"/>
          </a:xfrm>
          <a:prstGeom prst="rect">
            <a:avLst/>
          </a:prstGeom>
          <a:noFill/>
          <a:ln/>
        </p:spPr>
        <p:txBody>
          <a:bodyPr wrap="square" lIns="0" tIns="0" rIns="0" bIns="0" rtlCol="0" anchor="ctr"/>
          <a:lstStyle/>
          <a:p>
            <a:pPr indent="0" marL="0">
              <a:buNone/>
            </a:pPr>
            <a:r>
              <a:rPr lang="en-US" sz="950" b="1" spc="160" kern="0" dirty="0">
                <a:solidFill>
                  <a:srgbClr val="6B7AA8"/>
                </a:solidFill>
                <a:latin typeface="Calibri" pitchFamily="34" charset="0"/>
                <a:ea typeface="Calibri" pitchFamily="34" charset="-122"/>
                <a:cs typeface="Calibri" pitchFamily="34" charset="-120"/>
              </a:rPr>
              <a:t>PRESENTED BY</a:t>
            </a:r>
            <a:endParaRPr lang="en-US" sz="950" dirty="0"/>
          </a:p>
        </p:txBody>
      </p:sp>
      <p:sp>
        <p:nvSpPr>
          <p:cNvPr id="11" name="Text 9"/>
          <p:cNvSpPr/>
          <p:nvPr/>
        </p:nvSpPr>
        <p:spPr>
          <a:xfrm>
            <a:off x="795528" y="4974336"/>
            <a:ext cx="457200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Your Name ]</a:t>
            </a:r>
            <a:endParaRPr lang="en-US" sz="1500" dirty="0"/>
          </a:p>
        </p:txBody>
      </p:sp>
      <p:sp>
        <p:nvSpPr>
          <p:cNvPr id="12" name="Text 10"/>
          <p:cNvSpPr/>
          <p:nvPr/>
        </p:nvSpPr>
        <p:spPr>
          <a:xfrm>
            <a:off x="795528" y="5248656"/>
            <a:ext cx="4572000" cy="256032"/>
          </a:xfrm>
          <a:prstGeom prst="rect">
            <a:avLst/>
          </a:prstGeom>
          <a:noFill/>
          <a:ln/>
        </p:spPr>
        <p:txBody>
          <a:bodyPr wrap="square" lIns="0" tIns="0" rIns="0" bIns="0" rtlCol="0" anchor="ctr"/>
          <a:lstStyle/>
          <a:p>
            <a:pPr indent="0" marL="0">
              <a:buNone/>
            </a:pPr>
            <a:r>
              <a:rPr lang="en-US" sz="1200" dirty="0">
                <a:solidFill>
                  <a:srgbClr val="9AA7D0"/>
                </a:solidFill>
                <a:latin typeface="Calibri" pitchFamily="34" charset="0"/>
                <a:ea typeface="Calibri" pitchFamily="34" charset="-122"/>
                <a:cs typeface="Calibri" pitchFamily="34" charset="-120"/>
              </a:rPr>
              <a:t>[ Institution / Organization ]</a:t>
            </a:r>
            <a:endParaRPr lang="en-US" sz="1200" dirty="0"/>
          </a:p>
        </p:txBody>
      </p:sp>
      <p:sp>
        <p:nvSpPr>
          <p:cNvPr id="13" name="Text 11"/>
          <p:cNvSpPr/>
          <p:nvPr/>
        </p:nvSpPr>
        <p:spPr>
          <a:xfrm>
            <a:off x="795528" y="6053328"/>
            <a:ext cx="10515600" cy="274320"/>
          </a:xfrm>
          <a:prstGeom prst="rect">
            <a:avLst/>
          </a:prstGeom>
          <a:noFill/>
          <a:ln/>
        </p:spPr>
        <p:txBody>
          <a:bodyPr wrap="square" lIns="0" tIns="0" rIns="0" bIns="0" rtlCol="0" anchor="ctr"/>
          <a:lstStyle/>
          <a:p>
            <a:pPr indent="0" marL="0">
              <a:buNone/>
            </a:pPr>
            <a:r>
              <a:rPr lang="en-US" sz="1000" dirty="0">
                <a:solidFill>
                  <a:srgbClr val="6B7AA8"/>
                </a:solidFill>
                <a:latin typeface="Calibri" pitchFamily="34" charset="0"/>
                <a:ea typeface="Calibri" pitchFamily="34" charset="-122"/>
                <a:cs typeface="Calibri" pitchFamily="34" charset="-120"/>
              </a:rPr>
              <a:t>In association with   RIT  ·  National Quantum Mission  ·  Samgnya Technologies Foundation  ·  IBM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THE CHALLENGE</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Public-key cryptography has an expiry date</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The mathematics that secures TLS, VPNs, PKI and code-signing does not survive a large-scale quantum computer.</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66928" y="1965960"/>
            <a:ext cx="3502152" cy="2103120"/>
          </a:xfrm>
          <a:prstGeom prst="roundRect">
            <a:avLst>
              <a:gd name="adj" fmla="val 5217"/>
            </a:avLst>
          </a:prstGeom>
          <a:solidFill>
            <a:srgbClr val="111A3D"/>
          </a:solidFill>
          <a:ln w="12700">
            <a:solidFill>
              <a:srgbClr val="2A3667"/>
            </a:solidFill>
            <a:prstDash val="solid"/>
          </a:ln>
        </p:spPr>
      </p:sp>
      <p:sp>
        <p:nvSpPr>
          <p:cNvPr id="8" name="Text 6"/>
          <p:cNvSpPr/>
          <p:nvPr/>
        </p:nvSpPr>
        <p:spPr>
          <a:xfrm>
            <a:off x="804672" y="2203704"/>
            <a:ext cx="420624" cy="420624"/>
          </a:xfrm>
          <a:prstGeom prst="ellipse">
            <a:avLst/>
          </a:prstGeom>
          <a:solidFill>
            <a:srgbClr val="FF5C7A"/>
          </a:solidFill>
          <a:ln>
            <a:solidFill>
              <a:srgbClr val="FF5C7A"/>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04672" y="2752344"/>
            <a:ext cx="3026664" cy="310896"/>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Shor's algorithm</a:t>
            </a:r>
            <a:endParaRPr lang="en-US" sz="1700" dirty="0"/>
          </a:p>
        </p:txBody>
      </p:sp>
      <p:sp>
        <p:nvSpPr>
          <p:cNvPr id="10" name="Text 8"/>
          <p:cNvSpPr/>
          <p:nvPr/>
        </p:nvSpPr>
        <p:spPr>
          <a:xfrm>
            <a:off x="804672" y="3118104"/>
            <a:ext cx="3026664" cy="82296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RSA, ECC, ECDH and DSA are not weakened — they are broken outright. Every key exchange and digital signature in use today is affected.</a:t>
            </a:r>
            <a:endParaRPr lang="en-US" sz="1150" dirty="0"/>
          </a:p>
        </p:txBody>
      </p:sp>
      <p:sp>
        <p:nvSpPr>
          <p:cNvPr id="11" name="Shape 9"/>
          <p:cNvSpPr/>
          <p:nvPr/>
        </p:nvSpPr>
        <p:spPr>
          <a:xfrm>
            <a:off x="4343400" y="1965960"/>
            <a:ext cx="3502152" cy="2103120"/>
          </a:xfrm>
          <a:prstGeom prst="roundRect">
            <a:avLst>
              <a:gd name="adj" fmla="val 5217"/>
            </a:avLst>
          </a:prstGeom>
          <a:solidFill>
            <a:srgbClr val="111A3D"/>
          </a:solidFill>
          <a:ln w="12700">
            <a:solidFill>
              <a:srgbClr val="2A3667"/>
            </a:solidFill>
            <a:prstDash val="solid"/>
          </a:ln>
        </p:spPr>
      </p:sp>
      <p:sp>
        <p:nvSpPr>
          <p:cNvPr id="12" name="Text 10"/>
          <p:cNvSpPr/>
          <p:nvPr/>
        </p:nvSpPr>
        <p:spPr>
          <a:xfrm>
            <a:off x="4581144" y="2203704"/>
            <a:ext cx="420624" cy="420624"/>
          </a:xfrm>
          <a:prstGeom prst="ellipse">
            <a:avLst/>
          </a:prstGeom>
          <a:solidFill>
            <a:srgbClr val="FFB547"/>
          </a:solidFill>
          <a:ln>
            <a:solidFill>
              <a:srgbClr val="FFB547"/>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81144" y="2752344"/>
            <a:ext cx="3026664" cy="310896"/>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Harvest now, decrypt later</a:t>
            </a:r>
            <a:endParaRPr lang="en-US" sz="1700" dirty="0"/>
          </a:p>
        </p:txBody>
      </p:sp>
      <p:sp>
        <p:nvSpPr>
          <p:cNvPr id="14" name="Text 12"/>
          <p:cNvSpPr/>
          <p:nvPr/>
        </p:nvSpPr>
        <p:spPr>
          <a:xfrm>
            <a:off x="4581144" y="3118104"/>
            <a:ext cx="3026664" cy="82296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Adversaries record encrypted traffic today and decrypt it once hardware matures. Anything with a long confidentiality lifetime is already exposed.</a:t>
            </a:r>
            <a:endParaRPr lang="en-US" sz="1150" dirty="0"/>
          </a:p>
        </p:txBody>
      </p:sp>
      <p:sp>
        <p:nvSpPr>
          <p:cNvPr id="15" name="Shape 13"/>
          <p:cNvSpPr/>
          <p:nvPr/>
        </p:nvSpPr>
        <p:spPr>
          <a:xfrm>
            <a:off x="8119872" y="1965960"/>
            <a:ext cx="3502152" cy="2103120"/>
          </a:xfrm>
          <a:prstGeom prst="roundRect">
            <a:avLst>
              <a:gd name="adj" fmla="val 5217"/>
            </a:avLst>
          </a:prstGeom>
          <a:solidFill>
            <a:srgbClr val="111A3D"/>
          </a:solidFill>
          <a:ln w="12700">
            <a:solidFill>
              <a:srgbClr val="2A3667"/>
            </a:solidFill>
            <a:prstDash val="solid"/>
          </a:ln>
        </p:spPr>
      </p:sp>
      <p:sp>
        <p:nvSpPr>
          <p:cNvPr id="16" name="Text 14"/>
          <p:cNvSpPr/>
          <p:nvPr/>
        </p:nvSpPr>
        <p:spPr>
          <a:xfrm>
            <a:off x="8357616" y="2203704"/>
            <a:ext cx="420624" cy="420624"/>
          </a:xfrm>
          <a:prstGeom prst="ellipse">
            <a:avLst/>
          </a:prstGeom>
          <a:solidFill>
            <a:srgbClr val="4CC9F0"/>
          </a:solidFill>
          <a:ln>
            <a:solidFill>
              <a:srgbClr val="4CC9F0"/>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357616" y="2752344"/>
            <a:ext cx="3026664" cy="310896"/>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Grover's algorithm</a:t>
            </a:r>
            <a:endParaRPr lang="en-US" sz="1700" dirty="0"/>
          </a:p>
        </p:txBody>
      </p:sp>
      <p:sp>
        <p:nvSpPr>
          <p:cNvPr id="18" name="Text 16"/>
          <p:cNvSpPr/>
          <p:nvPr/>
        </p:nvSpPr>
        <p:spPr>
          <a:xfrm>
            <a:off x="8357616" y="3118104"/>
            <a:ext cx="3026664" cy="82296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Symmetric ciphers and hashes lose half their effective strength. AES-128 and SHA-1 era primitives no longer carry their advertised margin.</a:t>
            </a:r>
            <a:endParaRPr lang="en-US" sz="1150" dirty="0"/>
          </a:p>
        </p:txBody>
      </p:sp>
      <p:sp>
        <p:nvSpPr>
          <p:cNvPr id="19" name="Shape 17"/>
          <p:cNvSpPr/>
          <p:nvPr/>
        </p:nvSpPr>
        <p:spPr>
          <a:xfrm>
            <a:off x="566928" y="4361688"/>
            <a:ext cx="11055096" cy="1115568"/>
          </a:xfrm>
          <a:prstGeom prst="roundRect">
            <a:avLst>
              <a:gd name="adj" fmla="val 9836"/>
            </a:avLst>
          </a:prstGeom>
          <a:solidFill>
            <a:srgbClr val="17224C"/>
          </a:solidFill>
          <a:ln w="12700">
            <a:solidFill>
              <a:srgbClr val="2A3667"/>
            </a:solidFill>
            <a:prstDash val="solid"/>
          </a:ln>
        </p:spPr>
      </p:sp>
      <p:sp>
        <p:nvSpPr>
          <p:cNvPr id="20" name="Text 18"/>
          <p:cNvSpPr/>
          <p:nvPr/>
        </p:nvSpPr>
        <p:spPr>
          <a:xfrm>
            <a:off x="859536" y="4361688"/>
            <a:ext cx="1645920" cy="1115568"/>
          </a:xfrm>
          <a:prstGeom prst="rect">
            <a:avLst/>
          </a:prstGeom>
          <a:noFill/>
          <a:ln/>
        </p:spPr>
        <p:txBody>
          <a:bodyPr wrap="square" lIns="0" tIns="0" rIns="0" bIns="0" rtlCol="0" anchor="ctr"/>
          <a:lstStyle/>
          <a:p>
            <a:pPr indent="0" marL="0">
              <a:buNone/>
            </a:pPr>
            <a:r>
              <a:rPr lang="en-US" sz="3400" b="1" dirty="0">
                <a:solidFill>
                  <a:srgbClr val="FF5C7A"/>
                </a:solidFill>
                <a:latin typeface="Calibri" pitchFamily="34" charset="0"/>
                <a:ea typeface="Calibri" pitchFamily="34" charset="-122"/>
                <a:cs typeface="Calibri" pitchFamily="34" charset="-120"/>
              </a:rPr>
              <a:t>100%</a:t>
            </a:r>
            <a:endParaRPr lang="en-US" sz="3400" dirty="0"/>
          </a:p>
        </p:txBody>
      </p:sp>
      <p:sp>
        <p:nvSpPr>
          <p:cNvPr id="21" name="Text 19"/>
          <p:cNvSpPr/>
          <p:nvPr/>
        </p:nvSpPr>
        <p:spPr>
          <a:xfrm>
            <a:off x="2441448" y="4361688"/>
            <a:ext cx="3749040" cy="1115568"/>
          </a:xfrm>
          <a:prstGeom prst="rect">
            <a:avLst/>
          </a:prstGeom>
          <a:noFill/>
          <a:ln/>
        </p:spPr>
        <p:txBody>
          <a:bodyPr wrap="square" lIns="0" tIns="0" rIns="0" bIns="0" rtlCol="0" anchor="ctr"/>
          <a:lstStyle/>
          <a:p>
            <a:pPr indent="0" marL="0">
              <a:buNone/>
            </a:pPr>
            <a:r>
              <a:rPr lang="en-US" sz="1250" dirty="0">
                <a:solidFill>
                  <a:srgbClr val="9AA7D0"/>
                </a:solidFill>
                <a:latin typeface="Calibri" pitchFamily="34" charset="0"/>
                <a:ea typeface="Calibri" pitchFamily="34" charset="-122"/>
                <a:cs typeface="Calibri" pitchFamily="34" charset="-120"/>
              </a:rPr>
              <a:t>of the public-key cryptography deployed today is quantum-vulnerable.</a:t>
            </a:r>
            <a:endParaRPr lang="en-US" sz="1250" dirty="0"/>
          </a:p>
        </p:txBody>
      </p:sp>
      <p:sp>
        <p:nvSpPr>
          <p:cNvPr id="22" name="Text 20"/>
          <p:cNvSpPr/>
          <p:nvPr/>
        </p:nvSpPr>
        <p:spPr>
          <a:xfrm>
            <a:off x="6373368" y="4361688"/>
            <a:ext cx="4937760" cy="1115568"/>
          </a:xfrm>
          <a:prstGeom prst="rect">
            <a:avLst/>
          </a:prstGeom>
          <a:noFill/>
          <a:ln/>
        </p:spPr>
        <p:txBody>
          <a:bodyPr wrap="square" lIns="0" tIns="0" rIns="0" bIns="0" rtlCol="0" anchor="ctr"/>
          <a:lstStyle/>
          <a:p>
            <a:pPr algn="r" indent="0" marL="0">
              <a:buNone/>
            </a:pPr>
            <a:r>
              <a:rPr lang="en-US" sz="1500" b="1" dirty="0">
                <a:solidFill>
                  <a:srgbClr val="FFFFFF"/>
                </a:solidFill>
                <a:latin typeface="Calibri" pitchFamily="34" charset="0"/>
                <a:ea typeface="Calibri" pitchFamily="34" charset="-122"/>
                <a:cs typeface="Calibri" pitchFamily="34" charset="-120"/>
              </a:rPr>
              <a:t>The migration deadline is set by the adversary — not the calendar.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WHY NOW</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transition window is already open</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Standards are final and deprecation dates are published. Systems being designed today will still be running past them.</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1856232" y="3310128"/>
            <a:ext cx="8476488" cy="0"/>
          </a:xfrm>
          <a:prstGeom prst="line">
            <a:avLst/>
          </a:prstGeom>
          <a:noFill/>
          <a:ln w="25400">
            <a:solidFill>
              <a:srgbClr val="2A3667"/>
            </a:solidFill>
            <a:prstDash val="solid"/>
          </a:ln>
        </p:spPr>
      </p:sp>
      <p:sp>
        <p:nvSpPr>
          <p:cNvPr id="8" name="Text 6"/>
          <p:cNvSpPr/>
          <p:nvPr/>
        </p:nvSpPr>
        <p:spPr>
          <a:xfrm>
            <a:off x="566928" y="2148840"/>
            <a:ext cx="2578608" cy="457200"/>
          </a:xfrm>
          <a:prstGeom prst="rect">
            <a:avLst/>
          </a:prstGeom>
          <a:noFill/>
          <a:ln/>
        </p:spPr>
        <p:txBody>
          <a:bodyPr wrap="square" lIns="0" tIns="0" rIns="0" bIns="0" rtlCol="0" anchor="t"/>
          <a:lstStyle/>
          <a:p>
            <a:pPr algn="ctr" indent="0" marL="0">
              <a:buNone/>
            </a:pPr>
            <a:r>
              <a:rPr lang="en-US" sz="3000" b="1" dirty="0">
                <a:solidFill>
                  <a:srgbClr val="3BE8B0"/>
                </a:solidFill>
                <a:latin typeface="Calibri" pitchFamily="34" charset="0"/>
                <a:ea typeface="Calibri" pitchFamily="34" charset="-122"/>
                <a:cs typeface="Calibri" pitchFamily="34" charset="-120"/>
              </a:rPr>
              <a:t>2024</a:t>
            </a:r>
            <a:endParaRPr lang="en-US" sz="3000" dirty="0"/>
          </a:p>
        </p:txBody>
      </p:sp>
      <p:sp>
        <p:nvSpPr>
          <p:cNvPr id="9" name="Text 7"/>
          <p:cNvSpPr/>
          <p:nvPr/>
        </p:nvSpPr>
        <p:spPr>
          <a:xfrm>
            <a:off x="566928" y="2651760"/>
            <a:ext cx="2578608"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Standards final</a:t>
            </a:r>
            <a:endParaRPr lang="en-US" sz="1300" dirty="0"/>
          </a:p>
        </p:txBody>
      </p:sp>
      <p:sp>
        <p:nvSpPr>
          <p:cNvPr id="10" name="Shape 8"/>
          <p:cNvSpPr/>
          <p:nvPr/>
        </p:nvSpPr>
        <p:spPr>
          <a:xfrm>
            <a:off x="1719072" y="3172968"/>
            <a:ext cx="274320" cy="274320"/>
          </a:xfrm>
          <a:prstGeom prst="ellipse">
            <a:avLst/>
          </a:prstGeom>
          <a:solidFill>
            <a:srgbClr val="3BE8B0"/>
          </a:solidFill>
          <a:ln w="25400">
            <a:solidFill>
              <a:srgbClr val="070C24"/>
            </a:solidFill>
            <a:prstDash val="solid"/>
          </a:ln>
        </p:spPr>
      </p:sp>
      <p:sp>
        <p:nvSpPr>
          <p:cNvPr id="11" name="Shape 9"/>
          <p:cNvSpPr/>
          <p:nvPr/>
        </p:nvSpPr>
        <p:spPr>
          <a:xfrm>
            <a:off x="566928" y="3703320"/>
            <a:ext cx="2578608" cy="1207008"/>
          </a:xfrm>
          <a:prstGeom prst="roundRect">
            <a:avLst>
              <a:gd name="adj" fmla="val 9091"/>
            </a:avLst>
          </a:prstGeom>
          <a:solidFill>
            <a:srgbClr val="111A3D"/>
          </a:solidFill>
          <a:ln w="12700">
            <a:solidFill>
              <a:srgbClr val="2A3667"/>
            </a:solidFill>
            <a:prstDash val="solid"/>
          </a:ln>
        </p:spPr>
      </p:sp>
      <p:sp>
        <p:nvSpPr>
          <p:cNvPr id="12" name="Text 10"/>
          <p:cNvSpPr/>
          <p:nvPr/>
        </p:nvSpPr>
        <p:spPr>
          <a:xfrm>
            <a:off x="768096" y="3886200"/>
            <a:ext cx="2176272" cy="86868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NIST publishes FIPS 203 (ML-KEM), FIPS 204 (ML-DSA) and FIPS 205 (SLH-DSA).</a:t>
            </a:r>
            <a:endParaRPr lang="en-US" sz="1150" dirty="0"/>
          </a:p>
        </p:txBody>
      </p:sp>
      <p:sp>
        <p:nvSpPr>
          <p:cNvPr id="13" name="Text 11"/>
          <p:cNvSpPr/>
          <p:nvPr/>
        </p:nvSpPr>
        <p:spPr>
          <a:xfrm>
            <a:off x="3392424" y="2148840"/>
            <a:ext cx="2578608" cy="457200"/>
          </a:xfrm>
          <a:prstGeom prst="rect">
            <a:avLst/>
          </a:prstGeom>
          <a:noFill/>
          <a:ln/>
        </p:spPr>
        <p:txBody>
          <a:bodyPr wrap="square" lIns="0" tIns="0" rIns="0" bIns="0" rtlCol="0" anchor="t"/>
          <a:lstStyle/>
          <a:p>
            <a:pPr algn="ctr" indent="0" marL="0">
              <a:buNone/>
            </a:pPr>
            <a:r>
              <a:rPr lang="en-US" sz="3000" b="1" dirty="0">
                <a:solidFill>
                  <a:srgbClr val="4CC9F0"/>
                </a:solidFill>
                <a:latin typeface="Calibri" pitchFamily="34" charset="0"/>
                <a:ea typeface="Calibri" pitchFamily="34" charset="-122"/>
                <a:cs typeface="Calibri" pitchFamily="34" charset="-120"/>
              </a:rPr>
              <a:t>2027</a:t>
            </a:r>
            <a:endParaRPr lang="en-US" sz="3000" dirty="0"/>
          </a:p>
        </p:txBody>
      </p:sp>
      <p:sp>
        <p:nvSpPr>
          <p:cNvPr id="14" name="Text 12"/>
          <p:cNvSpPr/>
          <p:nvPr/>
        </p:nvSpPr>
        <p:spPr>
          <a:xfrm>
            <a:off x="3392424" y="2651760"/>
            <a:ext cx="2578608"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Adoption begins</a:t>
            </a:r>
            <a:endParaRPr lang="en-US" sz="1300" dirty="0"/>
          </a:p>
        </p:txBody>
      </p:sp>
      <p:sp>
        <p:nvSpPr>
          <p:cNvPr id="15" name="Shape 13"/>
          <p:cNvSpPr/>
          <p:nvPr/>
        </p:nvSpPr>
        <p:spPr>
          <a:xfrm>
            <a:off x="4544568" y="3172968"/>
            <a:ext cx="274320" cy="274320"/>
          </a:xfrm>
          <a:prstGeom prst="ellipse">
            <a:avLst/>
          </a:prstGeom>
          <a:solidFill>
            <a:srgbClr val="4CC9F0"/>
          </a:solidFill>
          <a:ln w="25400">
            <a:solidFill>
              <a:srgbClr val="070C24"/>
            </a:solidFill>
            <a:prstDash val="solid"/>
          </a:ln>
        </p:spPr>
      </p:sp>
      <p:sp>
        <p:nvSpPr>
          <p:cNvPr id="16" name="Shape 14"/>
          <p:cNvSpPr/>
          <p:nvPr/>
        </p:nvSpPr>
        <p:spPr>
          <a:xfrm>
            <a:off x="3392424" y="3703320"/>
            <a:ext cx="2578608" cy="1207008"/>
          </a:xfrm>
          <a:prstGeom prst="roundRect">
            <a:avLst>
              <a:gd name="adj" fmla="val 9091"/>
            </a:avLst>
          </a:prstGeom>
          <a:solidFill>
            <a:srgbClr val="111A3D"/>
          </a:solidFill>
          <a:ln w="12700">
            <a:solidFill>
              <a:srgbClr val="2A3667"/>
            </a:solidFill>
            <a:prstDash val="solid"/>
          </a:ln>
        </p:spPr>
      </p:sp>
      <p:sp>
        <p:nvSpPr>
          <p:cNvPr id="17" name="Text 15"/>
          <p:cNvSpPr/>
          <p:nvPr/>
        </p:nvSpPr>
        <p:spPr>
          <a:xfrm>
            <a:off x="3593592" y="3886200"/>
            <a:ext cx="2176272" cy="86868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CNSA 2.0 milestones require PQC in new national-security systems and software signing.</a:t>
            </a:r>
            <a:endParaRPr lang="en-US" sz="1150" dirty="0"/>
          </a:p>
        </p:txBody>
      </p:sp>
      <p:sp>
        <p:nvSpPr>
          <p:cNvPr id="18" name="Text 16"/>
          <p:cNvSpPr/>
          <p:nvPr/>
        </p:nvSpPr>
        <p:spPr>
          <a:xfrm>
            <a:off x="6217920" y="2148840"/>
            <a:ext cx="2578608" cy="457200"/>
          </a:xfrm>
          <a:prstGeom prst="rect">
            <a:avLst/>
          </a:prstGeom>
          <a:noFill/>
          <a:ln/>
        </p:spPr>
        <p:txBody>
          <a:bodyPr wrap="square" lIns="0" tIns="0" rIns="0" bIns="0" rtlCol="0" anchor="t"/>
          <a:lstStyle/>
          <a:p>
            <a:pPr algn="ctr" indent="0" marL="0">
              <a:buNone/>
            </a:pPr>
            <a:r>
              <a:rPr lang="en-US" sz="3000" b="1" dirty="0">
                <a:solidFill>
                  <a:srgbClr val="FFB547"/>
                </a:solidFill>
                <a:latin typeface="Calibri" pitchFamily="34" charset="0"/>
                <a:ea typeface="Calibri" pitchFamily="34" charset="-122"/>
                <a:cs typeface="Calibri" pitchFamily="34" charset="-120"/>
              </a:rPr>
              <a:t>2030</a:t>
            </a:r>
            <a:endParaRPr lang="en-US" sz="3000" dirty="0"/>
          </a:p>
        </p:txBody>
      </p:sp>
      <p:sp>
        <p:nvSpPr>
          <p:cNvPr id="19" name="Text 17"/>
          <p:cNvSpPr/>
          <p:nvPr/>
        </p:nvSpPr>
        <p:spPr>
          <a:xfrm>
            <a:off x="6217920" y="2651760"/>
            <a:ext cx="2578608"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Deprecation</a:t>
            </a:r>
            <a:endParaRPr lang="en-US" sz="1300" dirty="0"/>
          </a:p>
        </p:txBody>
      </p:sp>
      <p:sp>
        <p:nvSpPr>
          <p:cNvPr id="20" name="Shape 18"/>
          <p:cNvSpPr/>
          <p:nvPr/>
        </p:nvSpPr>
        <p:spPr>
          <a:xfrm>
            <a:off x="7370064" y="3172968"/>
            <a:ext cx="274320" cy="274320"/>
          </a:xfrm>
          <a:prstGeom prst="ellipse">
            <a:avLst/>
          </a:prstGeom>
          <a:solidFill>
            <a:srgbClr val="FFB547"/>
          </a:solidFill>
          <a:ln w="25400">
            <a:solidFill>
              <a:srgbClr val="070C24"/>
            </a:solidFill>
            <a:prstDash val="solid"/>
          </a:ln>
        </p:spPr>
      </p:sp>
      <p:sp>
        <p:nvSpPr>
          <p:cNvPr id="21" name="Shape 19"/>
          <p:cNvSpPr/>
          <p:nvPr/>
        </p:nvSpPr>
        <p:spPr>
          <a:xfrm>
            <a:off x="6217920" y="3703320"/>
            <a:ext cx="2578608" cy="1207008"/>
          </a:xfrm>
          <a:prstGeom prst="roundRect">
            <a:avLst>
              <a:gd name="adj" fmla="val 9091"/>
            </a:avLst>
          </a:prstGeom>
          <a:solidFill>
            <a:srgbClr val="111A3D"/>
          </a:solidFill>
          <a:ln w="12700">
            <a:solidFill>
              <a:srgbClr val="2A3667"/>
            </a:solidFill>
            <a:prstDash val="solid"/>
          </a:ln>
        </p:spPr>
      </p:sp>
      <p:sp>
        <p:nvSpPr>
          <p:cNvPr id="22" name="Text 20"/>
          <p:cNvSpPr/>
          <p:nvPr/>
        </p:nvSpPr>
        <p:spPr>
          <a:xfrm>
            <a:off x="6419088" y="3886200"/>
            <a:ext cx="2176272" cy="86868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NIST IR 8547 (draft) deprecates RSA-2048 and ECC-256 for federal use.</a:t>
            </a:r>
            <a:endParaRPr lang="en-US" sz="1150" dirty="0"/>
          </a:p>
        </p:txBody>
      </p:sp>
      <p:sp>
        <p:nvSpPr>
          <p:cNvPr id="23" name="Text 21"/>
          <p:cNvSpPr/>
          <p:nvPr/>
        </p:nvSpPr>
        <p:spPr>
          <a:xfrm>
            <a:off x="9043416" y="2148840"/>
            <a:ext cx="2578608" cy="457200"/>
          </a:xfrm>
          <a:prstGeom prst="rect">
            <a:avLst/>
          </a:prstGeom>
          <a:noFill/>
          <a:ln/>
        </p:spPr>
        <p:txBody>
          <a:bodyPr wrap="square" lIns="0" tIns="0" rIns="0" bIns="0" rtlCol="0" anchor="t"/>
          <a:lstStyle/>
          <a:p>
            <a:pPr algn="ctr" indent="0" marL="0">
              <a:buNone/>
            </a:pPr>
            <a:r>
              <a:rPr lang="en-US" sz="3000" b="1" dirty="0">
                <a:solidFill>
                  <a:srgbClr val="FF5C7A"/>
                </a:solidFill>
                <a:latin typeface="Calibri" pitchFamily="34" charset="0"/>
                <a:ea typeface="Calibri" pitchFamily="34" charset="-122"/>
                <a:cs typeface="Calibri" pitchFamily="34" charset="-120"/>
              </a:rPr>
              <a:t>2035</a:t>
            </a:r>
            <a:endParaRPr lang="en-US" sz="3000" dirty="0"/>
          </a:p>
        </p:txBody>
      </p:sp>
      <p:sp>
        <p:nvSpPr>
          <p:cNvPr id="24" name="Text 22"/>
          <p:cNvSpPr/>
          <p:nvPr/>
        </p:nvSpPr>
        <p:spPr>
          <a:xfrm>
            <a:off x="9043416" y="2651760"/>
            <a:ext cx="2578608"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Disallowed</a:t>
            </a:r>
            <a:endParaRPr lang="en-US" sz="1300" dirty="0"/>
          </a:p>
        </p:txBody>
      </p:sp>
      <p:sp>
        <p:nvSpPr>
          <p:cNvPr id="25" name="Shape 23"/>
          <p:cNvSpPr/>
          <p:nvPr/>
        </p:nvSpPr>
        <p:spPr>
          <a:xfrm>
            <a:off x="10195560" y="3172968"/>
            <a:ext cx="274320" cy="274320"/>
          </a:xfrm>
          <a:prstGeom prst="ellipse">
            <a:avLst/>
          </a:prstGeom>
          <a:solidFill>
            <a:srgbClr val="FF5C7A"/>
          </a:solidFill>
          <a:ln w="25400">
            <a:solidFill>
              <a:srgbClr val="070C24"/>
            </a:solidFill>
            <a:prstDash val="solid"/>
          </a:ln>
        </p:spPr>
      </p:sp>
      <p:sp>
        <p:nvSpPr>
          <p:cNvPr id="26" name="Shape 24"/>
          <p:cNvSpPr/>
          <p:nvPr/>
        </p:nvSpPr>
        <p:spPr>
          <a:xfrm>
            <a:off x="9043416" y="3703320"/>
            <a:ext cx="2578608" cy="1207008"/>
          </a:xfrm>
          <a:prstGeom prst="roundRect">
            <a:avLst>
              <a:gd name="adj" fmla="val 9091"/>
            </a:avLst>
          </a:prstGeom>
          <a:solidFill>
            <a:srgbClr val="111A3D"/>
          </a:solidFill>
          <a:ln w="12700">
            <a:solidFill>
              <a:srgbClr val="2A3667"/>
            </a:solidFill>
            <a:prstDash val="solid"/>
          </a:ln>
        </p:spPr>
      </p:sp>
      <p:sp>
        <p:nvSpPr>
          <p:cNvPr id="27" name="Text 25"/>
          <p:cNvSpPr/>
          <p:nvPr/>
        </p:nvSpPr>
        <p:spPr>
          <a:xfrm>
            <a:off x="9244584" y="3886200"/>
            <a:ext cx="2176272" cy="86868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Classical public-key crypto disallowed; CNSA 2.0 transition complete by 2033.</a:t>
            </a:r>
            <a:endParaRPr lang="en-US" sz="1150" dirty="0"/>
          </a:p>
        </p:txBody>
      </p:sp>
      <p:sp>
        <p:nvSpPr>
          <p:cNvPr id="28" name="Shape 26"/>
          <p:cNvSpPr/>
          <p:nvPr/>
        </p:nvSpPr>
        <p:spPr>
          <a:xfrm>
            <a:off x="566928" y="5175504"/>
            <a:ext cx="11055096" cy="841248"/>
          </a:xfrm>
          <a:prstGeom prst="roundRect">
            <a:avLst>
              <a:gd name="adj" fmla="val 13043"/>
            </a:avLst>
          </a:prstGeom>
          <a:solidFill>
            <a:srgbClr val="17224C"/>
          </a:solidFill>
          <a:ln w="12700">
            <a:solidFill>
              <a:srgbClr val="2A3667"/>
            </a:solidFill>
            <a:prstDash val="solid"/>
          </a:ln>
        </p:spPr>
      </p:sp>
      <p:sp>
        <p:nvSpPr>
          <p:cNvPr id="29" name="Text 27"/>
          <p:cNvSpPr/>
          <p:nvPr/>
        </p:nvSpPr>
        <p:spPr>
          <a:xfrm>
            <a:off x="841248" y="5175504"/>
            <a:ext cx="10506456" cy="8412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system shipped in 2026 with a 10-year service life is a system that must be quantum-safe today.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THE GAP</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You can't migrate what you can't see</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The blocker is not the algorithms — NIST already chose them. The blocker is that nobody has an inventory.</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566928" y="1929384"/>
            <a:ext cx="420624" cy="420624"/>
          </a:xfrm>
          <a:prstGeom prst="ellipse">
            <a:avLst/>
          </a:prstGeom>
          <a:solidFill>
            <a:srgbClr val="FF5C7A"/>
          </a:solidFill>
          <a:ln>
            <a:solidFill>
              <a:srgbClr val="FF5C7A"/>
            </a:solidFill>
          </a:ln>
        </p:spPr>
        <p:txBody>
          <a:bodyPr wrap="square" lIns="0" tIns="0" rIns="0" bIns="0" rtlCol="0" anchor="ctr"/>
          <a:lstStyle/>
          <a:p>
            <a:pPr algn="ctr" indent="0" marL="0">
              <a:buNone/>
            </a:pPr>
            <a:r>
              <a:rPr lang="en-US" sz="1500" b="1" dirty="0">
                <a:solidFill>
                  <a:srgbClr val="070C24"/>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1170432" y="1929384"/>
            <a:ext cx="4471416"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Cryptography is scattered</a:t>
            </a:r>
            <a:endParaRPr lang="en-US" sz="1600" dirty="0"/>
          </a:p>
        </p:txBody>
      </p:sp>
      <p:sp>
        <p:nvSpPr>
          <p:cNvPr id="9" name="Text 7"/>
          <p:cNvSpPr/>
          <p:nvPr/>
        </p:nvSpPr>
        <p:spPr>
          <a:xfrm>
            <a:off x="1170432" y="2295144"/>
            <a:ext cx="4471416" cy="77724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It hides in source code, X.509 certificates, dependency manifests, config files, IaC and CI pipelines.</a:t>
            </a:r>
            <a:endParaRPr lang="en-US" sz="1150" dirty="0"/>
          </a:p>
        </p:txBody>
      </p:sp>
      <p:sp>
        <p:nvSpPr>
          <p:cNvPr id="10" name="Text 8"/>
          <p:cNvSpPr/>
          <p:nvPr/>
        </p:nvSpPr>
        <p:spPr>
          <a:xfrm>
            <a:off x="566928" y="3319272"/>
            <a:ext cx="420624" cy="420624"/>
          </a:xfrm>
          <a:prstGeom prst="ellipse">
            <a:avLst/>
          </a:prstGeom>
          <a:solidFill>
            <a:srgbClr val="FFB547"/>
          </a:solidFill>
          <a:ln>
            <a:solidFill>
              <a:srgbClr val="FFB547"/>
            </a:solidFill>
          </a:ln>
        </p:spPr>
        <p:txBody>
          <a:bodyPr wrap="square" lIns="0" tIns="0" rIns="0" bIns="0" rtlCol="0" anchor="ctr"/>
          <a:lstStyle/>
          <a:p>
            <a:pPr algn="ctr" indent="0" marL="0">
              <a:buNone/>
            </a:pPr>
            <a:r>
              <a:rPr lang="en-US" sz="1500" b="1" dirty="0">
                <a:solidFill>
                  <a:srgbClr val="070C24"/>
                </a:solidFill>
                <a:latin typeface="Calibri" pitchFamily="34" charset="0"/>
                <a:ea typeface="Calibri" pitchFamily="34" charset="-122"/>
                <a:cs typeface="Calibri" pitchFamily="34" charset="-120"/>
              </a:rPr>
              <a:t>?</a:t>
            </a:r>
            <a:endParaRPr lang="en-US" sz="1500" dirty="0"/>
          </a:p>
        </p:txBody>
      </p:sp>
      <p:sp>
        <p:nvSpPr>
          <p:cNvPr id="11" name="Text 9"/>
          <p:cNvSpPr/>
          <p:nvPr/>
        </p:nvSpPr>
        <p:spPr>
          <a:xfrm>
            <a:off x="1170432" y="3319272"/>
            <a:ext cx="4471416"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No inventory exists</a:t>
            </a:r>
            <a:endParaRPr lang="en-US" sz="1600" dirty="0"/>
          </a:p>
        </p:txBody>
      </p:sp>
      <p:sp>
        <p:nvSpPr>
          <p:cNvPr id="12" name="Text 10"/>
          <p:cNvSpPr/>
          <p:nvPr/>
        </p:nvSpPr>
        <p:spPr>
          <a:xfrm>
            <a:off x="1170432" y="3685032"/>
            <a:ext cx="4471416" cy="77724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Few organizations can answer "where do we use RSA?" — let alone which keys, which files, which services.</a:t>
            </a:r>
            <a:endParaRPr lang="en-US" sz="1150" dirty="0"/>
          </a:p>
        </p:txBody>
      </p:sp>
      <p:sp>
        <p:nvSpPr>
          <p:cNvPr id="13" name="Text 11"/>
          <p:cNvSpPr/>
          <p:nvPr/>
        </p:nvSpPr>
        <p:spPr>
          <a:xfrm>
            <a:off x="566928" y="4709160"/>
            <a:ext cx="420624" cy="420624"/>
          </a:xfrm>
          <a:prstGeom prst="ellipse">
            <a:avLst/>
          </a:prstGeom>
          <a:solidFill>
            <a:srgbClr val="9B8CFA"/>
          </a:solidFill>
          <a:ln>
            <a:solidFill>
              <a:srgbClr val="9B8CFA"/>
            </a:solidFill>
          </a:ln>
        </p:spPr>
        <p:txBody>
          <a:bodyPr wrap="square" lIns="0" tIns="0" rIns="0" bIns="0" rtlCol="0" anchor="ctr"/>
          <a:lstStyle/>
          <a:p>
            <a:pPr algn="ctr" indent="0" marL="0">
              <a:buNone/>
            </a:pPr>
            <a:r>
              <a:rPr lang="en-US" sz="1500" b="1" dirty="0">
                <a:solidFill>
                  <a:srgbClr val="070C24"/>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1170432" y="4709160"/>
            <a:ext cx="4471416"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Manual audit doesn't scale</a:t>
            </a:r>
            <a:endParaRPr lang="en-US" sz="1600" dirty="0"/>
          </a:p>
        </p:txBody>
      </p:sp>
      <p:sp>
        <p:nvSpPr>
          <p:cNvPr id="15" name="Text 13"/>
          <p:cNvSpPr/>
          <p:nvPr/>
        </p:nvSpPr>
        <p:spPr>
          <a:xfrm>
            <a:off x="1170432" y="5074920"/>
            <a:ext cx="4471416" cy="777240"/>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Thousands of call sites across a dozen languages, changing every sprint. A spreadsheet is obsolete on arrival.</a:t>
            </a:r>
            <a:endParaRPr lang="en-US" sz="1150" dirty="0"/>
          </a:p>
        </p:txBody>
      </p:sp>
      <p:sp>
        <p:nvSpPr>
          <p:cNvPr id="16" name="Text 14"/>
          <p:cNvSpPr/>
          <p:nvPr/>
        </p:nvSpPr>
        <p:spPr>
          <a:xfrm>
            <a:off x="6263640" y="1801368"/>
            <a:ext cx="5358384" cy="237744"/>
          </a:xfrm>
          <a:prstGeom prst="rect">
            <a:avLst/>
          </a:prstGeom>
          <a:noFill/>
          <a:ln/>
        </p:spPr>
        <p:txBody>
          <a:bodyPr wrap="square" lIns="0" tIns="0" rIns="0" bIns="0" rtlCol="0" anchor="t"/>
          <a:lstStyle/>
          <a:p>
            <a:pPr algn="ctr" indent="0" marL="0">
              <a:buNone/>
            </a:pPr>
            <a:r>
              <a:rPr lang="en-US" sz="950" b="1" spc="160" kern="0" dirty="0">
                <a:solidFill>
                  <a:srgbClr val="6B7AA8"/>
                </a:solidFill>
                <a:latin typeface="Calibri" pitchFamily="34" charset="0"/>
                <a:ea typeface="Calibri" pitchFamily="34" charset="-122"/>
                <a:cs typeface="Calibri" pitchFamily="34" charset="-120"/>
              </a:rPr>
              <a:t>SCATTERED TODAY</a:t>
            </a:r>
            <a:endParaRPr lang="en-US" sz="950" dirty="0"/>
          </a:p>
        </p:txBody>
      </p:sp>
      <p:sp>
        <p:nvSpPr>
          <p:cNvPr id="17" name="Text 15"/>
          <p:cNvSpPr/>
          <p:nvPr/>
        </p:nvSpPr>
        <p:spPr>
          <a:xfrm>
            <a:off x="6263640" y="2093976"/>
            <a:ext cx="1688592" cy="512064"/>
          </a:xfrm>
          <a:prstGeom prst="roundRect">
            <a:avLst>
              <a:gd name="adj" fmla="val 12500"/>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dirty="0">
                <a:solidFill>
                  <a:srgbClr val="9AA7D0"/>
                </a:solidFill>
                <a:latin typeface="Calibri" pitchFamily="34" charset="0"/>
                <a:ea typeface="Calibri" pitchFamily="34" charset="-122"/>
                <a:cs typeface="Calibri" pitchFamily="34" charset="-120"/>
              </a:rPr>
              <a:t>Source code</a:t>
            </a:r>
            <a:endParaRPr lang="en-US" sz="1050" dirty="0"/>
          </a:p>
        </p:txBody>
      </p:sp>
      <p:sp>
        <p:nvSpPr>
          <p:cNvPr id="18" name="Text 16"/>
          <p:cNvSpPr/>
          <p:nvPr/>
        </p:nvSpPr>
        <p:spPr>
          <a:xfrm>
            <a:off x="8098536" y="2093976"/>
            <a:ext cx="1688592" cy="512064"/>
          </a:xfrm>
          <a:prstGeom prst="roundRect">
            <a:avLst>
              <a:gd name="adj" fmla="val 12500"/>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dirty="0">
                <a:solidFill>
                  <a:srgbClr val="9AA7D0"/>
                </a:solidFill>
                <a:latin typeface="Calibri" pitchFamily="34" charset="0"/>
                <a:ea typeface="Calibri" pitchFamily="34" charset="-122"/>
                <a:cs typeface="Calibri" pitchFamily="34" charset="-120"/>
              </a:rPr>
              <a:t>X.509 certs</a:t>
            </a:r>
            <a:endParaRPr lang="en-US" sz="1050" dirty="0"/>
          </a:p>
        </p:txBody>
      </p:sp>
      <p:sp>
        <p:nvSpPr>
          <p:cNvPr id="19" name="Text 17"/>
          <p:cNvSpPr/>
          <p:nvPr/>
        </p:nvSpPr>
        <p:spPr>
          <a:xfrm>
            <a:off x="9933432" y="2093976"/>
            <a:ext cx="1688592" cy="512064"/>
          </a:xfrm>
          <a:prstGeom prst="roundRect">
            <a:avLst>
              <a:gd name="adj" fmla="val 12500"/>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dirty="0">
                <a:solidFill>
                  <a:srgbClr val="9AA7D0"/>
                </a:solidFill>
                <a:latin typeface="Calibri" pitchFamily="34" charset="0"/>
                <a:ea typeface="Calibri" pitchFamily="34" charset="-122"/>
                <a:cs typeface="Calibri" pitchFamily="34" charset="-120"/>
              </a:rPr>
              <a:t>Dependencies</a:t>
            </a:r>
            <a:endParaRPr lang="en-US" sz="1050" dirty="0"/>
          </a:p>
        </p:txBody>
      </p:sp>
      <p:sp>
        <p:nvSpPr>
          <p:cNvPr id="20" name="Text 18"/>
          <p:cNvSpPr/>
          <p:nvPr/>
        </p:nvSpPr>
        <p:spPr>
          <a:xfrm>
            <a:off x="6263640" y="2752344"/>
            <a:ext cx="1688592" cy="512064"/>
          </a:xfrm>
          <a:prstGeom prst="roundRect">
            <a:avLst>
              <a:gd name="adj" fmla="val 12500"/>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dirty="0">
                <a:solidFill>
                  <a:srgbClr val="9AA7D0"/>
                </a:solidFill>
                <a:latin typeface="Calibri" pitchFamily="34" charset="0"/>
                <a:ea typeface="Calibri" pitchFamily="34" charset="-122"/>
                <a:cs typeface="Calibri" pitchFamily="34" charset="-120"/>
              </a:rPr>
              <a:t>Config files</a:t>
            </a:r>
            <a:endParaRPr lang="en-US" sz="1050" dirty="0"/>
          </a:p>
        </p:txBody>
      </p:sp>
      <p:sp>
        <p:nvSpPr>
          <p:cNvPr id="21" name="Text 19"/>
          <p:cNvSpPr/>
          <p:nvPr/>
        </p:nvSpPr>
        <p:spPr>
          <a:xfrm>
            <a:off x="8098536" y="2752344"/>
            <a:ext cx="1688592" cy="512064"/>
          </a:xfrm>
          <a:prstGeom prst="roundRect">
            <a:avLst>
              <a:gd name="adj" fmla="val 12500"/>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dirty="0">
                <a:solidFill>
                  <a:srgbClr val="9AA7D0"/>
                </a:solidFill>
                <a:latin typeface="Calibri" pitchFamily="34" charset="0"/>
                <a:ea typeface="Calibri" pitchFamily="34" charset="-122"/>
                <a:cs typeface="Calibri" pitchFamily="34" charset="-120"/>
              </a:rPr>
              <a:t>IaC / Terraform</a:t>
            </a:r>
            <a:endParaRPr lang="en-US" sz="1050" dirty="0"/>
          </a:p>
        </p:txBody>
      </p:sp>
      <p:sp>
        <p:nvSpPr>
          <p:cNvPr id="22" name="Text 20"/>
          <p:cNvSpPr/>
          <p:nvPr/>
        </p:nvSpPr>
        <p:spPr>
          <a:xfrm>
            <a:off x="9933432" y="2752344"/>
            <a:ext cx="1688592" cy="512064"/>
          </a:xfrm>
          <a:prstGeom prst="roundRect">
            <a:avLst>
              <a:gd name="adj" fmla="val 12500"/>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dirty="0">
                <a:solidFill>
                  <a:srgbClr val="9AA7D0"/>
                </a:solidFill>
                <a:latin typeface="Calibri" pitchFamily="34" charset="0"/>
                <a:ea typeface="Calibri" pitchFamily="34" charset="-122"/>
                <a:cs typeface="Calibri" pitchFamily="34" charset="-120"/>
              </a:rPr>
              <a:t>CI / CD</a:t>
            </a:r>
            <a:endParaRPr lang="en-US" sz="1050" dirty="0"/>
          </a:p>
        </p:txBody>
      </p:sp>
      <p:sp>
        <p:nvSpPr>
          <p:cNvPr id="23" name="Shape 21"/>
          <p:cNvSpPr/>
          <p:nvPr/>
        </p:nvSpPr>
        <p:spPr>
          <a:xfrm rot="10800000">
            <a:off x="8823960" y="3483864"/>
            <a:ext cx="237744" cy="237744"/>
          </a:xfrm>
          <a:prstGeom prst="triangle">
            <a:avLst/>
          </a:prstGeom>
          <a:solidFill>
            <a:srgbClr val="3BE8B0"/>
          </a:solidFill>
          <a:ln w="12700">
            <a:solidFill>
              <a:srgbClr val="3BE8B0"/>
            </a:solidFill>
            <a:prstDash val="solid"/>
          </a:ln>
        </p:spPr>
      </p:sp>
      <p:sp>
        <p:nvSpPr>
          <p:cNvPr id="24" name="Shape 22"/>
          <p:cNvSpPr/>
          <p:nvPr/>
        </p:nvSpPr>
        <p:spPr>
          <a:xfrm>
            <a:off x="6263640" y="3867912"/>
            <a:ext cx="5358384" cy="932688"/>
          </a:xfrm>
          <a:prstGeom prst="roundRect">
            <a:avLst>
              <a:gd name="adj" fmla="val 11765"/>
            </a:avLst>
          </a:prstGeom>
          <a:solidFill>
            <a:srgbClr val="17224C"/>
          </a:solidFill>
          <a:ln w="12700">
            <a:solidFill>
              <a:srgbClr val="3BE8B0"/>
            </a:solidFill>
            <a:prstDash val="solid"/>
          </a:ln>
        </p:spPr>
      </p:sp>
      <p:sp>
        <p:nvSpPr>
          <p:cNvPr id="25" name="Text 23"/>
          <p:cNvSpPr/>
          <p:nvPr/>
        </p:nvSpPr>
        <p:spPr>
          <a:xfrm>
            <a:off x="6492240" y="3867912"/>
            <a:ext cx="4901184" cy="9326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One unified cryptographic inventory</a:t>
            </a:r>
            <a:endParaRPr lang="en-US" sz="1500" dirty="0"/>
          </a:p>
        </p:txBody>
      </p:sp>
      <p:sp>
        <p:nvSpPr>
          <p:cNvPr id="26" name="Shape 24"/>
          <p:cNvSpPr/>
          <p:nvPr/>
        </p:nvSpPr>
        <p:spPr>
          <a:xfrm>
            <a:off x="6263640" y="4983480"/>
            <a:ext cx="1688592" cy="841248"/>
          </a:xfrm>
          <a:prstGeom prst="roundRect">
            <a:avLst>
              <a:gd name="adj" fmla="val 13043"/>
            </a:avLst>
          </a:prstGeom>
          <a:solidFill>
            <a:srgbClr val="111A3D"/>
          </a:solidFill>
          <a:ln w="12700">
            <a:solidFill>
              <a:srgbClr val="2A3667"/>
            </a:solidFill>
            <a:prstDash val="solid"/>
          </a:ln>
        </p:spPr>
      </p:sp>
      <p:sp>
        <p:nvSpPr>
          <p:cNvPr id="27" name="Text 25"/>
          <p:cNvSpPr/>
          <p:nvPr/>
        </p:nvSpPr>
        <p:spPr>
          <a:xfrm>
            <a:off x="6263640" y="5093208"/>
            <a:ext cx="1688592" cy="384048"/>
          </a:xfrm>
          <a:prstGeom prst="rect">
            <a:avLst/>
          </a:prstGeom>
          <a:noFill/>
          <a:ln/>
        </p:spPr>
        <p:txBody>
          <a:bodyPr wrap="square" lIns="0" tIns="0" rIns="0" bIns="0" rtlCol="0" anchor="t"/>
          <a:lstStyle/>
          <a:p>
            <a:pPr algn="ctr" indent="0" marL="0">
              <a:buNone/>
            </a:pPr>
            <a:r>
              <a:rPr lang="en-US" sz="2200" b="1" dirty="0">
                <a:solidFill>
                  <a:srgbClr val="3BE8B0"/>
                </a:solidFill>
                <a:latin typeface="Calibri" pitchFamily="34" charset="0"/>
                <a:ea typeface="Calibri" pitchFamily="34" charset="-122"/>
                <a:cs typeface="Calibri" pitchFamily="34" charset="-120"/>
              </a:rPr>
              <a:t>83</a:t>
            </a:r>
            <a:endParaRPr lang="en-US" sz="2200" dirty="0"/>
          </a:p>
        </p:txBody>
      </p:sp>
      <p:sp>
        <p:nvSpPr>
          <p:cNvPr id="28" name="Text 26"/>
          <p:cNvSpPr/>
          <p:nvPr/>
        </p:nvSpPr>
        <p:spPr>
          <a:xfrm>
            <a:off x="6263640" y="5495544"/>
            <a:ext cx="1688592" cy="219456"/>
          </a:xfrm>
          <a:prstGeom prst="rect">
            <a:avLst/>
          </a:prstGeom>
          <a:noFill/>
          <a:ln/>
        </p:spPr>
        <p:txBody>
          <a:bodyPr wrap="square" lIns="0" tIns="0" rIns="0" bIns="0" rtlCol="0" anchor="t"/>
          <a:lstStyle/>
          <a:p>
            <a:pPr algn="ctr" indent="0" marL="0">
              <a:buNone/>
            </a:pPr>
            <a:r>
              <a:rPr lang="en-US" sz="900" b="1" spc="110" kern="0" dirty="0">
                <a:solidFill>
                  <a:srgbClr val="9AA7D0"/>
                </a:solidFill>
                <a:latin typeface="Calibri" pitchFamily="34" charset="0"/>
                <a:ea typeface="Calibri" pitchFamily="34" charset="-122"/>
                <a:cs typeface="Calibri" pitchFamily="34" charset="-120"/>
              </a:rPr>
              <a:t>FINDINGS</a:t>
            </a:r>
            <a:endParaRPr lang="en-US" sz="900" dirty="0"/>
          </a:p>
        </p:txBody>
      </p:sp>
      <p:sp>
        <p:nvSpPr>
          <p:cNvPr id="29" name="Shape 27"/>
          <p:cNvSpPr/>
          <p:nvPr/>
        </p:nvSpPr>
        <p:spPr>
          <a:xfrm>
            <a:off x="8098536" y="4983480"/>
            <a:ext cx="1688592" cy="841248"/>
          </a:xfrm>
          <a:prstGeom prst="roundRect">
            <a:avLst>
              <a:gd name="adj" fmla="val 13043"/>
            </a:avLst>
          </a:prstGeom>
          <a:solidFill>
            <a:srgbClr val="111A3D"/>
          </a:solidFill>
          <a:ln w="12700">
            <a:solidFill>
              <a:srgbClr val="2A3667"/>
            </a:solidFill>
            <a:prstDash val="solid"/>
          </a:ln>
        </p:spPr>
      </p:sp>
      <p:sp>
        <p:nvSpPr>
          <p:cNvPr id="30" name="Text 28"/>
          <p:cNvSpPr/>
          <p:nvPr/>
        </p:nvSpPr>
        <p:spPr>
          <a:xfrm>
            <a:off x="8098536" y="5093208"/>
            <a:ext cx="1688592" cy="384048"/>
          </a:xfrm>
          <a:prstGeom prst="rect">
            <a:avLst/>
          </a:prstGeom>
          <a:noFill/>
          <a:ln/>
        </p:spPr>
        <p:txBody>
          <a:bodyPr wrap="square" lIns="0" tIns="0" rIns="0" bIns="0" rtlCol="0" anchor="t"/>
          <a:lstStyle/>
          <a:p>
            <a:pPr algn="ctr" indent="0" marL="0">
              <a:buNone/>
            </a:pPr>
            <a:r>
              <a:rPr lang="en-US" sz="2200" b="1" dirty="0">
                <a:solidFill>
                  <a:srgbClr val="3BE8B0"/>
                </a:solidFill>
                <a:latin typeface="Calibri" pitchFamily="34" charset="0"/>
                <a:ea typeface="Calibri" pitchFamily="34" charset="-122"/>
                <a:cs typeface="Calibri" pitchFamily="34" charset="-120"/>
              </a:rPr>
              <a:t>76</a:t>
            </a:r>
            <a:endParaRPr lang="en-US" sz="2200" dirty="0"/>
          </a:p>
        </p:txBody>
      </p:sp>
      <p:sp>
        <p:nvSpPr>
          <p:cNvPr id="31" name="Text 29"/>
          <p:cNvSpPr/>
          <p:nvPr/>
        </p:nvSpPr>
        <p:spPr>
          <a:xfrm>
            <a:off x="8098536" y="5495544"/>
            <a:ext cx="1688592" cy="219456"/>
          </a:xfrm>
          <a:prstGeom prst="rect">
            <a:avLst/>
          </a:prstGeom>
          <a:noFill/>
          <a:ln/>
        </p:spPr>
        <p:txBody>
          <a:bodyPr wrap="square" lIns="0" tIns="0" rIns="0" bIns="0" rtlCol="0" anchor="t"/>
          <a:lstStyle/>
          <a:p>
            <a:pPr algn="ctr" indent="0" marL="0">
              <a:buNone/>
            </a:pPr>
            <a:r>
              <a:rPr lang="en-US" sz="900" b="1" spc="110" kern="0" dirty="0">
                <a:solidFill>
                  <a:srgbClr val="9AA7D0"/>
                </a:solidFill>
                <a:latin typeface="Calibri" pitchFamily="34" charset="0"/>
                <a:ea typeface="Calibri" pitchFamily="34" charset="-122"/>
                <a:cs typeface="Calibri" pitchFamily="34" charset="-120"/>
              </a:rPr>
              <a:t>FILES</a:t>
            </a:r>
            <a:endParaRPr lang="en-US" sz="900" dirty="0"/>
          </a:p>
        </p:txBody>
      </p:sp>
      <p:sp>
        <p:nvSpPr>
          <p:cNvPr id="32" name="Shape 30"/>
          <p:cNvSpPr/>
          <p:nvPr/>
        </p:nvSpPr>
        <p:spPr>
          <a:xfrm>
            <a:off x="9933432" y="4983480"/>
            <a:ext cx="1688592" cy="841248"/>
          </a:xfrm>
          <a:prstGeom prst="roundRect">
            <a:avLst>
              <a:gd name="adj" fmla="val 13043"/>
            </a:avLst>
          </a:prstGeom>
          <a:solidFill>
            <a:srgbClr val="111A3D"/>
          </a:solidFill>
          <a:ln w="12700">
            <a:solidFill>
              <a:srgbClr val="2A3667"/>
            </a:solidFill>
            <a:prstDash val="solid"/>
          </a:ln>
        </p:spPr>
      </p:sp>
      <p:sp>
        <p:nvSpPr>
          <p:cNvPr id="33" name="Text 31"/>
          <p:cNvSpPr/>
          <p:nvPr/>
        </p:nvSpPr>
        <p:spPr>
          <a:xfrm>
            <a:off x="9933432" y="5093208"/>
            <a:ext cx="1688592" cy="384048"/>
          </a:xfrm>
          <a:prstGeom prst="rect">
            <a:avLst/>
          </a:prstGeom>
          <a:noFill/>
          <a:ln/>
        </p:spPr>
        <p:txBody>
          <a:bodyPr wrap="square" lIns="0" tIns="0" rIns="0" bIns="0" rtlCol="0" anchor="t"/>
          <a:lstStyle/>
          <a:p>
            <a:pPr algn="ctr" indent="0" marL="0">
              <a:buNone/>
            </a:pPr>
            <a:r>
              <a:rPr lang="en-US" sz="2200" b="1" dirty="0">
                <a:solidFill>
                  <a:srgbClr val="3BE8B0"/>
                </a:solidFill>
                <a:latin typeface="Calibri" pitchFamily="34" charset="0"/>
                <a:ea typeface="Calibri" pitchFamily="34" charset="-122"/>
                <a:cs typeface="Calibri" pitchFamily="34" charset="-120"/>
              </a:rPr>
              <a:t>3</a:t>
            </a:r>
            <a:endParaRPr lang="en-US" sz="2200" dirty="0"/>
          </a:p>
        </p:txBody>
      </p:sp>
      <p:sp>
        <p:nvSpPr>
          <p:cNvPr id="34" name="Text 32"/>
          <p:cNvSpPr/>
          <p:nvPr/>
        </p:nvSpPr>
        <p:spPr>
          <a:xfrm>
            <a:off x="9933432" y="5495544"/>
            <a:ext cx="1688592" cy="219456"/>
          </a:xfrm>
          <a:prstGeom prst="rect">
            <a:avLst/>
          </a:prstGeom>
          <a:noFill/>
          <a:ln/>
        </p:spPr>
        <p:txBody>
          <a:bodyPr wrap="square" lIns="0" tIns="0" rIns="0" bIns="0" rtlCol="0" anchor="t"/>
          <a:lstStyle/>
          <a:p>
            <a:pPr algn="ctr" indent="0" marL="0">
              <a:buNone/>
            </a:pPr>
            <a:r>
              <a:rPr lang="en-US" sz="900" b="1" spc="110" kern="0" dirty="0">
                <a:solidFill>
                  <a:srgbClr val="9AA7D0"/>
                </a:solidFill>
                <a:latin typeface="Calibri" pitchFamily="34" charset="0"/>
                <a:ea typeface="Calibri" pitchFamily="34" charset="-122"/>
                <a:cs typeface="Calibri" pitchFamily="34" charset="-120"/>
              </a:rPr>
              <a:t>PROJECTS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THE PLATFORM</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Discover → Assess → Simulate → Plan → Prove</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Five stages, one engine — from raw source code to an auditable, costed migration plan.</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66928" y="1965960"/>
            <a:ext cx="2011680" cy="2240280"/>
          </a:xfrm>
          <a:prstGeom prst="roundRect">
            <a:avLst>
              <a:gd name="adj" fmla="val 5455"/>
            </a:avLst>
          </a:prstGeom>
          <a:solidFill>
            <a:srgbClr val="111A3D"/>
          </a:solidFill>
          <a:ln w="12700">
            <a:solidFill>
              <a:srgbClr val="2A3667"/>
            </a:solidFill>
            <a:prstDash val="solid"/>
          </a:ln>
        </p:spPr>
      </p:sp>
      <p:sp>
        <p:nvSpPr>
          <p:cNvPr id="8" name="Text 6"/>
          <p:cNvSpPr/>
          <p:nvPr/>
        </p:nvSpPr>
        <p:spPr>
          <a:xfrm>
            <a:off x="786384" y="2185416"/>
            <a:ext cx="384048" cy="384048"/>
          </a:xfrm>
          <a:prstGeom prst="ellipse">
            <a:avLst/>
          </a:prstGeom>
          <a:solidFill>
            <a:srgbClr val="3BE8B0"/>
          </a:solidFill>
          <a:ln>
            <a:solidFill>
              <a:srgbClr val="3BE8B0"/>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86384" y="2679192"/>
            <a:ext cx="1572768"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Discover</a:t>
            </a:r>
            <a:endParaRPr lang="en-US" sz="1600" dirty="0"/>
          </a:p>
        </p:txBody>
      </p:sp>
      <p:sp>
        <p:nvSpPr>
          <p:cNvPr id="10" name="Text 8"/>
          <p:cNvSpPr/>
          <p:nvPr/>
        </p:nvSpPr>
        <p:spPr>
          <a:xfrm>
            <a:off x="786384" y="3063240"/>
            <a:ext cx="1572768" cy="987552"/>
          </a:xfrm>
          <a:prstGeom prst="rect">
            <a:avLst/>
          </a:prstGeom>
          <a:noFill/>
          <a:ln/>
        </p:spPr>
        <p:txBody>
          <a:bodyPr wrap="square" lIns="0" tIns="0" rIns="0" bIns="0" rtlCol="0" anchor="t"/>
          <a:lstStyle/>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Source, certs, deps, IaC and CI</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13 languages · 31 rules</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Scan a repo by URL or path</a:t>
            </a:r>
            <a:endParaRPr lang="en-US" sz="1050" dirty="0"/>
          </a:p>
        </p:txBody>
      </p:sp>
      <p:sp>
        <p:nvSpPr>
          <p:cNvPr id="11" name="Shape 9"/>
          <p:cNvSpPr/>
          <p:nvPr/>
        </p:nvSpPr>
        <p:spPr>
          <a:xfrm rot="5400000">
            <a:off x="2619756" y="3003804"/>
            <a:ext cx="164592" cy="164592"/>
          </a:xfrm>
          <a:prstGeom prst="triangle">
            <a:avLst/>
          </a:prstGeom>
          <a:solidFill>
            <a:srgbClr val="2A3667"/>
          </a:solidFill>
          <a:ln w="12700">
            <a:solidFill>
              <a:srgbClr val="2A3667"/>
            </a:solidFill>
            <a:prstDash val="solid"/>
          </a:ln>
        </p:spPr>
      </p:sp>
      <p:sp>
        <p:nvSpPr>
          <p:cNvPr id="12" name="Shape 10"/>
          <p:cNvSpPr/>
          <p:nvPr/>
        </p:nvSpPr>
        <p:spPr>
          <a:xfrm>
            <a:off x="2825496" y="1965960"/>
            <a:ext cx="2011680" cy="2240280"/>
          </a:xfrm>
          <a:prstGeom prst="roundRect">
            <a:avLst>
              <a:gd name="adj" fmla="val 5455"/>
            </a:avLst>
          </a:prstGeom>
          <a:solidFill>
            <a:srgbClr val="111A3D"/>
          </a:solidFill>
          <a:ln w="12700">
            <a:solidFill>
              <a:srgbClr val="2A3667"/>
            </a:solidFill>
            <a:prstDash val="solid"/>
          </a:ln>
        </p:spPr>
      </p:sp>
      <p:sp>
        <p:nvSpPr>
          <p:cNvPr id="13" name="Text 11"/>
          <p:cNvSpPr/>
          <p:nvPr/>
        </p:nvSpPr>
        <p:spPr>
          <a:xfrm>
            <a:off x="3044952" y="2185416"/>
            <a:ext cx="384048" cy="384048"/>
          </a:xfrm>
          <a:prstGeom prst="ellipse">
            <a:avLst/>
          </a:prstGeom>
          <a:solidFill>
            <a:srgbClr val="4CC9F0"/>
          </a:solidFill>
          <a:ln>
            <a:solidFill>
              <a:srgbClr val="4CC9F0"/>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044952" y="2679192"/>
            <a:ext cx="1572768"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Assess</a:t>
            </a:r>
            <a:endParaRPr lang="en-US" sz="1600" dirty="0"/>
          </a:p>
        </p:txBody>
      </p:sp>
      <p:sp>
        <p:nvSpPr>
          <p:cNvPr id="15" name="Text 13"/>
          <p:cNvSpPr/>
          <p:nvPr/>
        </p:nvSpPr>
        <p:spPr>
          <a:xfrm>
            <a:off x="3044952" y="3063240"/>
            <a:ext cx="1572768" cy="987552"/>
          </a:xfrm>
          <a:prstGeom prst="rect">
            <a:avLst/>
          </a:prstGeom>
          <a:noFill/>
          <a:ln/>
        </p:spPr>
        <p:txBody>
          <a:bodyPr wrap="square" lIns="0" tIns="0" rIns="0" bIns="0" rtlCol="0" anchor="t"/>
          <a:lstStyle/>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Shor / Grover / classical tagging</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Weighted risk + severity</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Readiness &amp; confidence scores</a:t>
            </a:r>
            <a:endParaRPr lang="en-US" sz="1050" dirty="0"/>
          </a:p>
        </p:txBody>
      </p:sp>
      <p:sp>
        <p:nvSpPr>
          <p:cNvPr id="16" name="Shape 14"/>
          <p:cNvSpPr/>
          <p:nvPr/>
        </p:nvSpPr>
        <p:spPr>
          <a:xfrm rot="5400000">
            <a:off x="4878324" y="3003804"/>
            <a:ext cx="164592" cy="164592"/>
          </a:xfrm>
          <a:prstGeom prst="triangle">
            <a:avLst/>
          </a:prstGeom>
          <a:solidFill>
            <a:srgbClr val="2A3667"/>
          </a:solidFill>
          <a:ln w="12700">
            <a:solidFill>
              <a:srgbClr val="2A3667"/>
            </a:solidFill>
            <a:prstDash val="solid"/>
          </a:ln>
        </p:spPr>
      </p:sp>
      <p:sp>
        <p:nvSpPr>
          <p:cNvPr id="17" name="Shape 15"/>
          <p:cNvSpPr/>
          <p:nvPr/>
        </p:nvSpPr>
        <p:spPr>
          <a:xfrm>
            <a:off x="5084064" y="1965960"/>
            <a:ext cx="2011680" cy="2240280"/>
          </a:xfrm>
          <a:prstGeom prst="roundRect">
            <a:avLst>
              <a:gd name="adj" fmla="val 5455"/>
            </a:avLst>
          </a:prstGeom>
          <a:solidFill>
            <a:srgbClr val="111A3D"/>
          </a:solidFill>
          <a:ln w="12700">
            <a:solidFill>
              <a:srgbClr val="2A3667"/>
            </a:solidFill>
            <a:prstDash val="solid"/>
          </a:ln>
        </p:spPr>
      </p:sp>
      <p:sp>
        <p:nvSpPr>
          <p:cNvPr id="18" name="Text 16"/>
          <p:cNvSpPr/>
          <p:nvPr/>
        </p:nvSpPr>
        <p:spPr>
          <a:xfrm>
            <a:off x="5303520" y="2185416"/>
            <a:ext cx="384048" cy="384048"/>
          </a:xfrm>
          <a:prstGeom prst="ellipse">
            <a:avLst/>
          </a:prstGeom>
          <a:solidFill>
            <a:srgbClr val="9B8CFA"/>
          </a:solidFill>
          <a:ln>
            <a:solidFill>
              <a:srgbClr val="9B8CFA"/>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303520" y="2679192"/>
            <a:ext cx="1572768"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Simulate</a:t>
            </a:r>
            <a:endParaRPr lang="en-US" sz="1600" dirty="0"/>
          </a:p>
        </p:txBody>
      </p:sp>
      <p:sp>
        <p:nvSpPr>
          <p:cNvPr id="20" name="Text 18"/>
          <p:cNvSpPr/>
          <p:nvPr/>
        </p:nvSpPr>
        <p:spPr>
          <a:xfrm>
            <a:off x="5303520" y="3063240"/>
            <a:ext cx="1572768" cy="987552"/>
          </a:xfrm>
          <a:prstGeom prst="rect">
            <a:avLst/>
          </a:prstGeom>
          <a:noFill/>
          <a:ln/>
        </p:spPr>
        <p:txBody>
          <a:bodyPr wrap="square" lIns="0" tIns="0" rIns="0" bIns="0" rtlCol="0" anchor="t"/>
          <a:lstStyle/>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Real FIPS 203/204/205 sizes</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Bandwidth, latency, storage</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Compatibility risk</a:t>
            </a:r>
            <a:endParaRPr lang="en-US" sz="1050" dirty="0"/>
          </a:p>
        </p:txBody>
      </p:sp>
      <p:sp>
        <p:nvSpPr>
          <p:cNvPr id="21" name="Shape 19"/>
          <p:cNvSpPr/>
          <p:nvPr/>
        </p:nvSpPr>
        <p:spPr>
          <a:xfrm rot="5400000">
            <a:off x="7136892" y="3003804"/>
            <a:ext cx="164592" cy="164592"/>
          </a:xfrm>
          <a:prstGeom prst="triangle">
            <a:avLst/>
          </a:prstGeom>
          <a:solidFill>
            <a:srgbClr val="2A3667"/>
          </a:solidFill>
          <a:ln w="12700">
            <a:solidFill>
              <a:srgbClr val="2A3667"/>
            </a:solidFill>
            <a:prstDash val="solid"/>
          </a:ln>
        </p:spPr>
      </p:sp>
      <p:sp>
        <p:nvSpPr>
          <p:cNvPr id="22" name="Shape 20"/>
          <p:cNvSpPr/>
          <p:nvPr/>
        </p:nvSpPr>
        <p:spPr>
          <a:xfrm>
            <a:off x="7342632" y="1965960"/>
            <a:ext cx="2011680" cy="2240280"/>
          </a:xfrm>
          <a:prstGeom prst="roundRect">
            <a:avLst>
              <a:gd name="adj" fmla="val 5455"/>
            </a:avLst>
          </a:prstGeom>
          <a:solidFill>
            <a:srgbClr val="111A3D"/>
          </a:solidFill>
          <a:ln w="12700">
            <a:solidFill>
              <a:srgbClr val="2A3667"/>
            </a:solidFill>
            <a:prstDash val="solid"/>
          </a:ln>
        </p:spPr>
      </p:sp>
      <p:sp>
        <p:nvSpPr>
          <p:cNvPr id="23" name="Text 21"/>
          <p:cNvSpPr/>
          <p:nvPr/>
        </p:nvSpPr>
        <p:spPr>
          <a:xfrm>
            <a:off x="7562088" y="2185416"/>
            <a:ext cx="384048" cy="384048"/>
          </a:xfrm>
          <a:prstGeom prst="ellipse">
            <a:avLst/>
          </a:prstGeom>
          <a:solidFill>
            <a:srgbClr val="FFB547"/>
          </a:solidFill>
          <a:ln>
            <a:solidFill>
              <a:srgbClr val="FFB547"/>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7562088" y="2679192"/>
            <a:ext cx="1572768"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Plan</a:t>
            </a:r>
            <a:endParaRPr lang="en-US" sz="1600" dirty="0"/>
          </a:p>
        </p:txBody>
      </p:sp>
      <p:sp>
        <p:nvSpPr>
          <p:cNvPr id="25" name="Text 23"/>
          <p:cNvSpPr/>
          <p:nvPr/>
        </p:nvSpPr>
        <p:spPr>
          <a:xfrm>
            <a:off x="7562088" y="3063240"/>
            <a:ext cx="1572768" cy="987552"/>
          </a:xfrm>
          <a:prstGeom prst="rect">
            <a:avLst/>
          </a:prstGeom>
          <a:noFill/>
          <a:ln/>
        </p:spPr>
        <p:txBody>
          <a:bodyPr wrap="square" lIns="0" tIns="0" rIns="0" bIns="0" rtlCol="0" anchor="t"/>
          <a:lstStyle/>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Phased migration roadmap</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Effort, timeline, rollback</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Risk reduction per phase</a:t>
            </a:r>
            <a:endParaRPr lang="en-US" sz="1050" dirty="0"/>
          </a:p>
        </p:txBody>
      </p:sp>
      <p:sp>
        <p:nvSpPr>
          <p:cNvPr id="26" name="Shape 24"/>
          <p:cNvSpPr/>
          <p:nvPr/>
        </p:nvSpPr>
        <p:spPr>
          <a:xfrm rot="5400000">
            <a:off x="9395460" y="3003804"/>
            <a:ext cx="164592" cy="164592"/>
          </a:xfrm>
          <a:prstGeom prst="triangle">
            <a:avLst/>
          </a:prstGeom>
          <a:solidFill>
            <a:srgbClr val="2A3667"/>
          </a:solidFill>
          <a:ln w="12700">
            <a:solidFill>
              <a:srgbClr val="2A3667"/>
            </a:solidFill>
            <a:prstDash val="solid"/>
          </a:ln>
        </p:spPr>
      </p:sp>
      <p:sp>
        <p:nvSpPr>
          <p:cNvPr id="27" name="Shape 25"/>
          <p:cNvSpPr/>
          <p:nvPr/>
        </p:nvSpPr>
        <p:spPr>
          <a:xfrm>
            <a:off x="9601200" y="1965960"/>
            <a:ext cx="2011680" cy="2240280"/>
          </a:xfrm>
          <a:prstGeom prst="roundRect">
            <a:avLst>
              <a:gd name="adj" fmla="val 5455"/>
            </a:avLst>
          </a:prstGeom>
          <a:solidFill>
            <a:srgbClr val="111A3D"/>
          </a:solidFill>
          <a:ln w="12700">
            <a:solidFill>
              <a:srgbClr val="2A3667"/>
            </a:solidFill>
            <a:prstDash val="solid"/>
          </a:ln>
        </p:spPr>
      </p:sp>
      <p:sp>
        <p:nvSpPr>
          <p:cNvPr id="28" name="Text 26"/>
          <p:cNvSpPr/>
          <p:nvPr/>
        </p:nvSpPr>
        <p:spPr>
          <a:xfrm>
            <a:off x="9820656" y="2185416"/>
            <a:ext cx="384048" cy="384048"/>
          </a:xfrm>
          <a:prstGeom prst="ellipse">
            <a:avLst/>
          </a:prstGeom>
          <a:solidFill>
            <a:srgbClr val="FF5C7A"/>
          </a:solidFill>
          <a:ln>
            <a:solidFill>
              <a:srgbClr val="FF5C7A"/>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9820656" y="2679192"/>
            <a:ext cx="1572768" cy="310896"/>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Prove</a:t>
            </a:r>
            <a:endParaRPr lang="en-US" sz="1600" dirty="0"/>
          </a:p>
        </p:txBody>
      </p:sp>
      <p:sp>
        <p:nvSpPr>
          <p:cNvPr id="30" name="Text 28"/>
          <p:cNvSpPr/>
          <p:nvPr/>
        </p:nvSpPr>
        <p:spPr>
          <a:xfrm>
            <a:off x="9820656" y="3063240"/>
            <a:ext cx="1572768" cy="987552"/>
          </a:xfrm>
          <a:prstGeom prst="rect">
            <a:avLst/>
          </a:prstGeom>
          <a:noFill/>
          <a:ln/>
        </p:spPr>
        <p:txBody>
          <a:bodyPr wrap="square" lIns="0" tIns="0" rIns="0" bIns="0" rtlCol="0" anchor="t"/>
          <a:lstStyle/>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8 compliance frameworks</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Control-level mapping</a:t>
            </a:r>
            <a:endParaRPr lang="en-US" sz="1050" dirty="0"/>
          </a:p>
          <a:p>
            <a:pPr indent="0" marL="0">
              <a:lnSpc>
                <a:spcPct val="130000"/>
              </a:lnSpc>
              <a:buNone/>
            </a:pPr>
            <a:r>
              <a:rPr lang="en-US" sz="1050" dirty="0">
                <a:solidFill>
                  <a:srgbClr val="9AA7D0"/>
                </a:solidFill>
                <a:latin typeface="Calibri" pitchFamily="34" charset="0"/>
                <a:ea typeface="Calibri" pitchFamily="34" charset="-122"/>
                <a:cs typeface="Calibri" pitchFamily="34" charset="-120"/>
              </a:rPr>
              <a:t>PDF · SARIF · CSV · JSON</a:t>
            </a:r>
            <a:endParaRPr lang="en-US" sz="1050" dirty="0"/>
          </a:p>
        </p:txBody>
      </p:sp>
      <p:sp>
        <p:nvSpPr>
          <p:cNvPr id="31" name="Shape 29"/>
          <p:cNvSpPr/>
          <p:nvPr/>
        </p:nvSpPr>
        <p:spPr>
          <a:xfrm>
            <a:off x="566928" y="4517136"/>
            <a:ext cx="11055096" cy="1051560"/>
          </a:xfrm>
          <a:prstGeom prst="roundRect">
            <a:avLst>
              <a:gd name="adj" fmla="val 10435"/>
            </a:avLst>
          </a:prstGeom>
          <a:solidFill>
            <a:srgbClr val="17224C"/>
          </a:solidFill>
          <a:ln w="12700">
            <a:solidFill>
              <a:srgbClr val="2A3667"/>
            </a:solidFill>
            <a:prstDash val="solid"/>
          </a:ln>
        </p:spPr>
      </p:sp>
      <p:sp>
        <p:nvSpPr>
          <p:cNvPr id="32" name="Text 30"/>
          <p:cNvSpPr/>
          <p:nvPr/>
        </p:nvSpPr>
        <p:spPr>
          <a:xfrm>
            <a:off x="841248" y="4517136"/>
            <a:ext cx="3108960" cy="1051560"/>
          </a:xfrm>
          <a:prstGeom prst="rect">
            <a:avLst/>
          </a:prstGeom>
          <a:noFill/>
          <a:ln/>
        </p:spPr>
        <p:txBody>
          <a:bodyPr wrap="square" lIns="0" tIns="0" rIns="0" bIns="0" rtlCol="0" anchor="ctr"/>
          <a:lstStyle/>
          <a:p>
            <a:pPr indent="0" marL="0">
              <a:buNone/>
            </a:pPr>
            <a:r>
              <a:rPr lang="en-US" sz="1400" b="1" dirty="0">
                <a:solidFill>
                  <a:srgbClr val="9AA7D0"/>
                </a:solidFill>
                <a:latin typeface="Calibri" pitchFamily="34" charset="0"/>
                <a:ea typeface="Calibri" pitchFamily="34" charset="-122"/>
                <a:cs typeface="Calibri" pitchFamily="34" charset="-120"/>
              </a:rPr>
              <a:t>Most tools stop at detection.</a:t>
            </a:r>
            <a:endParaRPr lang="en-US" sz="1400" dirty="0"/>
          </a:p>
        </p:txBody>
      </p:sp>
      <p:sp>
        <p:nvSpPr>
          <p:cNvPr id="33" name="Text 31"/>
          <p:cNvSpPr/>
          <p:nvPr/>
        </p:nvSpPr>
        <p:spPr>
          <a:xfrm>
            <a:off x="4041648" y="4517136"/>
            <a:ext cx="7306056" cy="10515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QuantumShield carries a finding all the way to a costed plan and an audit-ready compliance record.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How QuantumShield is built</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A modular FastAPI core: each engine is independent, and the console is one consumer of the same REST API.</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66928" y="1737360"/>
            <a:ext cx="11055096" cy="786384"/>
          </a:xfrm>
          <a:prstGeom prst="roundRect">
            <a:avLst>
              <a:gd name="adj" fmla="val 13953"/>
            </a:avLst>
          </a:prstGeom>
          <a:solidFill>
            <a:srgbClr val="111A3D"/>
          </a:solidFill>
          <a:ln w="12700">
            <a:solidFill>
              <a:srgbClr val="2A3667"/>
            </a:solidFill>
            <a:prstDash val="solid"/>
          </a:ln>
        </p:spPr>
      </p:sp>
      <p:sp>
        <p:nvSpPr>
          <p:cNvPr id="8" name="Text 6"/>
          <p:cNvSpPr/>
          <p:nvPr/>
        </p:nvSpPr>
        <p:spPr>
          <a:xfrm>
            <a:off x="804672" y="1737360"/>
            <a:ext cx="1828800" cy="786384"/>
          </a:xfrm>
          <a:prstGeom prst="rect">
            <a:avLst/>
          </a:prstGeom>
          <a:noFill/>
          <a:ln/>
        </p:spPr>
        <p:txBody>
          <a:bodyPr wrap="square" lIns="0" tIns="0" rIns="0" bIns="0" rtlCol="0" anchor="ctr"/>
          <a:lstStyle/>
          <a:p>
            <a:pPr indent="0" marL="0">
              <a:buNone/>
            </a:pPr>
            <a:r>
              <a:rPr lang="en-US" sz="1150" b="1" spc="140" kern="0" dirty="0">
                <a:solidFill>
                  <a:srgbClr val="4CC9F0"/>
                </a:solidFill>
                <a:latin typeface="Calibri" pitchFamily="34" charset="0"/>
                <a:ea typeface="Calibri" pitchFamily="34" charset="-122"/>
                <a:cs typeface="Calibri" pitchFamily="34" charset="-120"/>
              </a:rPr>
              <a:t>INPUTS</a:t>
            </a:r>
            <a:endParaRPr lang="en-US" sz="1150" dirty="0"/>
          </a:p>
        </p:txBody>
      </p:sp>
      <p:sp>
        <p:nvSpPr>
          <p:cNvPr id="9" name="Text 7"/>
          <p:cNvSpPr/>
          <p:nvPr/>
        </p:nvSpPr>
        <p:spPr>
          <a:xfrm>
            <a:off x="2724912" y="19385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Local path</a:t>
            </a:r>
            <a:endParaRPr lang="en-US" sz="1000" dirty="0"/>
          </a:p>
        </p:txBody>
      </p:sp>
      <p:sp>
        <p:nvSpPr>
          <p:cNvPr id="10" name="Text 8"/>
          <p:cNvSpPr/>
          <p:nvPr/>
        </p:nvSpPr>
        <p:spPr>
          <a:xfrm>
            <a:off x="4189476" y="19385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Git repo URL</a:t>
            </a:r>
            <a:endParaRPr lang="en-US" sz="1000" dirty="0"/>
          </a:p>
        </p:txBody>
      </p:sp>
      <p:sp>
        <p:nvSpPr>
          <p:cNvPr id="11" name="Text 9"/>
          <p:cNvSpPr/>
          <p:nvPr/>
        </p:nvSpPr>
        <p:spPr>
          <a:xfrm>
            <a:off x="5654040" y="19385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Uploaded files</a:t>
            </a:r>
            <a:endParaRPr lang="en-US" sz="1000" dirty="0"/>
          </a:p>
        </p:txBody>
      </p:sp>
      <p:sp>
        <p:nvSpPr>
          <p:cNvPr id="12" name="Text 10"/>
          <p:cNvSpPr/>
          <p:nvPr/>
        </p:nvSpPr>
        <p:spPr>
          <a:xfrm>
            <a:off x="7118604" y="19385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Pasted code</a:t>
            </a:r>
            <a:endParaRPr lang="en-US" sz="1000" dirty="0"/>
          </a:p>
        </p:txBody>
      </p:sp>
      <p:sp>
        <p:nvSpPr>
          <p:cNvPr id="13" name="Text 11"/>
          <p:cNvSpPr/>
          <p:nvPr/>
        </p:nvSpPr>
        <p:spPr>
          <a:xfrm>
            <a:off x="8583168" y="19385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X.509 certs</a:t>
            </a:r>
            <a:endParaRPr lang="en-US" sz="1000" dirty="0"/>
          </a:p>
        </p:txBody>
      </p:sp>
      <p:sp>
        <p:nvSpPr>
          <p:cNvPr id="14" name="Text 12"/>
          <p:cNvSpPr/>
          <p:nvPr/>
        </p:nvSpPr>
        <p:spPr>
          <a:xfrm>
            <a:off x="10047732" y="19385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Manifests</a:t>
            </a:r>
            <a:endParaRPr lang="en-US" sz="1000" dirty="0"/>
          </a:p>
        </p:txBody>
      </p:sp>
      <p:sp>
        <p:nvSpPr>
          <p:cNvPr id="15" name="Shape 13"/>
          <p:cNvSpPr/>
          <p:nvPr/>
        </p:nvSpPr>
        <p:spPr>
          <a:xfrm rot="10800000">
            <a:off x="6021324" y="2537460"/>
            <a:ext cx="146304" cy="146304"/>
          </a:xfrm>
          <a:prstGeom prst="triangle">
            <a:avLst/>
          </a:prstGeom>
          <a:solidFill>
            <a:srgbClr val="2A3667"/>
          </a:solidFill>
          <a:ln w="12700">
            <a:solidFill>
              <a:srgbClr val="2A3667"/>
            </a:solidFill>
            <a:prstDash val="solid"/>
          </a:ln>
        </p:spPr>
      </p:sp>
      <p:sp>
        <p:nvSpPr>
          <p:cNvPr id="16" name="Shape 14"/>
          <p:cNvSpPr/>
          <p:nvPr/>
        </p:nvSpPr>
        <p:spPr>
          <a:xfrm>
            <a:off x="566928" y="2651760"/>
            <a:ext cx="11055096" cy="786384"/>
          </a:xfrm>
          <a:prstGeom prst="roundRect">
            <a:avLst>
              <a:gd name="adj" fmla="val 13953"/>
            </a:avLst>
          </a:prstGeom>
          <a:solidFill>
            <a:srgbClr val="111A3D"/>
          </a:solidFill>
          <a:ln w="12700">
            <a:solidFill>
              <a:srgbClr val="2A3667"/>
            </a:solidFill>
            <a:prstDash val="solid"/>
          </a:ln>
        </p:spPr>
      </p:sp>
      <p:sp>
        <p:nvSpPr>
          <p:cNvPr id="17" name="Text 15"/>
          <p:cNvSpPr/>
          <p:nvPr/>
        </p:nvSpPr>
        <p:spPr>
          <a:xfrm>
            <a:off x="804672" y="2651760"/>
            <a:ext cx="1828800" cy="786384"/>
          </a:xfrm>
          <a:prstGeom prst="rect">
            <a:avLst/>
          </a:prstGeom>
          <a:noFill/>
          <a:ln/>
        </p:spPr>
        <p:txBody>
          <a:bodyPr wrap="square" lIns="0" tIns="0" rIns="0" bIns="0" rtlCol="0" anchor="ctr"/>
          <a:lstStyle/>
          <a:p>
            <a:pPr indent="0" marL="0">
              <a:buNone/>
            </a:pPr>
            <a:r>
              <a:rPr lang="en-US" sz="1150" b="1" spc="140" kern="0" dirty="0">
                <a:solidFill>
                  <a:srgbClr val="3BE8B0"/>
                </a:solidFill>
                <a:latin typeface="Calibri" pitchFamily="34" charset="0"/>
                <a:ea typeface="Calibri" pitchFamily="34" charset="-122"/>
                <a:cs typeface="Calibri" pitchFamily="34" charset="-120"/>
              </a:rPr>
              <a:t>DETECTION CORE</a:t>
            </a:r>
            <a:endParaRPr lang="en-US" sz="1150" dirty="0"/>
          </a:p>
        </p:txBody>
      </p:sp>
      <p:sp>
        <p:nvSpPr>
          <p:cNvPr id="18" name="Text 16"/>
          <p:cNvSpPr/>
          <p:nvPr/>
        </p:nvSpPr>
        <p:spPr>
          <a:xfrm>
            <a:off x="2724912" y="2852928"/>
            <a:ext cx="1629461"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Python AST analyzer</a:t>
            </a:r>
            <a:endParaRPr lang="en-US" sz="1000" dirty="0"/>
          </a:p>
        </p:txBody>
      </p:sp>
      <p:sp>
        <p:nvSpPr>
          <p:cNvPr id="19" name="Text 17"/>
          <p:cNvSpPr/>
          <p:nvPr/>
        </p:nvSpPr>
        <p:spPr>
          <a:xfrm>
            <a:off x="4482389" y="2852928"/>
            <a:ext cx="1629461"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31-rule pattern engine</a:t>
            </a:r>
            <a:endParaRPr lang="en-US" sz="1000" dirty="0"/>
          </a:p>
        </p:txBody>
      </p:sp>
      <p:sp>
        <p:nvSpPr>
          <p:cNvPr id="20" name="Text 18"/>
          <p:cNvSpPr/>
          <p:nvPr/>
        </p:nvSpPr>
        <p:spPr>
          <a:xfrm>
            <a:off x="6239866" y="2852928"/>
            <a:ext cx="1629461"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Data-flow taint tracking</a:t>
            </a:r>
            <a:endParaRPr lang="en-US" sz="1000" dirty="0"/>
          </a:p>
        </p:txBody>
      </p:sp>
      <p:sp>
        <p:nvSpPr>
          <p:cNvPr id="21" name="Text 19"/>
          <p:cNvSpPr/>
          <p:nvPr/>
        </p:nvSpPr>
        <p:spPr>
          <a:xfrm>
            <a:off x="7997342" y="2852928"/>
            <a:ext cx="1629461"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X.509 parser</a:t>
            </a:r>
            <a:endParaRPr lang="en-US" sz="1000" dirty="0"/>
          </a:p>
        </p:txBody>
      </p:sp>
      <p:sp>
        <p:nvSpPr>
          <p:cNvPr id="22" name="Text 20"/>
          <p:cNvSpPr/>
          <p:nvPr/>
        </p:nvSpPr>
        <p:spPr>
          <a:xfrm>
            <a:off x="9754819" y="2852928"/>
            <a:ext cx="1629461"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Manifest / SBOM parser</a:t>
            </a:r>
            <a:endParaRPr lang="en-US" sz="1000" dirty="0"/>
          </a:p>
        </p:txBody>
      </p:sp>
      <p:sp>
        <p:nvSpPr>
          <p:cNvPr id="23" name="Shape 21"/>
          <p:cNvSpPr/>
          <p:nvPr/>
        </p:nvSpPr>
        <p:spPr>
          <a:xfrm rot="10800000">
            <a:off x="6021324" y="3451860"/>
            <a:ext cx="146304" cy="146304"/>
          </a:xfrm>
          <a:prstGeom prst="triangle">
            <a:avLst/>
          </a:prstGeom>
          <a:solidFill>
            <a:srgbClr val="2A3667"/>
          </a:solidFill>
          <a:ln w="12700">
            <a:solidFill>
              <a:srgbClr val="2A3667"/>
            </a:solidFill>
            <a:prstDash val="solid"/>
          </a:ln>
        </p:spPr>
      </p:sp>
      <p:sp>
        <p:nvSpPr>
          <p:cNvPr id="24" name="Shape 22"/>
          <p:cNvSpPr/>
          <p:nvPr/>
        </p:nvSpPr>
        <p:spPr>
          <a:xfrm>
            <a:off x="566928" y="3566160"/>
            <a:ext cx="11055096" cy="786384"/>
          </a:xfrm>
          <a:prstGeom prst="roundRect">
            <a:avLst>
              <a:gd name="adj" fmla="val 13953"/>
            </a:avLst>
          </a:prstGeom>
          <a:solidFill>
            <a:srgbClr val="111A3D"/>
          </a:solidFill>
          <a:ln w="12700">
            <a:solidFill>
              <a:srgbClr val="2A3667"/>
            </a:solidFill>
            <a:prstDash val="solid"/>
          </a:ln>
        </p:spPr>
      </p:sp>
      <p:sp>
        <p:nvSpPr>
          <p:cNvPr id="25" name="Text 23"/>
          <p:cNvSpPr/>
          <p:nvPr/>
        </p:nvSpPr>
        <p:spPr>
          <a:xfrm>
            <a:off x="804672" y="3566160"/>
            <a:ext cx="1828800" cy="786384"/>
          </a:xfrm>
          <a:prstGeom prst="rect">
            <a:avLst/>
          </a:prstGeom>
          <a:noFill/>
          <a:ln/>
        </p:spPr>
        <p:txBody>
          <a:bodyPr wrap="square" lIns="0" tIns="0" rIns="0" bIns="0" rtlCol="0" anchor="ctr"/>
          <a:lstStyle/>
          <a:p>
            <a:pPr indent="0" marL="0">
              <a:buNone/>
            </a:pPr>
            <a:r>
              <a:rPr lang="en-US" sz="1150" b="1" spc="140" kern="0" dirty="0">
                <a:solidFill>
                  <a:srgbClr val="9B8CFA"/>
                </a:solidFill>
                <a:latin typeface="Calibri" pitchFamily="34" charset="0"/>
                <a:ea typeface="Calibri" pitchFamily="34" charset="-122"/>
                <a:cs typeface="Calibri" pitchFamily="34" charset="-120"/>
              </a:rPr>
              <a:t>INTELLIGENCE</a:t>
            </a:r>
            <a:endParaRPr lang="en-US" sz="1150" dirty="0"/>
          </a:p>
        </p:txBody>
      </p:sp>
      <p:sp>
        <p:nvSpPr>
          <p:cNvPr id="26" name="Text 24"/>
          <p:cNvSpPr/>
          <p:nvPr/>
        </p:nvSpPr>
        <p:spPr>
          <a:xfrm>
            <a:off x="2724912" y="37673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PQC mapper</a:t>
            </a:r>
            <a:endParaRPr lang="en-US" sz="1000" dirty="0"/>
          </a:p>
        </p:txBody>
      </p:sp>
      <p:sp>
        <p:nvSpPr>
          <p:cNvPr id="27" name="Text 25"/>
          <p:cNvSpPr/>
          <p:nvPr/>
        </p:nvSpPr>
        <p:spPr>
          <a:xfrm>
            <a:off x="4189476" y="37673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Risk scoring</a:t>
            </a:r>
            <a:endParaRPr lang="en-US" sz="1000" dirty="0"/>
          </a:p>
        </p:txBody>
      </p:sp>
      <p:sp>
        <p:nvSpPr>
          <p:cNvPr id="28" name="Text 26"/>
          <p:cNvSpPr/>
          <p:nvPr/>
        </p:nvSpPr>
        <p:spPr>
          <a:xfrm>
            <a:off x="5654040" y="37673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Migration planner</a:t>
            </a:r>
            <a:endParaRPr lang="en-US" sz="1000" dirty="0"/>
          </a:p>
        </p:txBody>
      </p:sp>
      <p:sp>
        <p:nvSpPr>
          <p:cNvPr id="29" name="Text 27"/>
          <p:cNvSpPr/>
          <p:nvPr/>
        </p:nvSpPr>
        <p:spPr>
          <a:xfrm>
            <a:off x="7118604" y="37673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Impact simulator</a:t>
            </a:r>
            <a:endParaRPr lang="en-US" sz="1000" dirty="0"/>
          </a:p>
        </p:txBody>
      </p:sp>
      <p:sp>
        <p:nvSpPr>
          <p:cNvPr id="30" name="Text 28"/>
          <p:cNvSpPr/>
          <p:nvPr/>
        </p:nvSpPr>
        <p:spPr>
          <a:xfrm>
            <a:off x="8583168" y="37673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Compliance engine</a:t>
            </a:r>
            <a:endParaRPr lang="en-US" sz="1000" dirty="0"/>
          </a:p>
        </p:txBody>
      </p:sp>
      <p:sp>
        <p:nvSpPr>
          <p:cNvPr id="31" name="Text 29"/>
          <p:cNvSpPr/>
          <p:nvPr/>
        </p:nvSpPr>
        <p:spPr>
          <a:xfrm>
            <a:off x="10047732" y="3767328"/>
            <a:ext cx="1336548"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AI advisor</a:t>
            </a:r>
            <a:endParaRPr lang="en-US" sz="1000" dirty="0"/>
          </a:p>
        </p:txBody>
      </p:sp>
      <p:sp>
        <p:nvSpPr>
          <p:cNvPr id="32" name="Shape 30"/>
          <p:cNvSpPr/>
          <p:nvPr/>
        </p:nvSpPr>
        <p:spPr>
          <a:xfrm rot="10800000">
            <a:off x="6021324" y="4366260"/>
            <a:ext cx="146304" cy="146304"/>
          </a:xfrm>
          <a:prstGeom prst="triangle">
            <a:avLst/>
          </a:prstGeom>
          <a:solidFill>
            <a:srgbClr val="2A3667"/>
          </a:solidFill>
          <a:ln w="12700">
            <a:solidFill>
              <a:srgbClr val="2A3667"/>
            </a:solidFill>
            <a:prstDash val="solid"/>
          </a:ln>
        </p:spPr>
      </p:sp>
      <p:sp>
        <p:nvSpPr>
          <p:cNvPr id="33" name="Shape 31"/>
          <p:cNvSpPr/>
          <p:nvPr/>
        </p:nvSpPr>
        <p:spPr>
          <a:xfrm>
            <a:off x="566928" y="4480560"/>
            <a:ext cx="11055096" cy="786384"/>
          </a:xfrm>
          <a:prstGeom prst="roundRect">
            <a:avLst>
              <a:gd name="adj" fmla="val 13953"/>
            </a:avLst>
          </a:prstGeom>
          <a:solidFill>
            <a:srgbClr val="111A3D"/>
          </a:solidFill>
          <a:ln w="12700">
            <a:solidFill>
              <a:srgbClr val="2A3667"/>
            </a:solidFill>
            <a:prstDash val="solid"/>
          </a:ln>
        </p:spPr>
      </p:sp>
      <p:sp>
        <p:nvSpPr>
          <p:cNvPr id="34" name="Text 32"/>
          <p:cNvSpPr/>
          <p:nvPr/>
        </p:nvSpPr>
        <p:spPr>
          <a:xfrm>
            <a:off x="804672" y="4480560"/>
            <a:ext cx="1828800" cy="786384"/>
          </a:xfrm>
          <a:prstGeom prst="rect">
            <a:avLst/>
          </a:prstGeom>
          <a:noFill/>
          <a:ln/>
        </p:spPr>
        <p:txBody>
          <a:bodyPr wrap="square" lIns="0" tIns="0" rIns="0" bIns="0" rtlCol="0" anchor="ctr"/>
          <a:lstStyle/>
          <a:p>
            <a:pPr indent="0" marL="0">
              <a:buNone/>
            </a:pPr>
            <a:r>
              <a:rPr lang="en-US" sz="1150" b="1" spc="140" kern="0" dirty="0">
                <a:solidFill>
                  <a:srgbClr val="FFB547"/>
                </a:solidFill>
                <a:latin typeface="Calibri" pitchFamily="34" charset="0"/>
                <a:ea typeface="Calibri" pitchFamily="34" charset="-122"/>
                <a:cs typeface="Calibri" pitchFamily="34" charset="-120"/>
              </a:rPr>
              <a:t>DELIVERY</a:t>
            </a:r>
            <a:endParaRPr lang="en-US" sz="1150" dirty="0"/>
          </a:p>
        </p:txBody>
      </p:sp>
      <p:sp>
        <p:nvSpPr>
          <p:cNvPr id="35" name="Text 33"/>
          <p:cNvSpPr/>
          <p:nvPr/>
        </p:nvSpPr>
        <p:spPr>
          <a:xfrm>
            <a:off x="2724912" y="4681728"/>
            <a:ext cx="2801112"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React SOC console</a:t>
            </a:r>
            <a:endParaRPr lang="en-US" sz="1000" dirty="0"/>
          </a:p>
        </p:txBody>
      </p:sp>
      <p:sp>
        <p:nvSpPr>
          <p:cNvPr id="36" name="Text 34"/>
          <p:cNvSpPr/>
          <p:nvPr/>
        </p:nvSpPr>
        <p:spPr>
          <a:xfrm>
            <a:off x="5654040" y="4681728"/>
            <a:ext cx="2801112"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REST API · 37 endpoints</a:t>
            </a:r>
            <a:endParaRPr lang="en-US" sz="1000" dirty="0"/>
          </a:p>
        </p:txBody>
      </p:sp>
      <p:sp>
        <p:nvSpPr>
          <p:cNvPr id="37" name="Text 35"/>
          <p:cNvSpPr/>
          <p:nvPr/>
        </p:nvSpPr>
        <p:spPr>
          <a:xfrm>
            <a:off x="8583168" y="4681728"/>
            <a:ext cx="2801112" cy="420624"/>
          </a:xfrm>
          <a:prstGeom prst="roundRect">
            <a:avLst>
              <a:gd name="adj" fmla="val 15217"/>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00" dirty="0">
                <a:solidFill>
                  <a:srgbClr val="9AA7D0"/>
                </a:solidFill>
                <a:latin typeface="Calibri" pitchFamily="34" charset="0"/>
                <a:ea typeface="Calibri" pitchFamily="34" charset="-122"/>
                <a:cs typeface="Calibri" pitchFamily="34" charset="-120"/>
              </a:rPr>
              <a:t>PDF / SARIF / CSV / JSON / MD</a:t>
            </a:r>
            <a:endParaRPr lang="en-US" sz="1000" dirty="0"/>
          </a:p>
        </p:txBody>
      </p:sp>
      <p:sp>
        <p:nvSpPr>
          <p:cNvPr id="38" name="Shape 36"/>
          <p:cNvSpPr/>
          <p:nvPr/>
        </p:nvSpPr>
        <p:spPr>
          <a:xfrm>
            <a:off x="566928" y="5486400"/>
            <a:ext cx="11055096" cy="713232"/>
          </a:xfrm>
          <a:prstGeom prst="roundRect">
            <a:avLst>
              <a:gd name="adj" fmla="val 15385"/>
            </a:avLst>
          </a:prstGeom>
          <a:solidFill>
            <a:srgbClr val="17224C"/>
          </a:solidFill>
          <a:ln w="12700">
            <a:solidFill>
              <a:srgbClr val="2A3667"/>
            </a:solidFill>
            <a:prstDash val="solid"/>
          </a:ln>
        </p:spPr>
      </p:sp>
      <p:sp>
        <p:nvSpPr>
          <p:cNvPr id="39" name="Text 37"/>
          <p:cNvSpPr/>
          <p:nvPr/>
        </p:nvSpPr>
        <p:spPr>
          <a:xfrm>
            <a:off x="841248" y="5486400"/>
            <a:ext cx="10506456" cy="713232"/>
          </a:xfrm>
          <a:prstGeom prst="rect">
            <a:avLst/>
          </a:prstGeom>
          <a:noFill/>
          <a:ln/>
        </p:spPr>
        <p:txBody>
          <a:bodyPr wrap="square" lIns="0" tIns="0" rIns="0" bIns="0" rtlCol="0" anchor="ctr"/>
          <a:lstStyle/>
          <a:p>
            <a:pPr indent="0" marL="0">
              <a:buNone/>
            </a:pPr>
            <a:r>
              <a:rPr lang="en-US" sz="1250" dirty="0">
                <a:solidFill>
                  <a:srgbClr val="9AA7D0"/>
                </a:solidFill>
                <a:latin typeface="Calibri" pitchFamily="34" charset="0"/>
                <a:ea typeface="Calibri" pitchFamily="34" charset="-122"/>
                <a:cs typeface="Calibri" pitchFamily="34" charset="-120"/>
              </a:rPr>
              <a:t>Every engine is independently callable — the console, the report exporters and any CI job all consume the same REST endpoints.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UNDER THE HOOD</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Beyond regex: AST parsing with data-flow taint</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Grep finds the word "RSA". It cannot tell you that a hardcoded key reaches a signing call three functions later.</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66928" y="1920240"/>
            <a:ext cx="6583680" cy="1133856"/>
          </a:xfrm>
          <a:prstGeom prst="roundRect">
            <a:avLst>
              <a:gd name="adj" fmla="val 9677"/>
            </a:avLst>
          </a:prstGeom>
          <a:solidFill>
            <a:srgbClr val="111A3D"/>
          </a:solidFill>
          <a:ln w="12700">
            <a:solidFill>
              <a:srgbClr val="2A3667"/>
            </a:solidFill>
            <a:prstDash val="solid"/>
          </a:ln>
        </p:spPr>
      </p:sp>
      <p:sp>
        <p:nvSpPr>
          <p:cNvPr id="8" name="Text 6"/>
          <p:cNvSpPr/>
          <p:nvPr/>
        </p:nvSpPr>
        <p:spPr>
          <a:xfrm>
            <a:off x="768096" y="2103120"/>
            <a:ext cx="84124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SOURCE</a:t>
            </a:r>
            <a:endParaRPr lang="en-US" sz="850" dirty="0"/>
          </a:p>
        </p:txBody>
      </p:sp>
      <p:sp>
        <p:nvSpPr>
          <p:cNvPr id="9" name="Text 7"/>
          <p:cNvSpPr/>
          <p:nvPr/>
        </p:nvSpPr>
        <p:spPr>
          <a:xfrm>
            <a:off x="1737360" y="2093976"/>
            <a:ext cx="5212080" cy="292608"/>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API_KEY = "sk_live_9f2c..."</a:t>
            </a:r>
            <a:endParaRPr lang="en-US" sz="1200" dirty="0"/>
          </a:p>
        </p:txBody>
      </p:sp>
      <p:sp>
        <p:nvSpPr>
          <p:cNvPr id="10" name="Text 8"/>
          <p:cNvSpPr/>
          <p:nvPr/>
        </p:nvSpPr>
        <p:spPr>
          <a:xfrm>
            <a:off x="768096" y="2487168"/>
            <a:ext cx="6181344" cy="475488"/>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Hardcoded secret detected in an assignment node.</a:t>
            </a:r>
            <a:endParaRPr lang="en-US" sz="1100" dirty="0"/>
          </a:p>
        </p:txBody>
      </p:sp>
      <p:sp>
        <p:nvSpPr>
          <p:cNvPr id="11" name="Shape 9"/>
          <p:cNvSpPr/>
          <p:nvPr/>
        </p:nvSpPr>
        <p:spPr>
          <a:xfrm rot="10800000">
            <a:off x="1069848" y="3090672"/>
            <a:ext cx="164592" cy="164592"/>
          </a:xfrm>
          <a:prstGeom prst="triangle">
            <a:avLst/>
          </a:prstGeom>
          <a:solidFill>
            <a:srgbClr val="2A3667"/>
          </a:solidFill>
          <a:ln w="12700">
            <a:solidFill>
              <a:srgbClr val="2A3667"/>
            </a:solidFill>
            <a:prstDash val="solid"/>
          </a:ln>
        </p:spPr>
      </p:sp>
      <p:sp>
        <p:nvSpPr>
          <p:cNvPr id="12" name="Shape 10"/>
          <p:cNvSpPr/>
          <p:nvPr/>
        </p:nvSpPr>
        <p:spPr>
          <a:xfrm>
            <a:off x="566928" y="3291840"/>
            <a:ext cx="6583680" cy="1133856"/>
          </a:xfrm>
          <a:prstGeom prst="roundRect">
            <a:avLst>
              <a:gd name="adj" fmla="val 9677"/>
            </a:avLst>
          </a:prstGeom>
          <a:solidFill>
            <a:srgbClr val="111A3D"/>
          </a:solidFill>
          <a:ln w="12700">
            <a:solidFill>
              <a:srgbClr val="2A3667"/>
            </a:solidFill>
            <a:prstDash val="solid"/>
          </a:ln>
        </p:spPr>
      </p:sp>
      <p:sp>
        <p:nvSpPr>
          <p:cNvPr id="13" name="Text 11"/>
          <p:cNvSpPr/>
          <p:nvPr/>
        </p:nvSpPr>
        <p:spPr>
          <a:xfrm>
            <a:off x="768096" y="3474720"/>
            <a:ext cx="841248" cy="256032"/>
          </a:xfrm>
          <a:prstGeom prst="roundRect">
            <a:avLst>
              <a:gd name="adj" fmla="val 25000"/>
            </a:avLst>
          </a:prstGeom>
          <a:solidFill>
            <a:srgbClr val="17224C"/>
          </a:solidFill>
          <a:ln w="12700">
            <a:solidFill>
              <a:srgbClr val="FFB547"/>
            </a:solidFill>
          </a:ln>
        </p:spPr>
        <p:txBody>
          <a:bodyPr wrap="square" lIns="38100" tIns="38100" rIns="38100" bIns="38100" rtlCol="0" anchor="ctr"/>
          <a:lstStyle/>
          <a:p>
            <a:pPr algn="ctr" indent="0" marL="0">
              <a:buNone/>
            </a:pPr>
            <a:r>
              <a:rPr lang="en-US" sz="850" b="1" dirty="0">
                <a:solidFill>
                  <a:srgbClr val="FFB547"/>
                </a:solidFill>
                <a:latin typeface="Calibri" pitchFamily="34" charset="0"/>
                <a:ea typeface="Calibri" pitchFamily="34" charset="-122"/>
                <a:cs typeface="Calibri" pitchFamily="34" charset="-120"/>
              </a:rPr>
              <a:t>BINDING</a:t>
            </a:r>
            <a:endParaRPr lang="en-US" sz="850" dirty="0"/>
          </a:p>
        </p:txBody>
      </p:sp>
      <p:sp>
        <p:nvSpPr>
          <p:cNvPr id="14" name="Text 12"/>
          <p:cNvSpPr/>
          <p:nvPr/>
        </p:nvSpPr>
        <p:spPr>
          <a:xfrm>
            <a:off x="1737360" y="3465576"/>
            <a:ext cx="5212080" cy="292608"/>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key = API_KEY.encode()</a:t>
            </a:r>
            <a:endParaRPr lang="en-US" sz="1200" dirty="0"/>
          </a:p>
        </p:txBody>
      </p:sp>
      <p:sp>
        <p:nvSpPr>
          <p:cNvPr id="15" name="Text 13"/>
          <p:cNvSpPr/>
          <p:nvPr/>
        </p:nvSpPr>
        <p:spPr>
          <a:xfrm>
            <a:off x="768096" y="3858768"/>
            <a:ext cx="6181344" cy="475488"/>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Alias and import resolution follow the value through re-assignment.</a:t>
            </a:r>
            <a:endParaRPr lang="en-US" sz="1100" dirty="0"/>
          </a:p>
        </p:txBody>
      </p:sp>
      <p:sp>
        <p:nvSpPr>
          <p:cNvPr id="16" name="Shape 14"/>
          <p:cNvSpPr/>
          <p:nvPr/>
        </p:nvSpPr>
        <p:spPr>
          <a:xfrm rot="10800000">
            <a:off x="1069848" y="4462272"/>
            <a:ext cx="164592" cy="164592"/>
          </a:xfrm>
          <a:prstGeom prst="triangle">
            <a:avLst/>
          </a:prstGeom>
          <a:solidFill>
            <a:srgbClr val="2A3667"/>
          </a:solidFill>
          <a:ln w="12700">
            <a:solidFill>
              <a:srgbClr val="2A3667"/>
            </a:solidFill>
            <a:prstDash val="solid"/>
          </a:ln>
        </p:spPr>
      </p:sp>
      <p:sp>
        <p:nvSpPr>
          <p:cNvPr id="17" name="Shape 15"/>
          <p:cNvSpPr/>
          <p:nvPr/>
        </p:nvSpPr>
        <p:spPr>
          <a:xfrm>
            <a:off x="566928" y="4663440"/>
            <a:ext cx="6583680" cy="1133856"/>
          </a:xfrm>
          <a:prstGeom prst="roundRect">
            <a:avLst>
              <a:gd name="adj" fmla="val 9677"/>
            </a:avLst>
          </a:prstGeom>
          <a:solidFill>
            <a:srgbClr val="111A3D"/>
          </a:solidFill>
          <a:ln w="12700">
            <a:solidFill>
              <a:srgbClr val="2A3667"/>
            </a:solidFill>
            <a:prstDash val="solid"/>
          </a:ln>
        </p:spPr>
      </p:sp>
      <p:sp>
        <p:nvSpPr>
          <p:cNvPr id="18" name="Text 16"/>
          <p:cNvSpPr/>
          <p:nvPr/>
        </p:nvSpPr>
        <p:spPr>
          <a:xfrm>
            <a:off x="768096" y="4846320"/>
            <a:ext cx="841248" cy="256032"/>
          </a:xfrm>
          <a:prstGeom prst="roundRect">
            <a:avLst>
              <a:gd name="adj" fmla="val 25000"/>
            </a:avLst>
          </a:prstGeom>
          <a:solidFill>
            <a:srgbClr val="17224C"/>
          </a:solidFill>
          <a:ln w="12700">
            <a:solidFill>
              <a:srgbClr val="9B8CFA"/>
            </a:solidFill>
          </a:ln>
        </p:spPr>
        <p:txBody>
          <a:bodyPr wrap="square" lIns="38100" tIns="38100" rIns="38100" bIns="38100" rtlCol="0" anchor="ctr"/>
          <a:lstStyle/>
          <a:p>
            <a:pPr algn="ctr" indent="0" marL="0">
              <a:buNone/>
            </a:pPr>
            <a:r>
              <a:rPr lang="en-US" sz="850" b="1" dirty="0">
                <a:solidFill>
                  <a:srgbClr val="9B8CFA"/>
                </a:solidFill>
                <a:latin typeface="Calibri" pitchFamily="34" charset="0"/>
                <a:ea typeface="Calibri" pitchFamily="34" charset="-122"/>
                <a:cs typeface="Calibri" pitchFamily="34" charset="-120"/>
              </a:rPr>
              <a:t>SINK</a:t>
            </a:r>
            <a:endParaRPr lang="en-US" sz="850" dirty="0"/>
          </a:p>
        </p:txBody>
      </p:sp>
      <p:sp>
        <p:nvSpPr>
          <p:cNvPr id="19" name="Text 17"/>
          <p:cNvSpPr/>
          <p:nvPr/>
        </p:nvSpPr>
        <p:spPr>
          <a:xfrm>
            <a:off x="1737360" y="4837176"/>
            <a:ext cx="5212080" cy="292608"/>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hmac.new(key, msg, hashlib.md5)</a:t>
            </a:r>
            <a:endParaRPr lang="en-US" sz="1200" dirty="0"/>
          </a:p>
        </p:txBody>
      </p:sp>
      <p:sp>
        <p:nvSpPr>
          <p:cNvPr id="20" name="Text 18"/>
          <p:cNvSpPr/>
          <p:nvPr/>
        </p:nvSpPr>
        <p:spPr>
          <a:xfrm>
            <a:off x="768096" y="5230368"/>
            <a:ext cx="6181344" cy="475488"/>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Tainted value reaches a cryptographic sink — reported with the full trace.</a:t>
            </a:r>
            <a:endParaRPr lang="en-US" sz="1100" dirty="0"/>
          </a:p>
        </p:txBody>
      </p:sp>
      <p:sp>
        <p:nvSpPr>
          <p:cNvPr id="21" name="Shape 19"/>
          <p:cNvSpPr/>
          <p:nvPr/>
        </p:nvSpPr>
        <p:spPr>
          <a:xfrm>
            <a:off x="7406640" y="1920240"/>
            <a:ext cx="4215384" cy="713232"/>
          </a:xfrm>
          <a:prstGeom prst="roundRect">
            <a:avLst>
              <a:gd name="adj" fmla="val 15385"/>
            </a:avLst>
          </a:prstGeom>
          <a:solidFill>
            <a:srgbClr val="111A3D"/>
          </a:solidFill>
          <a:ln w="12700">
            <a:solidFill>
              <a:srgbClr val="2A3667"/>
            </a:solidFill>
            <a:prstDash val="solid"/>
          </a:ln>
        </p:spPr>
      </p:sp>
      <p:sp>
        <p:nvSpPr>
          <p:cNvPr id="22" name="Text 20"/>
          <p:cNvSpPr/>
          <p:nvPr/>
        </p:nvSpPr>
        <p:spPr>
          <a:xfrm>
            <a:off x="7626096" y="1920240"/>
            <a:ext cx="914400" cy="713232"/>
          </a:xfrm>
          <a:prstGeom prst="rect">
            <a:avLst/>
          </a:prstGeom>
          <a:noFill/>
          <a:ln/>
        </p:spPr>
        <p:txBody>
          <a:bodyPr wrap="square" lIns="0" tIns="0" rIns="0" bIns="0" rtlCol="0" anchor="ctr"/>
          <a:lstStyle/>
          <a:p>
            <a:pPr indent="0" marL="0">
              <a:buNone/>
            </a:pPr>
            <a:r>
              <a:rPr lang="en-US" sz="2400" b="1" dirty="0">
                <a:solidFill>
                  <a:srgbClr val="3BE8B0"/>
                </a:solidFill>
                <a:latin typeface="Calibri" pitchFamily="34" charset="0"/>
                <a:ea typeface="Calibri" pitchFamily="34" charset="-122"/>
                <a:cs typeface="Calibri" pitchFamily="34" charset="-120"/>
              </a:rPr>
              <a:t>31</a:t>
            </a:r>
            <a:endParaRPr lang="en-US" sz="2400" dirty="0"/>
          </a:p>
        </p:txBody>
      </p:sp>
      <p:sp>
        <p:nvSpPr>
          <p:cNvPr id="23" name="Text 21"/>
          <p:cNvSpPr/>
          <p:nvPr/>
        </p:nvSpPr>
        <p:spPr>
          <a:xfrm>
            <a:off x="8595360" y="1920240"/>
            <a:ext cx="2843784" cy="713232"/>
          </a:xfrm>
          <a:prstGeom prst="rect">
            <a:avLst/>
          </a:prstGeom>
          <a:noFill/>
          <a:ln/>
        </p:spPr>
        <p:txBody>
          <a:bodyPr wrap="square" lIns="0" tIns="0" rIns="0" bIns="0" rtlCol="0" anchor="ctr"/>
          <a:lstStyle/>
          <a:p>
            <a:pPr indent="0" marL="0">
              <a:buNone/>
            </a:pPr>
            <a:r>
              <a:rPr lang="en-US" sz="1000" b="1" spc="110" kern="0" dirty="0">
                <a:solidFill>
                  <a:srgbClr val="9AA7D0"/>
                </a:solidFill>
                <a:latin typeface="Calibri" pitchFamily="34" charset="0"/>
                <a:ea typeface="Calibri" pitchFamily="34" charset="-122"/>
                <a:cs typeface="Calibri" pitchFamily="34" charset="-120"/>
              </a:rPr>
              <a:t>DETECTION RULES</a:t>
            </a:r>
            <a:endParaRPr lang="en-US" sz="1000" dirty="0"/>
          </a:p>
        </p:txBody>
      </p:sp>
      <p:sp>
        <p:nvSpPr>
          <p:cNvPr id="24" name="Shape 22"/>
          <p:cNvSpPr/>
          <p:nvPr/>
        </p:nvSpPr>
        <p:spPr>
          <a:xfrm>
            <a:off x="7406640" y="2761488"/>
            <a:ext cx="4215384" cy="713232"/>
          </a:xfrm>
          <a:prstGeom prst="roundRect">
            <a:avLst>
              <a:gd name="adj" fmla="val 15385"/>
            </a:avLst>
          </a:prstGeom>
          <a:solidFill>
            <a:srgbClr val="111A3D"/>
          </a:solidFill>
          <a:ln w="12700">
            <a:solidFill>
              <a:srgbClr val="2A3667"/>
            </a:solidFill>
            <a:prstDash val="solid"/>
          </a:ln>
        </p:spPr>
      </p:sp>
      <p:sp>
        <p:nvSpPr>
          <p:cNvPr id="25" name="Text 23"/>
          <p:cNvSpPr/>
          <p:nvPr/>
        </p:nvSpPr>
        <p:spPr>
          <a:xfrm>
            <a:off x="7626096" y="2761488"/>
            <a:ext cx="914400" cy="713232"/>
          </a:xfrm>
          <a:prstGeom prst="rect">
            <a:avLst/>
          </a:prstGeom>
          <a:noFill/>
          <a:ln/>
        </p:spPr>
        <p:txBody>
          <a:bodyPr wrap="square" lIns="0" tIns="0" rIns="0" bIns="0" rtlCol="0" anchor="ctr"/>
          <a:lstStyle/>
          <a:p>
            <a:pPr indent="0" marL="0">
              <a:buNone/>
            </a:pPr>
            <a:r>
              <a:rPr lang="en-US" sz="2400" b="1" dirty="0">
                <a:solidFill>
                  <a:srgbClr val="3BE8B0"/>
                </a:solidFill>
                <a:latin typeface="Calibri" pitchFamily="34" charset="0"/>
                <a:ea typeface="Calibri" pitchFamily="34" charset="-122"/>
                <a:cs typeface="Calibri" pitchFamily="34" charset="-120"/>
              </a:rPr>
              <a:t>13</a:t>
            </a:r>
            <a:endParaRPr lang="en-US" sz="2400" dirty="0"/>
          </a:p>
        </p:txBody>
      </p:sp>
      <p:sp>
        <p:nvSpPr>
          <p:cNvPr id="26" name="Text 24"/>
          <p:cNvSpPr/>
          <p:nvPr/>
        </p:nvSpPr>
        <p:spPr>
          <a:xfrm>
            <a:off x="8595360" y="2761488"/>
            <a:ext cx="2843784" cy="713232"/>
          </a:xfrm>
          <a:prstGeom prst="rect">
            <a:avLst/>
          </a:prstGeom>
          <a:noFill/>
          <a:ln/>
        </p:spPr>
        <p:txBody>
          <a:bodyPr wrap="square" lIns="0" tIns="0" rIns="0" bIns="0" rtlCol="0" anchor="ctr"/>
          <a:lstStyle/>
          <a:p>
            <a:pPr indent="0" marL="0">
              <a:buNone/>
            </a:pPr>
            <a:r>
              <a:rPr lang="en-US" sz="1000" b="1" spc="110" kern="0" dirty="0">
                <a:solidFill>
                  <a:srgbClr val="9AA7D0"/>
                </a:solidFill>
                <a:latin typeface="Calibri" pitchFamily="34" charset="0"/>
                <a:ea typeface="Calibri" pitchFamily="34" charset="-122"/>
                <a:cs typeface="Calibri" pitchFamily="34" charset="-120"/>
              </a:rPr>
              <a:t>LANGUAGES PARSED</a:t>
            </a:r>
            <a:endParaRPr lang="en-US" sz="1000" dirty="0"/>
          </a:p>
        </p:txBody>
      </p:sp>
      <p:sp>
        <p:nvSpPr>
          <p:cNvPr id="27" name="Shape 25"/>
          <p:cNvSpPr/>
          <p:nvPr/>
        </p:nvSpPr>
        <p:spPr>
          <a:xfrm>
            <a:off x="7406640" y="3602736"/>
            <a:ext cx="4215384" cy="713232"/>
          </a:xfrm>
          <a:prstGeom prst="roundRect">
            <a:avLst>
              <a:gd name="adj" fmla="val 15385"/>
            </a:avLst>
          </a:prstGeom>
          <a:solidFill>
            <a:srgbClr val="111A3D"/>
          </a:solidFill>
          <a:ln w="12700">
            <a:solidFill>
              <a:srgbClr val="2A3667"/>
            </a:solidFill>
            <a:prstDash val="solid"/>
          </a:ln>
        </p:spPr>
      </p:sp>
      <p:sp>
        <p:nvSpPr>
          <p:cNvPr id="28" name="Text 26"/>
          <p:cNvSpPr/>
          <p:nvPr/>
        </p:nvSpPr>
        <p:spPr>
          <a:xfrm>
            <a:off x="7626096" y="3602736"/>
            <a:ext cx="914400" cy="713232"/>
          </a:xfrm>
          <a:prstGeom prst="rect">
            <a:avLst/>
          </a:prstGeom>
          <a:noFill/>
          <a:ln/>
        </p:spPr>
        <p:txBody>
          <a:bodyPr wrap="square" lIns="0" tIns="0" rIns="0" bIns="0" rtlCol="0" anchor="ctr"/>
          <a:lstStyle/>
          <a:p>
            <a:pPr indent="0" marL="0">
              <a:buNone/>
            </a:pPr>
            <a:r>
              <a:rPr lang="en-US" sz="2400" b="1" dirty="0">
                <a:solidFill>
                  <a:srgbClr val="3BE8B0"/>
                </a:solidFill>
                <a:latin typeface="Calibri" pitchFamily="34" charset="0"/>
                <a:ea typeface="Calibri" pitchFamily="34" charset="-122"/>
                <a:cs typeface="Calibri" pitchFamily="34" charset="-120"/>
              </a:rPr>
              <a:t>3</a:t>
            </a:r>
            <a:endParaRPr lang="en-US" sz="2400" dirty="0"/>
          </a:p>
        </p:txBody>
      </p:sp>
      <p:sp>
        <p:nvSpPr>
          <p:cNvPr id="29" name="Text 27"/>
          <p:cNvSpPr/>
          <p:nvPr/>
        </p:nvSpPr>
        <p:spPr>
          <a:xfrm>
            <a:off x="8595360" y="3602736"/>
            <a:ext cx="2843784" cy="713232"/>
          </a:xfrm>
          <a:prstGeom prst="rect">
            <a:avLst/>
          </a:prstGeom>
          <a:noFill/>
          <a:ln/>
        </p:spPr>
        <p:txBody>
          <a:bodyPr wrap="square" lIns="0" tIns="0" rIns="0" bIns="0" rtlCol="0" anchor="ctr"/>
          <a:lstStyle/>
          <a:p>
            <a:pPr indent="0" marL="0">
              <a:buNone/>
            </a:pPr>
            <a:r>
              <a:rPr lang="en-US" sz="1000" b="1" spc="110" kern="0" dirty="0">
                <a:solidFill>
                  <a:srgbClr val="9AA7D0"/>
                </a:solidFill>
                <a:latin typeface="Calibri" pitchFamily="34" charset="0"/>
                <a:ea typeface="Calibri" pitchFamily="34" charset="-122"/>
                <a:cs typeface="Calibri" pitchFamily="34" charset="-120"/>
              </a:rPr>
              <a:t>ANALYSIS MODES</a:t>
            </a:r>
            <a:endParaRPr lang="en-US" sz="1000" dirty="0"/>
          </a:p>
        </p:txBody>
      </p:sp>
      <p:sp>
        <p:nvSpPr>
          <p:cNvPr id="30" name="Shape 28"/>
          <p:cNvSpPr/>
          <p:nvPr/>
        </p:nvSpPr>
        <p:spPr>
          <a:xfrm>
            <a:off x="7406640" y="4553712"/>
            <a:ext cx="4215384" cy="1536192"/>
          </a:xfrm>
          <a:prstGeom prst="roundRect">
            <a:avLst>
              <a:gd name="adj" fmla="val 7143"/>
            </a:avLst>
          </a:prstGeom>
          <a:solidFill>
            <a:srgbClr val="17224C"/>
          </a:solidFill>
          <a:ln w="12700">
            <a:solidFill>
              <a:srgbClr val="2A3667"/>
            </a:solidFill>
            <a:prstDash val="solid"/>
          </a:ln>
        </p:spPr>
      </p:sp>
      <p:sp>
        <p:nvSpPr>
          <p:cNvPr id="31" name="Text 29"/>
          <p:cNvSpPr/>
          <p:nvPr/>
        </p:nvSpPr>
        <p:spPr>
          <a:xfrm>
            <a:off x="7626096" y="4718304"/>
            <a:ext cx="3776472" cy="219456"/>
          </a:xfrm>
          <a:prstGeom prst="rect">
            <a:avLst/>
          </a:prstGeom>
          <a:noFill/>
          <a:ln/>
        </p:spPr>
        <p:txBody>
          <a:bodyPr wrap="square" lIns="0" tIns="0" rIns="0" bIns="0" rtlCol="0" anchor="t"/>
          <a:lstStyle/>
          <a:p>
            <a:pPr indent="0" marL="0">
              <a:buNone/>
            </a:pPr>
            <a:r>
              <a:rPr lang="en-US" sz="950" b="1" spc="140" kern="0" dirty="0">
                <a:solidFill>
                  <a:srgbClr val="3BE8B0"/>
                </a:solidFill>
                <a:latin typeface="Calibri" pitchFamily="34" charset="0"/>
                <a:ea typeface="Calibri" pitchFamily="34" charset="-122"/>
                <a:cs typeface="Calibri" pitchFamily="34" charset="-120"/>
              </a:rPr>
              <a:t>WHY IT MATTERS</a:t>
            </a:r>
            <a:endParaRPr lang="en-US" sz="950" dirty="0"/>
          </a:p>
        </p:txBody>
      </p:sp>
      <p:sp>
        <p:nvSpPr>
          <p:cNvPr id="32" name="Text 30"/>
          <p:cNvSpPr/>
          <p:nvPr/>
        </p:nvSpPr>
        <p:spPr>
          <a:xfrm>
            <a:off x="7626096" y="5010912"/>
            <a:ext cx="3776472" cy="960120"/>
          </a:xfrm>
          <a:prstGeom prst="rect">
            <a:avLst/>
          </a:prstGeom>
          <a:noFill/>
          <a:ln/>
        </p:spPr>
        <p:txBody>
          <a:bodyPr wrap="square" lIns="0" tIns="0" rIns="0" bIns="0" rtlCol="0" anchor="ctr"/>
          <a:lstStyle/>
          <a:p>
            <a:pPr marL="177800" indent="-177800">
              <a:spcAft>
                <a:spcPts val="600"/>
              </a:spcAft>
              <a:buSzPct val="100000"/>
              <a:buChar char="•"/>
            </a:pPr>
            <a:r>
              <a:rPr lang="en-US" sz="1050" dirty="0">
                <a:solidFill>
                  <a:srgbClr val="9AA7D0"/>
                </a:solidFill>
                <a:latin typeface="Calibri" pitchFamily="34" charset="0"/>
                <a:ea typeface="Calibri" pitchFamily="34" charset="-122"/>
                <a:cs typeface="Calibri" pitchFamily="34" charset="-120"/>
              </a:rPr>
              <a:t>Import &amp; alias aware — survives renamed imports</a:t>
            </a:r>
            <a:endParaRPr lang="en-US" sz="1050" dirty="0"/>
          </a:p>
          <a:p>
            <a:pPr marL="177800" indent="-177800">
              <a:spcAft>
                <a:spcPts val="600"/>
              </a:spcAft>
              <a:buSzPct val="100000"/>
              <a:buChar char="•"/>
            </a:pPr>
            <a:r>
              <a:rPr lang="en-US" sz="1050" dirty="0">
                <a:solidFill>
                  <a:srgbClr val="9AA7D0"/>
                </a:solidFill>
                <a:latin typeface="Calibri" pitchFamily="34" charset="0"/>
                <a:ea typeface="Calibri" pitchFamily="34" charset="-122"/>
                <a:cs typeface="Calibri" pitchFamily="34" charset="-120"/>
              </a:rPr>
              <a:t>Comment-aware per language (keeps C #include)</a:t>
            </a:r>
            <a:endParaRPr lang="en-US" sz="1050" dirty="0"/>
          </a:p>
          <a:p>
            <a:pPr marL="177800" indent="-177800">
              <a:spcAft>
                <a:spcPts val="600"/>
              </a:spcAft>
              <a:buSzPct val="100000"/>
              <a:buChar char="•"/>
            </a:pPr>
            <a:r>
              <a:rPr lang="en-US" sz="1050" dirty="0">
                <a:solidFill>
                  <a:srgbClr val="9AA7D0"/>
                </a:solidFill>
                <a:latin typeface="Calibri" pitchFamily="34" charset="0"/>
                <a:ea typeface="Calibri" pitchFamily="34" charset="-122"/>
                <a:cs typeface="Calibri" pitchFamily="34" charset="-120"/>
              </a:rPr>
              <a:t>Falls back to pattern rules on a syntax error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LIVE RESULTS</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Measured posture across the demo estate</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Not a mockup — these figures come straight from the running platform's API.</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66928" y="1764792"/>
            <a:ext cx="2578608" cy="1389888"/>
          </a:xfrm>
          <a:prstGeom prst="roundRect">
            <a:avLst>
              <a:gd name="adj" fmla="val 7895"/>
            </a:avLst>
          </a:prstGeom>
          <a:solidFill>
            <a:srgbClr val="111A3D"/>
          </a:solidFill>
          <a:ln w="12700">
            <a:solidFill>
              <a:srgbClr val="2A3667"/>
            </a:solidFill>
            <a:prstDash val="solid"/>
          </a:ln>
        </p:spPr>
      </p:sp>
      <p:sp>
        <p:nvSpPr>
          <p:cNvPr id="8" name="Text 6"/>
          <p:cNvSpPr/>
          <p:nvPr/>
        </p:nvSpPr>
        <p:spPr>
          <a:xfrm>
            <a:off x="786384" y="1929384"/>
            <a:ext cx="2139696" cy="658368"/>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83</a:t>
            </a:r>
            <a:endParaRPr lang="en-US" sz="4000" dirty="0"/>
          </a:p>
        </p:txBody>
      </p:sp>
      <p:sp>
        <p:nvSpPr>
          <p:cNvPr id="9" name="Text 7"/>
          <p:cNvSpPr/>
          <p:nvPr/>
        </p:nvSpPr>
        <p:spPr>
          <a:xfrm>
            <a:off x="786384" y="2587752"/>
            <a:ext cx="2139696" cy="237744"/>
          </a:xfrm>
          <a:prstGeom prst="rect">
            <a:avLst/>
          </a:prstGeom>
          <a:noFill/>
          <a:ln/>
        </p:spPr>
        <p:txBody>
          <a:bodyPr wrap="square" lIns="0" tIns="0" rIns="0" bIns="0" rtlCol="0" anchor="ctr"/>
          <a:lstStyle/>
          <a:p>
            <a:pPr indent="0" marL="0">
              <a:buNone/>
            </a:pPr>
            <a:r>
              <a:rPr lang="en-US" sz="950" b="1" spc="120" kern="0" dirty="0">
                <a:solidFill>
                  <a:srgbClr val="9AA7D0"/>
                </a:solidFill>
                <a:latin typeface="Calibri" pitchFamily="34" charset="0"/>
                <a:ea typeface="Calibri" pitchFamily="34" charset="-122"/>
                <a:cs typeface="Calibri" pitchFamily="34" charset="-120"/>
              </a:rPr>
              <a:t>TOTAL FINDINGS</a:t>
            </a:r>
            <a:endParaRPr lang="en-US" sz="950" dirty="0"/>
          </a:p>
        </p:txBody>
      </p:sp>
      <p:sp>
        <p:nvSpPr>
          <p:cNvPr id="10" name="Text 8"/>
          <p:cNvSpPr/>
          <p:nvPr/>
        </p:nvSpPr>
        <p:spPr>
          <a:xfrm>
            <a:off x="786384" y="2807208"/>
            <a:ext cx="2139696" cy="274320"/>
          </a:xfrm>
          <a:prstGeom prst="rect">
            <a:avLst/>
          </a:prstGeom>
          <a:noFill/>
          <a:ln/>
        </p:spPr>
        <p:txBody>
          <a:bodyPr wrap="square" lIns="0" tIns="0" rIns="0" bIns="0" rtlCol="0" anchor="t"/>
          <a:lstStyle/>
          <a:p>
            <a:pPr indent="0" marL="0">
              <a:buNone/>
            </a:pPr>
            <a:r>
              <a:rPr lang="en-US" sz="1000" dirty="0">
                <a:solidFill>
                  <a:srgbClr val="6B7AA8"/>
                </a:solidFill>
                <a:latin typeface="Calibri" pitchFamily="34" charset="0"/>
                <a:ea typeface="Calibri" pitchFamily="34" charset="-122"/>
                <a:cs typeface="Calibri" pitchFamily="34" charset="-120"/>
              </a:rPr>
              <a:t>across 3 projects</a:t>
            </a:r>
            <a:endParaRPr lang="en-US" sz="1000" dirty="0"/>
          </a:p>
        </p:txBody>
      </p:sp>
      <p:sp>
        <p:nvSpPr>
          <p:cNvPr id="11" name="Shape 9"/>
          <p:cNvSpPr/>
          <p:nvPr/>
        </p:nvSpPr>
        <p:spPr>
          <a:xfrm>
            <a:off x="3392424" y="1764792"/>
            <a:ext cx="2578608" cy="1389888"/>
          </a:xfrm>
          <a:prstGeom prst="roundRect">
            <a:avLst>
              <a:gd name="adj" fmla="val 7895"/>
            </a:avLst>
          </a:prstGeom>
          <a:solidFill>
            <a:srgbClr val="111A3D"/>
          </a:solidFill>
          <a:ln w="12700">
            <a:solidFill>
              <a:srgbClr val="2A3667"/>
            </a:solidFill>
            <a:prstDash val="solid"/>
          </a:ln>
        </p:spPr>
      </p:sp>
      <p:sp>
        <p:nvSpPr>
          <p:cNvPr id="12" name="Text 10"/>
          <p:cNvSpPr/>
          <p:nvPr/>
        </p:nvSpPr>
        <p:spPr>
          <a:xfrm>
            <a:off x="3611880" y="1929384"/>
            <a:ext cx="2139696" cy="658368"/>
          </a:xfrm>
          <a:prstGeom prst="rect">
            <a:avLst/>
          </a:prstGeom>
          <a:noFill/>
          <a:ln/>
        </p:spPr>
        <p:txBody>
          <a:bodyPr wrap="square" lIns="0" tIns="0" rIns="0" bIns="0" rtlCol="0" anchor="ctr"/>
          <a:lstStyle/>
          <a:p>
            <a:pPr indent="0" marL="0">
              <a:buNone/>
            </a:pPr>
            <a:r>
              <a:rPr lang="en-US" sz="4000" b="1" dirty="0">
                <a:solidFill>
                  <a:srgbClr val="FF5C7A"/>
                </a:solidFill>
                <a:latin typeface="Calibri" pitchFamily="34" charset="0"/>
                <a:ea typeface="Calibri" pitchFamily="34" charset="-122"/>
                <a:cs typeface="Calibri" pitchFamily="34" charset="-120"/>
              </a:rPr>
              <a:t>25</a:t>
            </a:r>
            <a:endParaRPr lang="en-US" sz="4000" dirty="0"/>
          </a:p>
        </p:txBody>
      </p:sp>
      <p:sp>
        <p:nvSpPr>
          <p:cNvPr id="13" name="Text 11"/>
          <p:cNvSpPr/>
          <p:nvPr/>
        </p:nvSpPr>
        <p:spPr>
          <a:xfrm>
            <a:off x="3611880" y="2587752"/>
            <a:ext cx="2139696" cy="237744"/>
          </a:xfrm>
          <a:prstGeom prst="rect">
            <a:avLst/>
          </a:prstGeom>
          <a:noFill/>
          <a:ln/>
        </p:spPr>
        <p:txBody>
          <a:bodyPr wrap="square" lIns="0" tIns="0" rIns="0" bIns="0" rtlCol="0" anchor="ctr"/>
          <a:lstStyle/>
          <a:p>
            <a:pPr indent="0" marL="0">
              <a:buNone/>
            </a:pPr>
            <a:r>
              <a:rPr lang="en-US" sz="950" b="1" spc="120" kern="0" dirty="0">
                <a:solidFill>
                  <a:srgbClr val="9AA7D0"/>
                </a:solidFill>
                <a:latin typeface="Calibri" pitchFamily="34" charset="0"/>
                <a:ea typeface="Calibri" pitchFamily="34" charset="-122"/>
                <a:cs typeface="Calibri" pitchFamily="34" charset="-120"/>
              </a:rPr>
              <a:t>SHOR-BROKEN</a:t>
            </a:r>
            <a:endParaRPr lang="en-US" sz="950" dirty="0"/>
          </a:p>
        </p:txBody>
      </p:sp>
      <p:sp>
        <p:nvSpPr>
          <p:cNvPr id="14" name="Text 12"/>
          <p:cNvSpPr/>
          <p:nvPr/>
        </p:nvSpPr>
        <p:spPr>
          <a:xfrm>
            <a:off x="3611880" y="2807208"/>
            <a:ext cx="2139696" cy="274320"/>
          </a:xfrm>
          <a:prstGeom prst="rect">
            <a:avLst/>
          </a:prstGeom>
          <a:noFill/>
          <a:ln/>
        </p:spPr>
        <p:txBody>
          <a:bodyPr wrap="square" lIns="0" tIns="0" rIns="0" bIns="0" rtlCol="0" anchor="t"/>
          <a:lstStyle/>
          <a:p>
            <a:pPr indent="0" marL="0">
              <a:buNone/>
            </a:pPr>
            <a:r>
              <a:rPr lang="en-US" sz="1000" dirty="0">
                <a:solidFill>
                  <a:srgbClr val="6B7AA8"/>
                </a:solidFill>
                <a:latin typeface="Calibri" pitchFamily="34" charset="0"/>
                <a:ea typeface="Calibri" pitchFamily="34" charset="-122"/>
                <a:cs typeface="Calibri" pitchFamily="34" charset="-120"/>
              </a:rPr>
              <a:t>30% of all findings</a:t>
            </a:r>
            <a:endParaRPr lang="en-US" sz="1000" dirty="0"/>
          </a:p>
        </p:txBody>
      </p:sp>
      <p:sp>
        <p:nvSpPr>
          <p:cNvPr id="15" name="Shape 13"/>
          <p:cNvSpPr/>
          <p:nvPr/>
        </p:nvSpPr>
        <p:spPr>
          <a:xfrm>
            <a:off x="6217920" y="1764792"/>
            <a:ext cx="2578608" cy="1389888"/>
          </a:xfrm>
          <a:prstGeom prst="roundRect">
            <a:avLst>
              <a:gd name="adj" fmla="val 7895"/>
            </a:avLst>
          </a:prstGeom>
          <a:solidFill>
            <a:srgbClr val="111A3D"/>
          </a:solidFill>
          <a:ln w="12700">
            <a:solidFill>
              <a:srgbClr val="2A3667"/>
            </a:solidFill>
            <a:prstDash val="solid"/>
          </a:ln>
        </p:spPr>
      </p:sp>
      <p:sp>
        <p:nvSpPr>
          <p:cNvPr id="16" name="Text 14"/>
          <p:cNvSpPr/>
          <p:nvPr/>
        </p:nvSpPr>
        <p:spPr>
          <a:xfrm>
            <a:off x="6437376" y="1929384"/>
            <a:ext cx="2139696" cy="658368"/>
          </a:xfrm>
          <a:prstGeom prst="rect">
            <a:avLst/>
          </a:prstGeom>
          <a:noFill/>
          <a:ln/>
        </p:spPr>
        <p:txBody>
          <a:bodyPr wrap="square" lIns="0" tIns="0" rIns="0" bIns="0" rtlCol="0" anchor="ctr"/>
          <a:lstStyle/>
          <a:p>
            <a:pPr indent="0" marL="0">
              <a:buNone/>
            </a:pPr>
            <a:r>
              <a:rPr lang="en-US" sz="4000" b="1" dirty="0">
                <a:solidFill>
                  <a:srgbClr val="FFB547"/>
                </a:solidFill>
                <a:latin typeface="Calibri" pitchFamily="34" charset="0"/>
                <a:ea typeface="Calibri" pitchFamily="34" charset="-122"/>
                <a:cs typeface="Calibri" pitchFamily="34" charset="-120"/>
              </a:rPr>
              <a:t>24</a:t>
            </a:r>
            <a:endParaRPr lang="en-US" sz="4000" dirty="0"/>
          </a:p>
        </p:txBody>
      </p:sp>
      <p:sp>
        <p:nvSpPr>
          <p:cNvPr id="17" name="Text 15"/>
          <p:cNvSpPr/>
          <p:nvPr/>
        </p:nvSpPr>
        <p:spPr>
          <a:xfrm>
            <a:off x="6437376" y="2587752"/>
            <a:ext cx="2139696" cy="237744"/>
          </a:xfrm>
          <a:prstGeom prst="rect">
            <a:avLst/>
          </a:prstGeom>
          <a:noFill/>
          <a:ln/>
        </p:spPr>
        <p:txBody>
          <a:bodyPr wrap="square" lIns="0" tIns="0" rIns="0" bIns="0" rtlCol="0" anchor="ctr"/>
          <a:lstStyle/>
          <a:p>
            <a:pPr indent="0" marL="0">
              <a:buNone/>
            </a:pPr>
            <a:r>
              <a:rPr lang="en-US" sz="950" b="1" spc="120" kern="0" dirty="0">
                <a:solidFill>
                  <a:srgbClr val="9AA7D0"/>
                </a:solidFill>
                <a:latin typeface="Calibri" pitchFamily="34" charset="0"/>
                <a:ea typeface="Calibri" pitchFamily="34" charset="-122"/>
                <a:cs typeface="Calibri" pitchFamily="34" charset="-120"/>
              </a:rPr>
              <a:t>CRITICAL ISSUES</a:t>
            </a:r>
            <a:endParaRPr lang="en-US" sz="950" dirty="0"/>
          </a:p>
        </p:txBody>
      </p:sp>
      <p:sp>
        <p:nvSpPr>
          <p:cNvPr id="18" name="Text 16"/>
          <p:cNvSpPr/>
          <p:nvPr/>
        </p:nvSpPr>
        <p:spPr>
          <a:xfrm>
            <a:off x="6437376" y="2807208"/>
            <a:ext cx="2139696" cy="274320"/>
          </a:xfrm>
          <a:prstGeom prst="rect">
            <a:avLst/>
          </a:prstGeom>
          <a:noFill/>
          <a:ln/>
        </p:spPr>
        <p:txBody>
          <a:bodyPr wrap="square" lIns="0" tIns="0" rIns="0" bIns="0" rtlCol="0" anchor="t"/>
          <a:lstStyle/>
          <a:p>
            <a:pPr indent="0" marL="0">
              <a:buNone/>
            </a:pPr>
            <a:r>
              <a:rPr lang="en-US" sz="1000" dirty="0">
                <a:solidFill>
                  <a:srgbClr val="6B7AA8"/>
                </a:solidFill>
                <a:latin typeface="Calibri" pitchFamily="34" charset="0"/>
                <a:ea typeface="Calibri" pitchFamily="34" charset="-122"/>
                <a:cs typeface="Calibri" pitchFamily="34" charset="-120"/>
              </a:rPr>
              <a:t>45 more at high</a:t>
            </a:r>
            <a:endParaRPr lang="en-US" sz="1000" dirty="0"/>
          </a:p>
        </p:txBody>
      </p:sp>
      <p:sp>
        <p:nvSpPr>
          <p:cNvPr id="19" name="Shape 17"/>
          <p:cNvSpPr/>
          <p:nvPr/>
        </p:nvSpPr>
        <p:spPr>
          <a:xfrm>
            <a:off x="9043416" y="1764792"/>
            <a:ext cx="2578608" cy="1389888"/>
          </a:xfrm>
          <a:prstGeom prst="roundRect">
            <a:avLst>
              <a:gd name="adj" fmla="val 7895"/>
            </a:avLst>
          </a:prstGeom>
          <a:solidFill>
            <a:srgbClr val="111A3D"/>
          </a:solidFill>
          <a:ln w="12700">
            <a:solidFill>
              <a:srgbClr val="2A3667"/>
            </a:solidFill>
            <a:prstDash val="solid"/>
          </a:ln>
        </p:spPr>
      </p:sp>
      <p:sp>
        <p:nvSpPr>
          <p:cNvPr id="20" name="Text 18"/>
          <p:cNvSpPr/>
          <p:nvPr/>
        </p:nvSpPr>
        <p:spPr>
          <a:xfrm>
            <a:off x="9262872" y="1929384"/>
            <a:ext cx="2139696" cy="658368"/>
          </a:xfrm>
          <a:prstGeom prst="rect">
            <a:avLst/>
          </a:prstGeom>
          <a:noFill/>
          <a:ln/>
        </p:spPr>
        <p:txBody>
          <a:bodyPr wrap="square" lIns="0" tIns="0" rIns="0" bIns="0" rtlCol="0" anchor="ctr"/>
          <a:lstStyle/>
          <a:p>
            <a:pPr indent="0" marL="0">
              <a:buNone/>
            </a:pPr>
            <a:r>
              <a:rPr lang="en-US" sz="4000" b="1" dirty="0">
                <a:solidFill>
                  <a:srgbClr val="4CC9F0"/>
                </a:solidFill>
                <a:latin typeface="Calibri" pitchFamily="34" charset="0"/>
                <a:ea typeface="Calibri" pitchFamily="34" charset="-122"/>
                <a:cs typeface="Calibri" pitchFamily="34" charset="-120"/>
              </a:rPr>
              <a:t>76</a:t>
            </a:r>
            <a:endParaRPr lang="en-US" sz="4000" dirty="0"/>
          </a:p>
        </p:txBody>
      </p:sp>
      <p:sp>
        <p:nvSpPr>
          <p:cNvPr id="21" name="Text 19"/>
          <p:cNvSpPr/>
          <p:nvPr/>
        </p:nvSpPr>
        <p:spPr>
          <a:xfrm>
            <a:off x="9262872" y="2587752"/>
            <a:ext cx="2139696" cy="237744"/>
          </a:xfrm>
          <a:prstGeom prst="rect">
            <a:avLst/>
          </a:prstGeom>
          <a:noFill/>
          <a:ln/>
        </p:spPr>
        <p:txBody>
          <a:bodyPr wrap="square" lIns="0" tIns="0" rIns="0" bIns="0" rtlCol="0" anchor="ctr"/>
          <a:lstStyle/>
          <a:p>
            <a:pPr indent="0" marL="0">
              <a:buNone/>
            </a:pPr>
            <a:r>
              <a:rPr lang="en-US" sz="950" b="1" spc="120" kern="0" dirty="0">
                <a:solidFill>
                  <a:srgbClr val="9AA7D0"/>
                </a:solidFill>
                <a:latin typeface="Calibri" pitchFamily="34" charset="0"/>
                <a:ea typeface="Calibri" pitchFamily="34" charset="-122"/>
                <a:cs typeface="Calibri" pitchFamily="34" charset="-120"/>
              </a:rPr>
              <a:t>FILES SCANNED</a:t>
            </a:r>
            <a:endParaRPr lang="en-US" sz="950" dirty="0"/>
          </a:p>
        </p:txBody>
      </p:sp>
      <p:sp>
        <p:nvSpPr>
          <p:cNvPr id="22" name="Text 20"/>
          <p:cNvSpPr/>
          <p:nvPr/>
        </p:nvSpPr>
        <p:spPr>
          <a:xfrm>
            <a:off x="9262872" y="2807208"/>
            <a:ext cx="2139696" cy="274320"/>
          </a:xfrm>
          <a:prstGeom prst="rect">
            <a:avLst/>
          </a:prstGeom>
          <a:noFill/>
          <a:ln/>
        </p:spPr>
        <p:txBody>
          <a:bodyPr wrap="square" lIns="0" tIns="0" rIns="0" bIns="0" rtlCol="0" anchor="t"/>
          <a:lstStyle/>
          <a:p>
            <a:pPr indent="0" marL="0">
              <a:buNone/>
            </a:pPr>
            <a:r>
              <a:rPr lang="en-US" sz="1000" dirty="0">
                <a:solidFill>
                  <a:srgbClr val="6B7AA8"/>
                </a:solidFill>
                <a:latin typeface="Calibri" pitchFamily="34" charset="0"/>
                <a:ea typeface="Calibri" pitchFamily="34" charset="-122"/>
                <a:cs typeface="Calibri" pitchFamily="34" charset="-120"/>
              </a:rPr>
              <a:t>3 completed scans</a:t>
            </a:r>
            <a:endParaRPr lang="en-US" sz="1000" dirty="0"/>
          </a:p>
        </p:txBody>
      </p:sp>
      <p:sp>
        <p:nvSpPr>
          <p:cNvPr id="23" name="Shape 21"/>
          <p:cNvSpPr/>
          <p:nvPr/>
        </p:nvSpPr>
        <p:spPr>
          <a:xfrm>
            <a:off x="566928" y="3392424"/>
            <a:ext cx="6583680" cy="2761488"/>
          </a:xfrm>
          <a:prstGeom prst="roundRect">
            <a:avLst>
              <a:gd name="adj" fmla="val 3974"/>
            </a:avLst>
          </a:prstGeom>
          <a:solidFill>
            <a:srgbClr val="111A3D"/>
          </a:solidFill>
          <a:ln w="12700">
            <a:solidFill>
              <a:srgbClr val="2A3667"/>
            </a:solidFill>
            <a:prstDash val="solid"/>
          </a:ln>
        </p:spPr>
      </p:sp>
      <p:sp>
        <p:nvSpPr>
          <p:cNvPr id="24" name="Text 22"/>
          <p:cNvSpPr/>
          <p:nvPr/>
        </p:nvSpPr>
        <p:spPr>
          <a:xfrm>
            <a:off x="804672" y="3575304"/>
            <a:ext cx="4572000" cy="237744"/>
          </a:xfrm>
          <a:prstGeom prst="rect">
            <a:avLst/>
          </a:prstGeom>
          <a:noFill/>
          <a:ln/>
        </p:spPr>
        <p:txBody>
          <a:bodyPr wrap="square" lIns="0" tIns="0" rIns="0" bIns="0" rtlCol="0" anchor="t"/>
          <a:lstStyle/>
          <a:p>
            <a:pPr indent="0" marL="0">
              <a:buNone/>
            </a:pPr>
            <a:r>
              <a:rPr lang="en-US" sz="950" b="1" spc="140" kern="0" dirty="0">
                <a:solidFill>
                  <a:srgbClr val="9AA7D0"/>
                </a:solidFill>
                <a:latin typeface="Calibri" pitchFamily="34" charset="0"/>
                <a:ea typeface="Calibri" pitchFamily="34" charset="-122"/>
                <a:cs typeface="Calibri" pitchFamily="34" charset="-120"/>
              </a:rPr>
              <a:t>FINDINGS BY SEVERITY</a:t>
            </a:r>
            <a:endParaRPr lang="en-US" sz="950" dirty="0"/>
          </a:p>
        </p:txBody>
      </p:sp>
      <p:graphicFrame>
        <p:nvGraphicFramePr>
          <p:cNvPr id="25" name="Chart 0" descr=""/>
          <p:cNvGraphicFramePr/>
          <p:nvPr/>
        </p:nvGraphicFramePr>
        <p:xfrm>
          <a:off x="676656" y="3849624"/>
          <a:ext cx="6364224" cy="2194560"/>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7397496" y="3392424"/>
            <a:ext cx="1988820" cy="1257300"/>
          </a:xfrm>
          <a:prstGeom prst="roundRect">
            <a:avLst>
              <a:gd name="adj" fmla="val 8727"/>
            </a:avLst>
          </a:prstGeom>
          <a:solidFill>
            <a:srgbClr val="111A3D"/>
          </a:solidFill>
          <a:ln w="12700">
            <a:solidFill>
              <a:srgbClr val="2A3667"/>
            </a:solidFill>
            <a:prstDash val="solid"/>
          </a:ln>
        </p:spPr>
      </p:sp>
      <p:sp>
        <p:nvSpPr>
          <p:cNvPr id="27" name="Text 24"/>
          <p:cNvSpPr/>
          <p:nvPr/>
        </p:nvSpPr>
        <p:spPr>
          <a:xfrm>
            <a:off x="7598664" y="3593592"/>
            <a:ext cx="1586484" cy="566928"/>
          </a:xfrm>
          <a:prstGeom prst="rect">
            <a:avLst/>
          </a:prstGeom>
          <a:noFill/>
          <a:ln/>
        </p:spPr>
        <p:txBody>
          <a:bodyPr wrap="square" lIns="0" tIns="0" rIns="0" bIns="0" rtlCol="0" anchor="t"/>
          <a:lstStyle/>
          <a:p>
            <a:pPr indent="0" marL="0">
              <a:buNone/>
            </a:pPr>
            <a:r>
              <a:rPr lang="en-US" sz="3000" b="1" dirty="0">
                <a:solidFill>
                  <a:srgbClr val="FF5C7A"/>
                </a:solidFill>
                <a:latin typeface="Calibri" pitchFamily="34" charset="0"/>
                <a:ea typeface="Calibri" pitchFamily="34" charset="-122"/>
                <a:cs typeface="Calibri" pitchFamily="34" charset="-120"/>
              </a:rPr>
              <a:t>100</a:t>
            </a:r>
            <a:endParaRPr lang="en-US" sz="3000" dirty="0"/>
          </a:p>
        </p:txBody>
      </p:sp>
      <p:sp>
        <p:nvSpPr>
          <p:cNvPr id="28" name="Text 25"/>
          <p:cNvSpPr/>
          <p:nvPr/>
        </p:nvSpPr>
        <p:spPr>
          <a:xfrm>
            <a:off x="7598664" y="4197096"/>
            <a:ext cx="1586484" cy="274320"/>
          </a:xfrm>
          <a:prstGeom prst="rect">
            <a:avLst/>
          </a:prstGeom>
          <a:noFill/>
          <a:ln/>
        </p:spPr>
        <p:txBody>
          <a:bodyPr wrap="square" lIns="0" tIns="0" rIns="0" bIns="0" rtlCol="0" anchor="t"/>
          <a:lstStyle/>
          <a:p>
            <a:pPr indent="0" marL="0">
              <a:buNone/>
            </a:pPr>
            <a:r>
              <a:rPr lang="en-US" sz="950" b="1" spc="110" kern="0" dirty="0">
                <a:solidFill>
                  <a:srgbClr val="9AA7D0"/>
                </a:solidFill>
                <a:latin typeface="Calibri" pitchFamily="34" charset="0"/>
                <a:ea typeface="Calibri" pitchFamily="34" charset="-122"/>
                <a:cs typeface="Calibri" pitchFamily="34" charset="-120"/>
              </a:rPr>
              <a:t>RISK SCORE</a:t>
            </a:r>
            <a:endParaRPr lang="en-US" sz="950" dirty="0"/>
          </a:p>
        </p:txBody>
      </p:sp>
      <p:sp>
        <p:nvSpPr>
          <p:cNvPr id="29" name="Shape 26"/>
          <p:cNvSpPr/>
          <p:nvPr/>
        </p:nvSpPr>
        <p:spPr>
          <a:xfrm>
            <a:off x="9633204" y="3392424"/>
            <a:ext cx="1988820" cy="1257300"/>
          </a:xfrm>
          <a:prstGeom prst="roundRect">
            <a:avLst>
              <a:gd name="adj" fmla="val 8727"/>
            </a:avLst>
          </a:prstGeom>
          <a:solidFill>
            <a:srgbClr val="111A3D"/>
          </a:solidFill>
          <a:ln w="12700">
            <a:solidFill>
              <a:srgbClr val="2A3667"/>
            </a:solidFill>
            <a:prstDash val="solid"/>
          </a:ln>
        </p:spPr>
      </p:sp>
      <p:sp>
        <p:nvSpPr>
          <p:cNvPr id="30" name="Text 27"/>
          <p:cNvSpPr/>
          <p:nvPr/>
        </p:nvSpPr>
        <p:spPr>
          <a:xfrm>
            <a:off x="9834372" y="3593592"/>
            <a:ext cx="1586484" cy="566928"/>
          </a:xfrm>
          <a:prstGeom prst="rect">
            <a:avLst/>
          </a:prstGeom>
          <a:noFill/>
          <a:ln/>
        </p:spPr>
        <p:txBody>
          <a:bodyPr wrap="square" lIns="0" tIns="0" rIns="0" bIns="0" rtlCol="0" anchor="t"/>
          <a:lstStyle/>
          <a:p>
            <a:pPr indent="0" marL="0">
              <a:buNone/>
            </a:pPr>
            <a:r>
              <a:rPr lang="en-US" sz="3000" b="1" dirty="0">
                <a:solidFill>
                  <a:srgbClr val="FF5C7A"/>
                </a:solidFill>
                <a:latin typeface="Calibri" pitchFamily="34" charset="0"/>
                <a:ea typeface="Calibri" pitchFamily="34" charset="-122"/>
                <a:cs typeface="Calibri" pitchFamily="34" charset="-120"/>
              </a:rPr>
              <a:t>F</a:t>
            </a:r>
            <a:endParaRPr lang="en-US" sz="3000" dirty="0"/>
          </a:p>
        </p:txBody>
      </p:sp>
      <p:sp>
        <p:nvSpPr>
          <p:cNvPr id="31" name="Text 28"/>
          <p:cNvSpPr/>
          <p:nvPr/>
        </p:nvSpPr>
        <p:spPr>
          <a:xfrm>
            <a:off x="9834372" y="4197096"/>
            <a:ext cx="1586484" cy="274320"/>
          </a:xfrm>
          <a:prstGeom prst="rect">
            <a:avLst/>
          </a:prstGeom>
          <a:noFill/>
          <a:ln/>
        </p:spPr>
        <p:txBody>
          <a:bodyPr wrap="square" lIns="0" tIns="0" rIns="0" bIns="0" rtlCol="0" anchor="t"/>
          <a:lstStyle/>
          <a:p>
            <a:pPr indent="0" marL="0">
              <a:buNone/>
            </a:pPr>
            <a:r>
              <a:rPr lang="en-US" sz="950" b="1" spc="110" kern="0" dirty="0">
                <a:solidFill>
                  <a:srgbClr val="9AA7D0"/>
                </a:solidFill>
                <a:latin typeface="Calibri" pitchFamily="34" charset="0"/>
                <a:ea typeface="Calibri" pitchFamily="34" charset="-122"/>
                <a:cs typeface="Calibri" pitchFamily="34" charset="-120"/>
              </a:rPr>
              <a:t>POSTURE GRADE</a:t>
            </a:r>
            <a:endParaRPr lang="en-US" sz="950" dirty="0"/>
          </a:p>
        </p:txBody>
      </p:sp>
      <p:sp>
        <p:nvSpPr>
          <p:cNvPr id="32" name="Shape 29"/>
          <p:cNvSpPr/>
          <p:nvPr/>
        </p:nvSpPr>
        <p:spPr>
          <a:xfrm>
            <a:off x="7397496" y="4896612"/>
            <a:ext cx="1988820" cy="1257300"/>
          </a:xfrm>
          <a:prstGeom prst="roundRect">
            <a:avLst>
              <a:gd name="adj" fmla="val 8727"/>
            </a:avLst>
          </a:prstGeom>
          <a:solidFill>
            <a:srgbClr val="111A3D"/>
          </a:solidFill>
          <a:ln w="12700">
            <a:solidFill>
              <a:srgbClr val="2A3667"/>
            </a:solidFill>
            <a:prstDash val="solid"/>
          </a:ln>
        </p:spPr>
      </p:sp>
      <p:sp>
        <p:nvSpPr>
          <p:cNvPr id="33" name="Text 30"/>
          <p:cNvSpPr/>
          <p:nvPr/>
        </p:nvSpPr>
        <p:spPr>
          <a:xfrm>
            <a:off x="7598664" y="5097780"/>
            <a:ext cx="1586484" cy="566928"/>
          </a:xfrm>
          <a:prstGeom prst="rect">
            <a:avLst/>
          </a:prstGeom>
          <a:noFill/>
          <a:ln/>
        </p:spPr>
        <p:txBody>
          <a:bodyPr wrap="square" lIns="0" tIns="0" rIns="0" bIns="0" rtlCol="0" anchor="t"/>
          <a:lstStyle/>
          <a:p>
            <a:pPr indent="0" marL="0">
              <a:buNone/>
            </a:pPr>
            <a:r>
              <a:rPr lang="en-US" sz="3000" b="1" dirty="0">
                <a:solidFill>
                  <a:srgbClr val="FFB547"/>
                </a:solidFill>
                <a:latin typeface="Calibri" pitchFamily="34" charset="0"/>
                <a:ea typeface="Calibri" pitchFamily="34" charset="-122"/>
                <a:cs typeface="Calibri" pitchFamily="34" charset="-120"/>
              </a:rPr>
              <a:t>69</a:t>
            </a:r>
            <a:endParaRPr lang="en-US" sz="3000" dirty="0"/>
          </a:p>
        </p:txBody>
      </p:sp>
      <p:sp>
        <p:nvSpPr>
          <p:cNvPr id="34" name="Text 31"/>
          <p:cNvSpPr/>
          <p:nvPr/>
        </p:nvSpPr>
        <p:spPr>
          <a:xfrm>
            <a:off x="7598664" y="5701284"/>
            <a:ext cx="1586484" cy="274320"/>
          </a:xfrm>
          <a:prstGeom prst="rect">
            <a:avLst/>
          </a:prstGeom>
          <a:noFill/>
          <a:ln/>
        </p:spPr>
        <p:txBody>
          <a:bodyPr wrap="square" lIns="0" tIns="0" rIns="0" bIns="0" rtlCol="0" anchor="t"/>
          <a:lstStyle/>
          <a:p>
            <a:pPr indent="0" marL="0">
              <a:buNone/>
            </a:pPr>
            <a:r>
              <a:rPr lang="en-US" sz="950" b="1" spc="110" kern="0" dirty="0">
                <a:solidFill>
                  <a:srgbClr val="9AA7D0"/>
                </a:solidFill>
                <a:latin typeface="Calibri" pitchFamily="34" charset="0"/>
                <a:ea typeface="Calibri" pitchFamily="34" charset="-122"/>
                <a:cs typeface="Calibri" pitchFamily="34" charset="-120"/>
              </a:rPr>
              <a:t>QUANTUM READINESS</a:t>
            </a:r>
            <a:endParaRPr lang="en-US" sz="950" dirty="0"/>
          </a:p>
        </p:txBody>
      </p:sp>
      <p:sp>
        <p:nvSpPr>
          <p:cNvPr id="35" name="Shape 32"/>
          <p:cNvSpPr/>
          <p:nvPr/>
        </p:nvSpPr>
        <p:spPr>
          <a:xfrm>
            <a:off x="9633204" y="4896612"/>
            <a:ext cx="1988820" cy="1257300"/>
          </a:xfrm>
          <a:prstGeom prst="roundRect">
            <a:avLst>
              <a:gd name="adj" fmla="val 8727"/>
            </a:avLst>
          </a:prstGeom>
          <a:solidFill>
            <a:srgbClr val="111A3D"/>
          </a:solidFill>
          <a:ln w="12700">
            <a:solidFill>
              <a:srgbClr val="2A3667"/>
            </a:solidFill>
            <a:prstDash val="solid"/>
          </a:ln>
        </p:spPr>
      </p:sp>
      <p:sp>
        <p:nvSpPr>
          <p:cNvPr id="36" name="Text 33"/>
          <p:cNvSpPr/>
          <p:nvPr/>
        </p:nvSpPr>
        <p:spPr>
          <a:xfrm>
            <a:off x="9834372" y="5097780"/>
            <a:ext cx="1586484" cy="566928"/>
          </a:xfrm>
          <a:prstGeom prst="rect">
            <a:avLst/>
          </a:prstGeom>
          <a:noFill/>
          <a:ln/>
        </p:spPr>
        <p:txBody>
          <a:bodyPr wrap="square" lIns="0" tIns="0" rIns="0" bIns="0" rtlCol="0" anchor="t"/>
          <a:lstStyle/>
          <a:p>
            <a:pPr indent="0" marL="0">
              <a:buNone/>
            </a:pPr>
            <a:r>
              <a:rPr lang="en-US" sz="3000" b="1" dirty="0">
                <a:solidFill>
                  <a:srgbClr val="4CC9F0"/>
                </a:solidFill>
                <a:latin typeface="Calibri" pitchFamily="34" charset="0"/>
                <a:ea typeface="Calibri" pitchFamily="34" charset="-122"/>
                <a:cs typeface="Calibri" pitchFamily="34" charset="-120"/>
              </a:rPr>
              <a:t>77%</a:t>
            </a:r>
            <a:endParaRPr lang="en-US" sz="3000" dirty="0"/>
          </a:p>
        </p:txBody>
      </p:sp>
      <p:sp>
        <p:nvSpPr>
          <p:cNvPr id="37" name="Text 34"/>
          <p:cNvSpPr/>
          <p:nvPr/>
        </p:nvSpPr>
        <p:spPr>
          <a:xfrm>
            <a:off x="9834372" y="5701284"/>
            <a:ext cx="1586484" cy="274320"/>
          </a:xfrm>
          <a:prstGeom prst="rect">
            <a:avLst/>
          </a:prstGeom>
          <a:noFill/>
          <a:ln/>
        </p:spPr>
        <p:txBody>
          <a:bodyPr wrap="square" lIns="0" tIns="0" rIns="0" bIns="0" rtlCol="0" anchor="t"/>
          <a:lstStyle/>
          <a:p>
            <a:pPr indent="0" marL="0">
              <a:buNone/>
            </a:pPr>
            <a:r>
              <a:rPr lang="en-US" sz="950" b="1" spc="110" kern="0" dirty="0">
                <a:solidFill>
                  <a:srgbClr val="9AA7D0"/>
                </a:solidFill>
                <a:latin typeface="Calibri" pitchFamily="34" charset="0"/>
                <a:ea typeface="Calibri" pitchFamily="34" charset="-122"/>
                <a:cs typeface="Calibri" pitchFamily="34" charset="-120"/>
              </a:rPr>
              <a:t>DETECTION CONFIDENCE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RISK CLASSIFICATION</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Every finding tagged by quantum threat</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The classification is what makes the roadmap possible — Shor-broken assets are sequenced first.</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566928" y="1828800"/>
            <a:ext cx="4937760" cy="3931920"/>
          </a:xfrm>
          <a:prstGeom prst="roundRect">
            <a:avLst>
              <a:gd name="adj" fmla="val 2791"/>
            </a:avLst>
          </a:prstGeom>
          <a:solidFill>
            <a:srgbClr val="111A3D"/>
          </a:solidFill>
          <a:ln w="12700">
            <a:solidFill>
              <a:srgbClr val="2A3667"/>
            </a:solidFill>
            <a:prstDash val="solid"/>
          </a:ln>
        </p:spPr>
      </p:sp>
      <p:sp>
        <p:nvSpPr>
          <p:cNvPr id="8" name="Text 6"/>
          <p:cNvSpPr/>
          <p:nvPr/>
        </p:nvSpPr>
        <p:spPr>
          <a:xfrm>
            <a:off x="804672" y="2011680"/>
            <a:ext cx="4480560" cy="237744"/>
          </a:xfrm>
          <a:prstGeom prst="rect">
            <a:avLst/>
          </a:prstGeom>
          <a:noFill/>
          <a:ln/>
        </p:spPr>
        <p:txBody>
          <a:bodyPr wrap="square" lIns="0" tIns="0" rIns="0" bIns="0" rtlCol="0" anchor="t"/>
          <a:lstStyle/>
          <a:p>
            <a:pPr indent="0" marL="0">
              <a:buNone/>
            </a:pPr>
            <a:r>
              <a:rPr lang="en-US" sz="950" b="1" spc="140" kern="0" dirty="0">
                <a:solidFill>
                  <a:srgbClr val="9AA7D0"/>
                </a:solidFill>
                <a:latin typeface="Calibri" pitchFamily="34" charset="0"/>
                <a:ea typeface="Calibri" pitchFamily="34" charset="-122"/>
                <a:cs typeface="Calibri" pitchFamily="34" charset="-120"/>
              </a:rPr>
              <a:t>QUANTUM THREAT EXPOSURE</a:t>
            </a:r>
            <a:endParaRPr lang="en-US" sz="950" dirty="0"/>
          </a:p>
        </p:txBody>
      </p:sp>
      <p:graphicFrame>
        <p:nvGraphicFramePr>
          <p:cNvPr id="9" name="Chart 0" descr=""/>
          <p:cNvGraphicFramePr/>
          <p:nvPr/>
        </p:nvGraphicFramePr>
        <p:xfrm>
          <a:off x="704088" y="2267712"/>
          <a:ext cx="4663440" cy="2286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22960" y="4700016"/>
            <a:ext cx="128016" cy="128016"/>
          </a:xfrm>
          <a:prstGeom prst="ellipse">
            <a:avLst/>
          </a:prstGeom>
          <a:solidFill>
            <a:srgbClr val="FF5C7A"/>
          </a:solidFill>
          <a:ln w="12700">
            <a:solidFill>
              <a:srgbClr val="FF5C7A"/>
            </a:solidFill>
            <a:prstDash val="solid"/>
          </a:ln>
        </p:spPr>
      </p:sp>
      <p:sp>
        <p:nvSpPr>
          <p:cNvPr id="11" name="Text 8"/>
          <p:cNvSpPr/>
          <p:nvPr/>
        </p:nvSpPr>
        <p:spPr>
          <a:xfrm>
            <a:off x="1042416" y="4626864"/>
            <a:ext cx="160020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Shor-broken · 25</a:t>
            </a:r>
            <a:endParaRPr lang="en-US" sz="1050" dirty="0"/>
          </a:p>
        </p:txBody>
      </p:sp>
      <p:sp>
        <p:nvSpPr>
          <p:cNvPr id="12" name="Text 9"/>
          <p:cNvSpPr/>
          <p:nvPr/>
        </p:nvSpPr>
        <p:spPr>
          <a:xfrm>
            <a:off x="2670048" y="4626864"/>
            <a:ext cx="2578608" cy="274320"/>
          </a:xfrm>
          <a:prstGeom prst="rect">
            <a:avLst/>
          </a:prstGeom>
          <a:noFill/>
          <a:ln/>
        </p:spPr>
        <p:txBody>
          <a:bodyPr wrap="square" lIns="0" tIns="0" rIns="0" bIns="0" rtlCol="0" anchor="ctr"/>
          <a:lstStyle/>
          <a:p>
            <a:pPr indent="0" marL="0">
              <a:buNone/>
            </a:pPr>
            <a:r>
              <a:rPr lang="en-US" sz="1000" dirty="0">
                <a:solidFill>
                  <a:srgbClr val="9AA7D0"/>
                </a:solidFill>
                <a:latin typeface="Calibri" pitchFamily="34" charset="0"/>
                <a:ea typeface="Calibri" pitchFamily="34" charset="-122"/>
                <a:cs typeface="Calibri" pitchFamily="34" charset="-120"/>
              </a:rPr>
              <a:t>Broken outright — migrate to PQC.</a:t>
            </a:r>
            <a:endParaRPr lang="en-US" sz="1000" dirty="0"/>
          </a:p>
        </p:txBody>
      </p:sp>
      <p:sp>
        <p:nvSpPr>
          <p:cNvPr id="13" name="Shape 10"/>
          <p:cNvSpPr/>
          <p:nvPr/>
        </p:nvSpPr>
        <p:spPr>
          <a:xfrm>
            <a:off x="822960" y="5084064"/>
            <a:ext cx="128016" cy="128016"/>
          </a:xfrm>
          <a:prstGeom prst="ellipse">
            <a:avLst/>
          </a:prstGeom>
          <a:solidFill>
            <a:srgbClr val="FFB547"/>
          </a:solidFill>
          <a:ln w="12700">
            <a:solidFill>
              <a:srgbClr val="FFB547"/>
            </a:solidFill>
            <a:prstDash val="solid"/>
          </a:ln>
        </p:spPr>
      </p:sp>
      <p:sp>
        <p:nvSpPr>
          <p:cNvPr id="14" name="Text 11"/>
          <p:cNvSpPr/>
          <p:nvPr/>
        </p:nvSpPr>
        <p:spPr>
          <a:xfrm>
            <a:off x="1042416" y="5010912"/>
            <a:ext cx="160020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Grover-weakened · 2</a:t>
            </a:r>
            <a:endParaRPr lang="en-US" sz="1050" dirty="0"/>
          </a:p>
        </p:txBody>
      </p:sp>
      <p:sp>
        <p:nvSpPr>
          <p:cNvPr id="15" name="Text 12"/>
          <p:cNvSpPr/>
          <p:nvPr/>
        </p:nvSpPr>
        <p:spPr>
          <a:xfrm>
            <a:off x="2670048" y="5010912"/>
            <a:ext cx="2578608" cy="274320"/>
          </a:xfrm>
          <a:prstGeom prst="rect">
            <a:avLst/>
          </a:prstGeom>
          <a:noFill/>
          <a:ln/>
        </p:spPr>
        <p:txBody>
          <a:bodyPr wrap="square" lIns="0" tIns="0" rIns="0" bIns="0" rtlCol="0" anchor="ctr"/>
          <a:lstStyle/>
          <a:p>
            <a:pPr indent="0" marL="0">
              <a:buNone/>
            </a:pPr>
            <a:r>
              <a:rPr lang="en-US" sz="1000" dirty="0">
                <a:solidFill>
                  <a:srgbClr val="9AA7D0"/>
                </a:solidFill>
                <a:latin typeface="Calibri" pitchFamily="34" charset="0"/>
                <a:ea typeface="Calibri" pitchFamily="34" charset="-122"/>
                <a:cs typeface="Calibri" pitchFamily="34" charset="-120"/>
              </a:rPr>
              <a:t>Strength halved — double key size.</a:t>
            </a:r>
            <a:endParaRPr lang="en-US" sz="1000" dirty="0"/>
          </a:p>
        </p:txBody>
      </p:sp>
      <p:sp>
        <p:nvSpPr>
          <p:cNvPr id="16" name="Shape 13"/>
          <p:cNvSpPr/>
          <p:nvPr/>
        </p:nvSpPr>
        <p:spPr>
          <a:xfrm>
            <a:off x="822960" y="5468112"/>
            <a:ext cx="128016" cy="128016"/>
          </a:xfrm>
          <a:prstGeom prst="ellipse">
            <a:avLst/>
          </a:prstGeom>
          <a:solidFill>
            <a:srgbClr val="9B8CFA"/>
          </a:solidFill>
          <a:ln w="12700">
            <a:solidFill>
              <a:srgbClr val="9B8CFA"/>
            </a:solidFill>
            <a:prstDash val="solid"/>
          </a:ln>
        </p:spPr>
      </p:sp>
      <p:sp>
        <p:nvSpPr>
          <p:cNvPr id="17" name="Text 14"/>
          <p:cNvSpPr/>
          <p:nvPr/>
        </p:nvSpPr>
        <p:spPr>
          <a:xfrm>
            <a:off x="1042416" y="5394960"/>
            <a:ext cx="160020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Classically weak · 56</a:t>
            </a:r>
            <a:endParaRPr lang="en-US" sz="1050" dirty="0"/>
          </a:p>
        </p:txBody>
      </p:sp>
      <p:sp>
        <p:nvSpPr>
          <p:cNvPr id="18" name="Text 15"/>
          <p:cNvSpPr/>
          <p:nvPr/>
        </p:nvSpPr>
        <p:spPr>
          <a:xfrm>
            <a:off x="2670048" y="5394960"/>
            <a:ext cx="2578608" cy="274320"/>
          </a:xfrm>
          <a:prstGeom prst="rect">
            <a:avLst/>
          </a:prstGeom>
          <a:noFill/>
          <a:ln/>
        </p:spPr>
        <p:txBody>
          <a:bodyPr wrap="square" lIns="0" tIns="0" rIns="0" bIns="0" rtlCol="0" anchor="ctr"/>
          <a:lstStyle/>
          <a:p>
            <a:pPr indent="0" marL="0">
              <a:buNone/>
            </a:pPr>
            <a:r>
              <a:rPr lang="en-US" sz="1000" dirty="0">
                <a:solidFill>
                  <a:srgbClr val="9AA7D0"/>
                </a:solidFill>
                <a:latin typeface="Calibri" pitchFamily="34" charset="0"/>
                <a:ea typeface="Calibri" pitchFamily="34" charset="-122"/>
                <a:cs typeface="Calibri" pitchFamily="34" charset="-120"/>
              </a:rPr>
              <a:t>Already broken classically.</a:t>
            </a:r>
            <a:endParaRPr lang="en-US" sz="1000" dirty="0"/>
          </a:p>
        </p:txBody>
      </p:sp>
      <p:sp>
        <p:nvSpPr>
          <p:cNvPr id="19" name="Shape 16"/>
          <p:cNvSpPr/>
          <p:nvPr/>
        </p:nvSpPr>
        <p:spPr>
          <a:xfrm>
            <a:off x="5751576" y="1828800"/>
            <a:ext cx="5870448" cy="3931920"/>
          </a:xfrm>
          <a:prstGeom prst="roundRect">
            <a:avLst>
              <a:gd name="adj" fmla="val 2791"/>
            </a:avLst>
          </a:prstGeom>
          <a:solidFill>
            <a:srgbClr val="111A3D"/>
          </a:solidFill>
          <a:ln w="12700">
            <a:solidFill>
              <a:srgbClr val="2A3667"/>
            </a:solidFill>
            <a:prstDash val="solid"/>
          </a:ln>
        </p:spPr>
      </p:sp>
      <p:sp>
        <p:nvSpPr>
          <p:cNvPr id="20" name="Text 17"/>
          <p:cNvSpPr/>
          <p:nvPr/>
        </p:nvSpPr>
        <p:spPr>
          <a:xfrm>
            <a:off x="5989320" y="2011680"/>
            <a:ext cx="5413248" cy="237744"/>
          </a:xfrm>
          <a:prstGeom prst="rect">
            <a:avLst/>
          </a:prstGeom>
          <a:noFill/>
          <a:ln/>
        </p:spPr>
        <p:txBody>
          <a:bodyPr wrap="square" lIns="0" tIns="0" rIns="0" bIns="0" rtlCol="0" anchor="t"/>
          <a:lstStyle/>
          <a:p>
            <a:pPr indent="0" marL="0">
              <a:buNone/>
            </a:pPr>
            <a:r>
              <a:rPr lang="en-US" sz="950" b="1" spc="140" kern="0" dirty="0">
                <a:solidFill>
                  <a:srgbClr val="9AA7D0"/>
                </a:solidFill>
                <a:latin typeface="Calibri" pitchFamily="34" charset="0"/>
                <a:ea typeface="Calibri" pitchFamily="34" charset="-122"/>
                <a:cs typeface="Calibri" pitchFamily="34" charset="-120"/>
              </a:rPr>
              <a:t>MOST FREQUENTLY DETECTED</a:t>
            </a:r>
            <a:endParaRPr lang="en-US" sz="950" dirty="0"/>
          </a:p>
        </p:txBody>
      </p:sp>
      <p:graphicFrame>
        <p:nvGraphicFramePr>
          <p:cNvPr id="21" name="Chart 1" descr=""/>
          <p:cNvGraphicFramePr/>
          <p:nvPr/>
        </p:nvGraphicFramePr>
        <p:xfrm>
          <a:off x="5861304" y="2304288"/>
          <a:ext cx="5596128" cy="32918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THE DESTINATION</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Every finding mapped to a NIST-standardized target</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Detection without a destination is just a complaint. Each rule carries its FIPS-aligned replacement.</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704088" y="1764792"/>
            <a:ext cx="3383280" cy="237744"/>
          </a:xfrm>
          <a:prstGeom prst="rect">
            <a:avLst/>
          </a:prstGeom>
          <a:noFill/>
          <a:ln/>
        </p:spPr>
        <p:txBody>
          <a:bodyPr wrap="square" lIns="0" tIns="0" rIns="0" bIns="0" rtlCol="0" anchor="t"/>
          <a:lstStyle/>
          <a:p>
            <a:pPr indent="0" marL="0">
              <a:buNone/>
            </a:pPr>
            <a:r>
              <a:rPr lang="en-US" sz="950" b="1" spc="160" kern="0" dirty="0">
                <a:solidFill>
                  <a:srgbClr val="FF5C7A"/>
                </a:solidFill>
                <a:latin typeface="Calibri" pitchFamily="34" charset="0"/>
                <a:ea typeface="Calibri" pitchFamily="34" charset="-122"/>
                <a:cs typeface="Calibri" pitchFamily="34" charset="-120"/>
              </a:rPr>
              <a:t>DETECTED TODAY</a:t>
            </a:r>
            <a:endParaRPr lang="en-US" sz="950" dirty="0"/>
          </a:p>
        </p:txBody>
      </p:sp>
      <p:sp>
        <p:nvSpPr>
          <p:cNvPr id="8" name="Text 6"/>
          <p:cNvSpPr/>
          <p:nvPr/>
        </p:nvSpPr>
        <p:spPr>
          <a:xfrm>
            <a:off x="7452360" y="1764792"/>
            <a:ext cx="4169664" cy="237744"/>
          </a:xfrm>
          <a:prstGeom prst="rect">
            <a:avLst/>
          </a:prstGeom>
          <a:noFill/>
          <a:ln/>
        </p:spPr>
        <p:txBody>
          <a:bodyPr wrap="square" lIns="0" tIns="0" rIns="0" bIns="0" rtlCol="0" anchor="t"/>
          <a:lstStyle/>
          <a:p>
            <a:pPr indent="0" marL="0">
              <a:buNone/>
            </a:pPr>
            <a:r>
              <a:rPr lang="en-US" sz="950" b="1" spc="160" kern="0" dirty="0">
                <a:solidFill>
                  <a:srgbClr val="3BE8B0"/>
                </a:solidFill>
                <a:latin typeface="Calibri" pitchFamily="34" charset="0"/>
                <a:ea typeface="Calibri" pitchFamily="34" charset="-122"/>
                <a:cs typeface="Calibri" pitchFamily="34" charset="-120"/>
              </a:rPr>
              <a:t>PQC / HARDENED TARGET</a:t>
            </a:r>
            <a:endParaRPr lang="en-US" sz="950" dirty="0"/>
          </a:p>
        </p:txBody>
      </p:sp>
      <p:sp>
        <p:nvSpPr>
          <p:cNvPr id="9" name="Text 7"/>
          <p:cNvSpPr/>
          <p:nvPr/>
        </p:nvSpPr>
        <p:spPr>
          <a:xfrm>
            <a:off x="704088" y="2020824"/>
            <a:ext cx="3383280" cy="530352"/>
          </a:xfrm>
          <a:prstGeom prst="roundRect">
            <a:avLst>
              <a:gd name="adj" fmla="val 12069"/>
            </a:avLst>
          </a:prstGeom>
          <a:solidFill>
            <a:srgbClr val="111A3D"/>
          </a:solidFill>
          <a:ln w="12700">
            <a:solidFill>
              <a:srgbClr val="2A3667"/>
            </a:solidFill>
          </a:ln>
        </p:spPr>
        <p:txBody>
          <a:bodyPr wrap="square" lIns="38100" tIns="38100" rIns="38100" bIns="381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RSA  ·  11 findings</a:t>
            </a:r>
            <a:endParaRPr lang="en-US" sz="1150" dirty="0"/>
          </a:p>
        </p:txBody>
      </p:sp>
      <p:sp>
        <p:nvSpPr>
          <p:cNvPr id="10" name="Shape 8"/>
          <p:cNvSpPr/>
          <p:nvPr/>
        </p:nvSpPr>
        <p:spPr>
          <a:xfrm>
            <a:off x="4087368" y="2286000"/>
            <a:ext cx="3364992" cy="0"/>
          </a:xfrm>
          <a:prstGeom prst="line">
            <a:avLst/>
          </a:prstGeom>
          <a:noFill/>
          <a:ln w="15875">
            <a:solidFill>
              <a:srgbClr val="FF5C7A"/>
            </a:solidFill>
            <a:prstDash val="dash"/>
          </a:ln>
        </p:spPr>
      </p:sp>
      <p:sp>
        <p:nvSpPr>
          <p:cNvPr id="11" name="Shape 9"/>
          <p:cNvSpPr/>
          <p:nvPr/>
        </p:nvSpPr>
        <p:spPr>
          <a:xfrm rot="5400000">
            <a:off x="7269480" y="2212848"/>
            <a:ext cx="146304" cy="146304"/>
          </a:xfrm>
          <a:prstGeom prst="triangle">
            <a:avLst/>
          </a:prstGeom>
          <a:solidFill>
            <a:srgbClr val="FF5C7A"/>
          </a:solidFill>
          <a:ln w="12700">
            <a:solidFill>
              <a:srgbClr val="FF5C7A"/>
            </a:solidFill>
            <a:prstDash val="solid"/>
          </a:ln>
        </p:spPr>
      </p:sp>
      <p:sp>
        <p:nvSpPr>
          <p:cNvPr id="12" name="Text 10"/>
          <p:cNvSpPr/>
          <p:nvPr/>
        </p:nvSpPr>
        <p:spPr>
          <a:xfrm>
            <a:off x="7452360" y="2020824"/>
            <a:ext cx="2478024" cy="530352"/>
          </a:xfrm>
          <a:prstGeom prst="roundRect">
            <a:avLst>
              <a:gd name="adj" fmla="val 12069"/>
            </a:avLst>
          </a:prstGeom>
          <a:solidFill>
            <a:srgbClr val="17224C"/>
          </a:solidFill>
          <a:ln w="12700">
            <a:solidFill>
              <a:srgbClr val="3BE8B0"/>
            </a:solidFill>
          </a:ln>
        </p:spPr>
        <p:txBody>
          <a:bodyPr wrap="square" lIns="38100" tIns="38100" rIns="38100" bIns="38100" rtlCol="0" anchor="ctr"/>
          <a:lstStyle/>
          <a:p>
            <a:pPr algn="l" indent="0" marL="0">
              <a:buNone/>
            </a:pPr>
            <a:r>
              <a:rPr lang="en-US" sz="1150" b="1" dirty="0">
                <a:solidFill>
                  <a:srgbClr val="3BE8B0"/>
                </a:solidFill>
                <a:latin typeface="Calibri" pitchFamily="34" charset="0"/>
                <a:ea typeface="Calibri" pitchFamily="34" charset="-122"/>
                <a:cs typeface="Calibri" pitchFamily="34" charset="-120"/>
              </a:rPr>
              <a:t>ML-KEM-768</a:t>
            </a:r>
            <a:endParaRPr lang="en-US" sz="1150" dirty="0"/>
          </a:p>
        </p:txBody>
      </p:sp>
      <p:sp>
        <p:nvSpPr>
          <p:cNvPr id="13" name="Text 11"/>
          <p:cNvSpPr/>
          <p:nvPr/>
        </p:nvSpPr>
        <p:spPr>
          <a:xfrm>
            <a:off x="10021824" y="2020824"/>
            <a:ext cx="1600200" cy="530352"/>
          </a:xfrm>
          <a:prstGeom prst="rect">
            <a:avLst/>
          </a:prstGeom>
          <a:noFill/>
          <a:ln/>
        </p:spPr>
        <p:txBody>
          <a:bodyPr wrap="square" lIns="0" tIns="0" rIns="0" bIns="0" rtlCol="0" anchor="ctr"/>
          <a:lstStyle/>
          <a:p>
            <a:pPr indent="0" marL="0">
              <a:buNone/>
            </a:pPr>
            <a:r>
              <a:rPr lang="en-US" sz="1000" dirty="0">
                <a:solidFill>
                  <a:srgbClr val="6B7AA8"/>
                </a:solidFill>
                <a:latin typeface="Calibri" pitchFamily="34" charset="0"/>
                <a:ea typeface="Calibri" pitchFamily="34" charset="-122"/>
                <a:cs typeface="Calibri" pitchFamily="34" charset="-120"/>
              </a:rPr>
              <a:t>FIPS 203</a:t>
            </a:r>
            <a:endParaRPr lang="en-US" sz="1000" dirty="0"/>
          </a:p>
        </p:txBody>
      </p:sp>
      <p:sp>
        <p:nvSpPr>
          <p:cNvPr id="14" name="Text 12"/>
          <p:cNvSpPr/>
          <p:nvPr/>
        </p:nvSpPr>
        <p:spPr>
          <a:xfrm>
            <a:off x="704088" y="2633472"/>
            <a:ext cx="3383280" cy="530352"/>
          </a:xfrm>
          <a:prstGeom prst="roundRect">
            <a:avLst>
              <a:gd name="adj" fmla="val 12069"/>
            </a:avLst>
          </a:prstGeom>
          <a:solidFill>
            <a:srgbClr val="111A3D"/>
          </a:solidFill>
          <a:ln w="12700">
            <a:solidFill>
              <a:srgbClr val="2A3667"/>
            </a:solidFill>
          </a:ln>
        </p:spPr>
        <p:txBody>
          <a:bodyPr wrap="square" lIns="38100" tIns="38100" rIns="38100" bIns="381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ECDSA  ·  5 findings</a:t>
            </a:r>
            <a:endParaRPr lang="en-US" sz="1150" dirty="0"/>
          </a:p>
        </p:txBody>
      </p:sp>
      <p:sp>
        <p:nvSpPr>
          <p:cNvPr id="15" name="Shape 13"/>
          <p:cNvSpPr/>
          <p:nvPr/>
        </p:nvSpPr>
        <p:spPr>
          <a:xfrm>
            <a:off x="4087368" y="2898648"/>
            <a:ext cx="3364992" cy="0"/>
          </a:xfrm>
          <a:prstGeom prst="line">
            <a:avLst/>
          </a:prstGeom>
          <a:noFill/>
          <a:ln w="15875">
            <a:solidFill>
              <a:srgbClr val="FF5C7A"/>
            </a:solidFill>
            <a:prstDash val="dash"/>
          </a:ln>
        </p:spPr>
      </p:sp>
      <p:sp>
        <p:nvSpPr>
          <p:cNvPr id="16" name="Shape 14"/>
          <p:cNvSpPr/>
          <p:nvPr/>
        </p:nvSpPr>
        <p:spPr>
          <a:xfrm rot="5400000">
            <a:off x="7269480" y="2825496"/>
            <a:ext cx="146304" cy="146304"/>
          </a:xfrm>
          <a:prstGeom prst="triangle">
            <a:avLst/>
          </a:prstGeom>
          <a:solidFill>
            <a:srgbClr val="FF5C7A"/>
          </a:solidFill>
          <a:ln w="12700">
            <a:solidFill>
              <a:srgbClr val="FF5C7A"/>
            </a:solidFill>
            <a:prstDash val="solid"/>
          </a:ln>
        </p:spPr>
      </p:sp>
      <p:sp>
        <p:nvSpPr>
          <p:cNvPr id="17" name="Text 15"/>
          <p:cNvSpPr/>
          <p:nvPr/>
        </p:nvSpPr>
        <p:spPr>
          <a:xfrm>
            <a:off x="7452360" y="2633472"/>
            <a:ext cx="2478024" cy="530352"/>
          </a:xfrm>
          <a:prstGeom prst="roundRect">
            <a:avLst>
              <a:gd name="adj" fmla="val 12069"/>
            </a:avLst>
          </a:prstGeom>
          <a:solidFill>
            <a:srgbClr val="17224C"/>
          </a:solidFill>
          <a:ln w="12700">
            <a:solidFill>
              <a:srgbClr val="3BE8B0"/>
            </a:solidFill>
          </a:ln>
        </p:spPr>
        <p:txBody>
          <a:bodyPr wrap="square" lIns="38100" tIns="38100" rIns="38100" bIns="38100" rtlCol="0" anchor="ctr"/>
          <a:lstStyle/>
          <a:p>
            <a:pPr algn="l" indent="0" marL="0">
              <a:buNone/>
            </a:pPr>
            <a:r>
              <a:rPr lang="en-US" sz="1150" b="1" dirty="0">
                <a:solidFill>
                  <a:srgbClr val="3BE8B0"/>
                </a:solidFill>
                <a:latin typeface="Calibri" pitchFamily="34" charset="0"/>
                <a:ea typeface="Calibri" pitchFamily="34" charset="-122"/>
                <a:cs typeface="Calibri" pitchFamily="34" charset="-120"/>
              </a:rPr>
              <a:t>ML-DSA-65</a:t>
            </a:r>
            <a:endParaRPr lang="en-US" sz="1150" dirty="0"/>
          </a:p>
        </p:txBody>
      </p:sp>
      <p:sp>
        <p:nvSpPr>
          <p:cNvPr id="18" name="Text 16"/>
          <p:cNvSpPr/>
          <p:nvPr/>
        </p:nvSpPr>
        <p:spPr>
          <a:xfrm>
            <a:off x="10021824" y="2633472"/>
            <a:ext cx="1600200" cy="530352"/>
          </a:xfrm>
          <a:prstGeom prst="rect">
            <a:avLst/>
          </a:prstGeom>
          <a:noFill/>
          <a:ln/>
        </p:spPr>
        <p:txBody>
          <a:bodyPr wrap="square" lIns="0" tIns="0" rIns="0" bIns="0" rtlCol="0" anchor="ctr"/>
          <a:lstStyle/>
          <a:p>
            <a:pPr indent="0" marL="0">
              <a:buNone/>
            </a:pPr>
            <a:r>
              <a:rPr lang="en-US" sz="1000" dirty="0">
                <a:solidFill>
                  <a:srgbClr val="6B7AA8"/>
                </a:solidFill>
                <a:latin typeface="Calibri" pitchFamily="34" charset="0"/>
                <a:ea typeface="Calibri" pitchFamily="34" charset="-122"/>
                <a:cs typeface="Calibri" pitchFamily="34" charset="-120"/>
              </a:rPr>
              <a:t>FIPS 204</a:t>
            </a:r>
            <a:endParaRPr lang="en-US" sz="1000" dirty="0"/>
          </a:p>
        </p:txBody>
      </p:sp>
      <p:sp>
        <p:nvSpPr>
          <p:cNvPr id="19" name="Text 17"/>
          <p:cNvSpPr/>
          <p:nvPr/>
        </p:nvSpPr>
        <p:spPr>
          <a:xfrm>
            <a:off x="704088" y="3246120"/>
            <a:ext cx="3383280" cy="530352"/>
          </a:xfrm>
          <a:prstGeom prst="roundRect">
            <a:avLst>
              <a:gd name="adj" fmla="val 12069"/>
            </a:avLst>
          </a:prstGeom>
          <a:solidFill>
            <a:srgbClr val="111A3D"/>
          </a:solidFill>
          <a:ln w="12700">
            <a:solidFill>
              <a:srgbClr val="2A3667"/>
            </a:solidFill>
          </a:ln>
        </p:spPr>
        <p:txBody>
          <a:bodyPr wrap="square" lIns="38100" tIns="38100" rIns="38100" bIns="381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Ed25519  ·  6 findings</a:t>
            </a:r>
            <a:endParaRPr lang="en-US" sz="1150" dirty="0"/>
          </a:p>
        </p:txBody>
      </p:sp>
      <p:sp>
        <p:nvSpPr>
          <p:cNvPr id="20" name="Shape 18"/>
          <p:cNvSpPr/>
          <p:nvPr/>
        </p:nvSpPr>
        <p:spPr>
          <a:xfrm>
            <a:off x="4087368" y="3511296"/>
            <a:ext cx="3364992" cy="0"/>
          </a:xfrm>
          <a:prstGeom prst="line">
            <a:avLst/>
          </a:prstGeom>
          <a:noFill/>
          <a:ln w="15875">
            <a:solidFill>
              <a:srgbClr val="FF5C7A"/>
            </a:solidFill>
            <a:prstDash val="dash"/>
          </a:ln>
        </p:spPr>
      </p:sp>
      <p:sp>
        <p:nvSpPr>
          <p:cNvPr id="21" name="Shape 19"/>
          <p:cNvSpPr/>
          <p:nvPr/>
        </p:nvSpPr>
        <p:spPr>
          <a:xfrm rot="5400000">
            <a:off x="7269480" y="3438144"/>
            <a:ext cx="146304" cy="146304"/>
          </a:xfrm>
          <a:prstGeom prst="triangle">
            <a:avLst/>
          </a:prstGeom>
          <a:solidFill>
            <a:srgbClr val="FF5C7A"/>
          </a:solidFill>
          <a:ln w="12700">
            <a:solidFill>
              <a:srgbClr val="FF5C7A"/>
            </a:solidFill>
            <a:prstDash val="solid"/>
          </a:ln>
        </p:spPr>
      </p:sp>
      <p:sp>
        <p:nvSpPr>
          <p:cNvPr id="22" name="Text 20"/>
          <p:cNvSpPr/>
          <p:nvPr/>
        </p:nvSpPr>
        <p:spPr>
          <a:xfrm>
            <a:off x="7452360" y="3246120"/>
            <a:ext cx="2478024" cy="530352"/>
          </a:xfrm>
          <a:prstGeom prst="roundRect">
            <a:avLst>
              <a:gd name="adj" fmla="val 12069"/>
            </a:avLst>
          </a:prstGeom>
          <a:solidFill>
            <a:srgbClr val="17224C"/>
          </a:solidFill>
          <a:ln w="12700">
            <a:solidFill>
              <a:srgbClr val="3BE8B0"/>
            </a:solidFill>
          </a:ln>
        </p:spPr>
        <p:txBody>
          <a:bodyPr wrap="square" lIns="38100" tIns="38100" rIns="38100" bIns="38100" rtlCol="0" anchor="ctr"/>
          <a:lstStyle/>
          <a:p>
            <a:pPr algn="l" indent="0" marL="0">
              <a:buNone/>
            </a:pPr>
            <a:r>
              <a:rPr lang="en-US" sz="1150" b="1" dirty="0">
                <a:solidFill>
                  <a:srgbClr val="3BE8B0"/>
                </a:solidFill>
                <a:latin typeface="Calibri" pitchFamily="34" charset="0"/>
                <a:ea typeface="Calibri" pitchFamily="34" charset="-122"/>
                <a:cs typeface="Calibri" pitchFamily="34" charset="-120"/>
              </a:rPr>
              <a:t>ML-DSA-65 / SLH-DSA</a:t>
            </a:r>
            <a:endParaRPr lang="en-US" sz="1150" dirty="0"/>
          </a:p>
        </p:txBody>
      </p:sp>
      <p:sp>
        <p:nvSpPr>
          <p:cNvPr id="23" name="Text 21"/>
          <p:cNvSpPr/>
          <p:nvPr/>
        </p:nvSpPr>
        <p:spPr>
          <a:xfrm>
            <a:off x="10021824" y="3246120"/>
            <a:ext cx="1600200" cy="530352"/>
          </a:xfrm>
          <a:prstGeom prst="rect">
            <a:avLst/>
          </a:prstGeom>
          <a:noFill/>
          <a:ln/>
        </p:spPr>
        <p:txBody>
          <a:bodyPr wrap="square" lIns="0" tIns="0" rIns="0" bIns="0" rtlCol="0" anchor="ctr"/>
          <a:lstStyle/>
          <a:p>
            <a:pPr indent="0" marL="0">
              <a:buNone/>
            </a:pPr>
            <a:r>
              <a:rPr lang="en-US" sz="1000" dirty="0">
                <a:solidFill>
                  <a:srgbClr val="6B7AA8"/>
                </a:solidFill>
                <a:latin typeface="Calibri" pitchFamily="34" charset="0"/>
                <a:ea typeface="Calibri" pitchFamily="34" charset="-122"/>
                <a:cs typeface="Calibri" pitchFamily="34" charset="-120"/>
              </a:rPr>
              <a:t>FIPS 204 / 205</a:t>
            </a:r>
            <a:endParaRPr lang="en-US" sz="1000" dirty="0"/>
          </a:p>
        </p:txBody>
      </p:sp>
      <p:sp>
        <p:nvSpPr>
          <p:cNvPr id="24" name="Text 22"/>
          <p:cNvSpPr/>
          <p:nvPr/>
        </p:nvSpPr>
        <p:spPr>
          <a:xfrm>
            <a:off x="704088" y="3858768"/>
            <a:ext cx="3383280" cy="530352"/>
          </a:xfrm>
          <a:prstGeom prst="roundRect">
            <a:avLst>
              <a:gd name="adj" fmla="val 12069"/>
            </a:avLst>
          </a:prstGeom>
          <a:solidFill>
            <a:srgbClr val="111A3D"/>
          </a:solidFill>
          <a:ln w="12700">
            <a:solidFill>
              <a:srgbClr val="2A3667"/>
            </a:solidFill>
          </a:ln>
        </p:spPr>
        <p:txBody>
          <a:bodyPr wrap="square" lIns="38100" tIns="38100" rIns="38100" bIns="381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MD5 &amp; SHA-1  ·  15 findings</a:t>
            </a:r>
            <a:endParaRPr lang="en-US" sz="1150" dirty="0"/>
          </a:p>
        </p:txBody>
      </p:sp>
      <p:sp>
        <p:nvSpPr>
          <p:cNvPr id="25" name="Shape 23"/>
          <p:cNvSpPr/>
          <p:nvPr/>
        </p:nvSpPr>
        <p:spPr>
          <a:xfrm>
            <a:off x="4087368" y="4123944"/>
            <a:ext cx="3364992" cy="0"/>
          </a:xfrm>
          <a:prstGeom prst="line">
            <a:avLst/>
          </a:prstGeom>
          <a:noFill/>
          <a:ln w="15875">
            <a:solidFill>
              <a:srgbClr val="9B8CFA"/>
            </a:solidFill>
            <a:prstDash val="dash"/>
          </a:ln>
        </p:spPr>
      </p:sp>
      <p:sp>
        <p:nvSpPr>
          <p:cNvPr id="26" name="Shape 24"/>
          <p:cNvSpPr/>
          <p:nvPr/>
        </p:nvSpPr>
        <p:spPr>
          <a:xfrm rot="5400000">
            <a:off x="7269480" y="4050792"/>
            <a:ext cx="146304" cy="146304"/>
          </a:xfrm>
          <a:prstGeom prst="triangle">
            <a:avLst/>
          </a:prstGeom>
          <a:solidFill>
            <a:srgbClr val="9B8CFA"/>
          </a:solidFill>
          <a:ln w="12700">
            <a:solidFill>
              <a:srgbClr val="9B8CFA"/>
            </a:solidFill>
            <a:prstDash val="solid"/>
          </a:ln>
        </p:spPr>
      </p:sp>
      <p:sp>
        <p:nvSpPr>
          <p:cNvPr id="27" name="Text 25"/>
          <p:cNvSpPr/>
          <p:nvPr/>
        </p:nvSpPr>
        <p:spPr>
          <a:xfrm>
            <a:off x="7452360" y="3858768"/>
            <a:ext cx="2478024" cy="530352"/>
          </a:xfrm>
          <a:prstGeom prst="roundRect">
            <a:avLst>
              <a:gd name="adj" fmla="val 12069"/>
            </a:avLst>
          </a:prstGeom>
          <a:solidFill>
            <a:srgbClr val="17224C"/>
          </a:solidFill>
          <a:ln w="12700">
            <a:solidFill>
              <a:srgbClr val="3BE8B0"/>
            </a:solidFill>
          </a:ln>
        </p:spPr>
        <p:txBody>
          <a:bodyPr wrap="square" lIns="38100" tIns="38100" rIns="38100" bIns="38100" rtlCol="0" anchor="ctr"/>
          <a:lstStyle/>
          <a:p>
            <a:pPr algn="l" indent="0" marL="0">
              <a:buNone/>
            </a:pPr>
            <a:r>
              <a:rPr lang="en-US" sz="1150" b="1" dirty="0">
                <a:solidFill>
                  <a:srgbClr val="3BE8B0"/>
                </a:solidFill>
                <a:latin typeface="Calibri" pitchFamily="34" charset="0"/>
                <a:ea typeface="Calibri" pitchFamily="34" charset="-122"/>
                <a:cs typeface="Calibri" pitchFamily="34" charset="-120"/>
              </a:rPr>
              <a:t>SHA-256 / SHA-3-256</a:t>
            </a:r>
            <a:endParaRPr lang="en-US" sz="1150" dirty="0"/>
          </a:p>
        </p:txBody>
      </p:sp>
      <p:sp>
        <p:nvSpPr>
          <p:cNvPr id="28" name="Text 26"/>
          <p:cNvSpPr/>
          <p:nvPr/>
        </p:nvSpPr>
        <p:spPr>
          <a:xfrm>
            <a:off x="10021824" y="3858768"/>
            <a:ext cx="1600200" cy="530352"/>
          </a:xfrm>
          <a:prstGeom prst="rect">
            <a:avLst/>
          </a:prstGeom>
          <a:noFill/>
          <a:ln/>
        </p:spPr>
        <p:txBody>
          <a:bodyPr wrap="square" lIns="0" tIns="0" rIns="0" bIns="0" rtlCol="0" anchor="ctr"/>
          <a:lstStyle/>
          <a:p>
            <a:pPr indent="0" marL="0">
              <a:buNone/>
            </a:pPr>
            <a:r>
              <a:rPr lang="en-US" sz="1000" dirty="0">
                <a:solidFill>
                  <a:srgbClr val="6B7AA8"/>
                </a:solidFill>
                <a:latin typeface="Calibri" pitchFamily="34" charset="0"/>
                <a:ea typeface="Calibri" pitchFamily="34" charset="-122"/>
                <a:cs typeface="Calibri" pitchFamily="34" charset="-120"/>
              </a:rPr>
              <a:t>Hash hardening</a:t>
            </a:r>
            <a:endParaRPr lang="en-US" sz="1000" dirty="0"/>
          </a:p>
        </p:txBody>
      </p:sp>
      <p:sp>
        <p:nvSpPr>
          <p:cNvPr id="29" name="Text 27"/>
          <p:cNvSpPr/>
          <p:nvPr/>
        </p:nvSpPr>
        <p:spPr>
          <a:xfrm>
            <a:off x="704088" y="4471416"/>
            <a:ext cx="3383280" cy="530352"/>
          </a:xfrm>
          <a:prstGeom prst="roundRect">
            <a:avLst>
              <a:gd name="adj" fmla="val 12069"/>
            </a:avLst>
          </a:prstGeom>
          <a:solidFill>
            <a:srgbClr val="111A3D"/>
          </a:solidFill>
          <a:ln w="12700">
            <a:solidFill>
              <a:srgbClr val="2A3667"/>
            </a:solidFill>
          </a:ln>
        </p:spPr>
        <p:txBody>
          <a:bodyPr wrap="square" lIns="38100" tIns="38100" rIns="38100" bIns="381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3DES · RC4 · DES  ·  8 findings</a:t>
            </a:r>
            <a:endParaRPr lang="en-US" sz="1150" dirty="0"/>
          </a:p>
        </p:txBody>
      </p:sp>
      <p:sp>
        <p:nvSpPr>
          <p:cNvPr id="30" name="Shape 28"/>
          <p:cNvSpPr/>
          <p:nvPr/>
        </p:nvSpPr>
        <p:spPr>
          <a:xfrm>
            <a:off x="4087368" y="4736592"/>
            <a:ext cx="3364992" cy="0"/>
          </a:xfrm>
          <a:prstGeom prst="line">
            <a:avLst/>
          </a:prstGeom>
          <a:noFill/>
          <a:ln w="15875">
            <a:solidFill>
              <a:srgbClr val="FFB547"/>
            </a:solidFill>
            <a:prstDash val="dash"/>
          </a:ln>
        </p:spPr>
      </p:sp>
      <p:sp>
        <p:nvSpPr>
          <p:cNvPr id="31" name="Shape 29"/>
          <p:cNvSpPr/>
          <p:nvPr/>
        </p:nvSpPr>
        <p:spPr>
          <a:xfrm rot="5400000">
            <a:off x="7269480" y="4663440"/>
            <a:ext cx="146304" cy="146304"/>
          </a:xfrm>
          <a:prstGeom prst="triangle">
            <a:avLst/>
          </a:prstGeom>
          <a:solidFill>
            <a:srgbClr val="FFB547"/>
          </a:solidFill>
          <a:ln w="12700">
            <a:solidFill>
              <a:srgbClr val="FFB547"/>
            </a:solidFill>
            <a:prstDash val="solid"/>
          </a:ln>
        </p:spPr>
      </p:sp>
      <p:sp>
        <p:nvSpPr>
          <p:cNvPr id="32" name="Text 30"/>
          <p:cNvSpPr/>
          <p:nvPr/>
        </p:nvSpPr>
        <p:spPr>
          <a:xfrm>
            <a:off x="7452360" y="4471416"/>
            <a:ext cx="2478024" cy="530352"/>
          </a:xfrm>
          <a:prstGeom prst="roundRect">
            <a:avLst>
              <a:gd name="adj" fmla="val 12069"/>
            </a:avLst>
          </a:prstGeom>
          <a:solidFill>
            <a:srgbClr val="17224C"/>
          </a:solidFill>
          <a:ln w="12700">
            <a:solidFill>
              <a:srgbClr val="3BE8B0"/>
            </a:solidFill>
          </a:ln>
        </p:spPr>
        <p:txBody>
          <a:bodyPr wrap="square" lIns="38100" tIns="38100" rIns="38100" bIns="38100" rtlCol="0" anchor="ctr"/>
          <a:lstStyle/>
          <a:p>
            <a:pPr algn="l" indent="0" marL="0">
              <a:buNone/>
            </a:pPr>
            <a:r>
              <a:rPr lang="en-US" sz="1150" b="1" dirty="0">
                <a:solidFill>
                  <a:srgbClr val="3BE8B0"/>
                </a:solidFill>
                <a:latin typeface="Calibri" pitchFamily="34" charset="0"/>
                <a:ea typeface="Calibri" pitchFamily="34" charset="-122"/>
                <a:cs typeface="Calibri" pitchFamily="34" charset="-120"/>
              </a:rPr>
              <a:t>AES-256-GCM</a:t>
            </a:r>
            <a:endParaRPr lang="en-US" sz="1150" dirty="0"/>
          </a:p>
        </p:txBody>
      </p:sp>
      <p:sp>
        <p:nvSpPr>
          <p:cNvPr id="33" name="Text 31"/>
          <p:cNvSpPr/>
          <p:nvPr/>
        </p:nvSpPr>
        <p:spPr>
          <a:xfrm>
            <a:off x="10021824" y="4471416"/>
            <a:ext cx="1600200" cy="530352"/>
          </a:xfrm>
          <a:prstGeom prst="rect">
            <a:avLst/>
          </a:prstGeom>
          <a:noFill/>
          <a:ln/>
        </p:spPr>
        <p:txBody>
          <a:bodyPr wrap="square" lIns="0" tIns="0" rIns="0" bIns="0" rtlCol="0" anchor="ctr"/>
          <a:lstStyle/>
          <a:p>
            <a:pPr indent="0" marL="0">
              <a:buNone/>
            </a:pPr>
            <a:r>
              <a:rPr lang="en-US" sz="1000" dirty="0">
                <a:solidFill>
                  <a:srgbClr val="6B7AA8"/>
                </a:solidFill>
                <a:latin typeface="Calibri" pitchFamily="34" charset="0"/>
                <a:ea typeface="Calibri" pitchFamily="34" charset="-122"/>
                <a:cs typeface="Calibri" pitchFamily="34" charset="-120"/>
              </a:rPr>
              <a:t>Grover margin</a:t>
            </a:r>
            <a:endParaRPr lang="en-US" sz="1000" dirty="0"/>
          </a:p>
        </p:txBody>
      </p:sp>
      <p:sp>
        <p:nvSpPr>
          <p:cNvPr id="34" name="Text 32"/>
          <p:cNvSpPr/>
          <p:nvPr/>
        </p:nvSpPr>
        <p:spPr>
          <a:xfrm>
            <a:off x="704088" y="5084064"/>
            <a:ext cx="3383280" cy="530352"/>
          </a:xfrm>
          <a:prstGeom prst="roundRect">
            <a:avLst>
              <a:gd name="adj" fmla="val 12069"/>
            </a:avLst>
          </a:prstGeom>
          <a:solidFill>
            <a:srgbClr val="111A3D"/>
          </a:solidFill>
          <a:ln w="12700">
            <a:solidFill>
              <a:srgbClr val="2A3667"/>
            </a:solidFill>
          </a:ln>
        </p:spPr>
        <p:txBody>
          <a:bodyPr wrap="square" lIns="38100" tIns="38100" rIns="38100" bIns="381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Embedded secrets  ·  17 findings</a:t>
            </a:r>
            <a:endParaRPr lang="en-US" sz="1150" dirty="0"/>
          </a:p>
        </p:txBody>
      </p:sp>
      <p:sp>
        <p:nvSpPr>
          <p:cNvPr id="35" name="Shape 33"/>
          <p:cNvSpPr/>
          <p:nvPr/>
        </p:nvSpPr>
        <p:spPr>
          <a:xfrm>
            <a:off x="4087368" y="5349240"/>
            <a:ext cx="3364992" cy="0"/>
          </a:xfrm>
          <a:prstGeom prst="line">
            <a:avLst/>
          </a:prstGeom>
          <a:noFill/>
          <a:ln w="15875">
            <a:solidFill>
              <a:srgbClr val="9B8CFA"/>
            </a:solidFill>
            <a:prstDash val="dash"/>
          </a:ln>
        </p:spPr>
      </p:sp>
      <p:sp>
        <p:nvSpPr>
          <p:cNvPr id="36" name="Shape 34"/>
          <p:cNvSpPr/>
          <p:nvPr/>
        </p:nvSpPr>
        <p:spPr>
          <a:xfrm rot="5400000">
            <a:off x="7269480" y="5276088"/>
            <a:ext cx="146304" cy="146304"/>
          </a:xfrm>
          <a:prstGeom prst="triangle">
            <a:avLst/>
          </a:prstGeom>
          <a:solidFill>
            <a:srgbClr val="9B8CFA"/>
          </a:solidFill>
          <a:ln w="12700">
            <a:solidFill>
              <a:srgbClr val="9B8CFA"/>
            </a:solidFill>
            <a:prstDash val="solid"/>
          </a:ln>
        </p:spPr>
      </p:sp>
      <p:sp>
        <p:nvSpPr>
          <p:cNvPr id="37" name="Text 35"/>
          <p:cNvSpPr/>
          <p:nvPr/>
        </p:nvSpPr>
        <p:spPr>
          <a:xfrm>
            <a:off x="7452360" y="5084064"/>
            <a:ext cx="2478024" cy="530352"/>
          </a:xfrm>
          <a:prstGeom prst="roundRect">
            <a:avLst>
              <a:gd name="adj" fmla="val 12069"/>
            </a:avLst>
          </a:prstGeom>
          <a:solidFill>
            <a:srgbClr val="17224C"/>
          </a:solidFill>
          <a:ln w="12700">
            <a:solidFill>
              <a:srgbClr val="3BE8B0"/>
            </a:solidFill>
          </a:ln>
        </p:spPr>
        <p:txBody>
          <a:bodyPr wrap="square" lIns="38100" tIns="38100" rIns="38100" bIns="38100" rtlCol="0" anchor="ctr"/>
          <a:lstStyle/>
          <a:p>
            <a:pPr algn="l" indent="0" marL="0">
              <a:buNone/>
            </a:pPr>
            <a:r>
              <a:rPr lang="en-US" sz="1150" b="1" dirty="0">
                <a:solidFill>
                  <a:srgbClr val="3BE8B0"/>
                </a:solidFill>
                <a:latin typeface="Calibri" pitchFamily="34" charset="0"/>
                <a:ea typeface="Calibri" pitchFamily="34" charset="-122"/>
                <a:cs typeface="Calibri" pitchFamily="34" charset="-120"/>
              </a:rPr>
              <a:t>Managed secret store</a:t>
            </a:r>
            <a:endParaRPr lang="en-US" sz="1150" dirty="0"/>
          </a:p>
        </p:txBody>
      </p:sp>
      <p:sp>
        <p:nvSpPr>
          <p:cNvPr id="38" name="Text 36"/>
          <p:cNvSpPr/>
          <p:nvPr/>
        </p:nvSpPr>
        <p:spPr>
          <a:xfrm>
            <a:off x="10021824" y="5084064"/>
            <a:ext cx="1600200" cy="530352"/>
          </a:xfrm>
          <a:prstGeom prst="rect">
            <a:avLst/>
          </a:prstGeom>
          <a:noFill/>
          <a:ln/>
        </p:spPr>
        <p:txBody>
          <a:bodyPr wrap="square" lIns="0" tIns="0" rIns="0" bIns="0" rtlCol="0" anchor="ctr"/>
          <a:lstStyle/>
          <a:p>
            <a:pPr indent="0" marL="0">
              <a:buNone/>
            </a:pPr>
            <a:r>
              <a:rPr lang="en-US" sz="1000" dirty="0">
                <a:solidFill>
                  <a:srgbClr val="6B7AA8"/>
                </a:solidFill>
                <a:latin typeface="Calibri" pitchFamily="34" charset="0"/>
                <a:ea typeface="Calibri" pitchFamily="34" charset="-122"/>
                <a:cs typeface="Calibri" pitchFamily="34" charset="-120"/>
              </a:rPr>
              <a:t>Key hygiene</a:t>
            </a:r>
            <a:endParaRPr lang="en-US" sz="1000" dirty="0"/>
          </a:p>
        </p:txBody>
      </p:sp>
      <p:sp>
        <p:nvSpPr>
          <p:cNvPr id="39" name="Shape 37"/>
          <p:cNvSpPr/>
          <p:nvPr/>
        </p:nvSpPr>
        <p:spPr>
          <a:xfrm>
            <a:off x="566928" y="5705856"/>
            <a:ext cx="11055096" cy="585216"/>
          </a:xfrm>
          <a:prstGeom prst="roundRect">
            <a:avLst>
              <a:gd name="adj" fmla="val 18750"/>
            </a:avLst>
          </a:prstGeom>
          <a:solidFill>
            <a:srgbClr val="17224C"/>
          </a:solidFill>
          <a:ln w="12700">
            <a:solidFill>
              <a:srgbClr val="2A3667"/>
            </a:solidFill>
            <a:prstDash val="solid"/>
          </a:ln>
        </p:spPr>
      </p:sp>
      <p:sp>
        <p:nvSpPr>
          <p:cNvPr id="40" name="Text 38"/>
          <p:cNvSpPr/>
          <p:nvPr/>
        </p:nvSpPr>
        <p:spPr>
          <a:xfrm>
            <a:off x="841248" y="5705856"/>
            <a:ext cx="10506456" cy="585216"/>
          </a:xfrm>
          <a:prstGeom prst="rect">
            <a:avLst/>
          </a:prstGeom>
          <a:noFill/>
          <a:ln/>
        </p:spPr>
        <p:txBody>
          <a:bodyPr wrap="square" lIns="0" tIns="0" rIns="0" bIns="0" rtlCol="0" anchor="ctr"/>
          <a:lstStyle/>
          <a:p>
            <a:pPr indent="0" marL="0">
              <a:buNone/>
            </a:pPr>
            <a:r>
              <a:rPr lang="en-US" sz="1200" dirty="0">
                <a:solidFill>
                  <a:srgbClr val="9AA7D0"/>
                </a:solidFill>
                <a:latin typeface="Calibri" pitchFamily="34" charset="0"/>
                <a:ea typeface="Calibri" pitchFamily="34" charset="-122"/>
                <a:cs typeface="Calibri" pitchFamily="34" charset="-120"/>
              </a:rPr>
              <a:t>Targets are drawn from FIPS 203 (ML-KEM), FIPS 204 (ML-DSA) and FIPS 205 (SLH-DSA) — the finalized NIST standards.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 phased, costed roadmap — generated, not written</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28.5 person-days across 3 weeks with 2 engineers. Every phase carries effort, rollback and risk reduction.</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4041648" y="1801368"/>
            <a:ext cx="2526792" cy="237744"/>
          </a:xfrm>
          <a:prstGeom prst="rect">
            <a:avLst/>
          </a:prstGeom>
          <a:noFill/>
          <a:ln/>
        </p:spPr>
        <p:txBody>
          <a:bodyPr wrap="square" lIns="0" tIns="0" rIns="0" bIns="0" rtlCol="0" anchor="t"/>
          <a:lstStyle/>
          <a:p>
            <a:pPr algn="ctr" indent="0" marL="0">
              <a:buNone/>
            </a:pPr>
            <a:r>
              <a:rPr lang="en-US" sz="950" b="1" spc="140" kern="0" dirty="0">
                <a:solidFill>
                  <a:srgbClr val="6B7AA8"/>
                </a:solidFill>
                <a:latin typeface="Calibri" pitchFamily="34" charset="0"/>
                <a:ea typeface="Calibri" pitchFamily="34" charset="-122"/>
                <a:cs typeface="Calibri" pitchFamily="34" charset="-120"/>
              </a:rPr>
              <a:t>WEEK 1</a:t>
            </a:r>
            <a:endParaRPr lang="en-US" sz="950" dirty="0"/>
          </a:p>
        </p:txBody>
      </p:sp>
      <p:sp>
        <p:nvSpPr>
          <p:cNvPr id="8" name="Text 6"/>
          <p:cNvSpPr/>
          <p:nvPr/>
        </p:nvSpPr>
        <p:spPr>
          <a:xfrm>
            <a:off x="6568440" y="1801368"/>
            <a:ext cx="2526792" cy="237744"/>
          </a:xfrm>
          <a:prstGeom prst="rect">
            <a:avLst/>
          </a:prstGeom>
          <a:noFill/>
          <a:ln/>
        </p:spPr>
        <p:txBody>
          <a:bodyPr wrap="square" lIns="0" tIns="0" rIns="0" bIns="0" rtlCol="0" anchor="t"/>
          <a:lstStyle/>
          <a:p>
            <a:pPr algn="ctr" indent="0" marL="0">
              <a:buNone/>
            </a:pPr>
            <a:r>
              <a:rPr lang="en-US" sz="950" b="1" spc="140" kern="0" dirty="0">
                <a:solidFill>
                  <a:srgbClr val="6B7AA8"/>
                </a:solidFill>
                <a:latin typeface="Calibri" pitchFamily="34" charset="0"/>
                <a:ea typeface="Calibri" pitchFamily="34" charset="-122"/>
                <a:cs typeface="Calibri" pitchFamily="34" charset="-120"/>
              </a:rPr>
              <a:t>WEEK 2</a:t>
            </a:r>
            <a:endParaRPr lang="en-US" sz="950" dirty="0"/>
          </a:p>
        </p:txBody>
      </p:sp>
      <p:sp>
        <p:nvSpPr>
          <p:cNvPr id="9" name="Shape 7"/>
          <p:cNvSpPr/>
          <p:nvPr/>
        </p:nvSpPr>
        <p:spPr>
          <a:xfrm>
            <a:off x="6568440" y="2075688"/>
            <a:ext cx="0" cy="2798064"/>
          </a:xfrm>
          <a:prstGeom prst="line">
            <a:avLst/>
          </a:prstGeom>
          <a:noFill/>
          <a:ln w="12700">
            <a:solidFill>
              <a:srgbClr val="2A3667"/>
            </a:solidFill>
            <a:prstDash val="dash"/>
          </a:ln>
        </p:spPr>
      </p:sp>
      <p:sp>
        <p:nvSpPr>
          <p:cNvPr id="10" name="Text 8"/>
          <p:cNvSpPr/>
          <p:nvPr/>
        </p:nvSpPr>
        <p:spPr>
          <a:xfrm>
            <a:off x="9095232" y="1801368"/>
            <a:ext cx="2526792" cy="237744"/>
          </a:xfrm>
          <a:prstGeom prst="rect">
            <a:avLst/>
          </a:prstGeom>
          <a:noFill/>
          <a:ln/>
        </p:spPr>
        <p:txBody>
          <a:bodyPr wrap="square" lIns="0" tIns="0" rIns="0" bIns="0" rtlCol="0" anchor="t"/>
          <a:lstStyle/>
          <a:p>
            <a:pPr algn="ctr" indent="0" marL="0">
              <a:buNone/>
            </a:pPr>
            <a:r>
              <a:rPr lang="en-US" sz="950" b="1" spc="140" kern="0" dirty="0">
                <a:solidFill>
                  <a:srgbClr val="6B7AA8"/>
                </a:solidFill>
                <a:latin typeface="Calibri" pitchFamily="34" charset="0"/>
                <a:ea typeface="Calibri" pitchFamily="34" charset="-122"/>
                <a:cs typeface="Calibri" pitchFamily="34" charset="-120"/>
              </a:rPr>
              <a:t>WEEK 3</a:t>
            </a:r>
            <a:endParaRPr lang="en-US" sz="950" dirty="0"/>
          </a:p>
        </p:txBody>
      </p:sp>
      <p:sp>
        <p:nvSpPr>
          <p:cNvPr id="11" name="Shape 9"/>
          <p:cNvSpPr/>
          <p:nvPr/>
        </p:nvSpPr>
        <p:spPr>
          <a:xfrm>
            <a:off x="9095232" y="2075688"/>
            <a:ext cx="0" cy="2798064"/>
          </a:xfrm>
          <a:prstGeom prst="line">
            <a:avLst/>
          </a:prstGeom>
          <a:noFill/>
          <a:ln w="12700">
            <a:solidFill>
              <a:srgbClr val="2A3667"/>
            </a:solidFill>
            <a:prstDash val="dash"/>
          </a:ln>
        </p:spPr>
      </p:sp>
      <p:sp>
        <p:nvSpPr>
          <p:cNvPr id="12" name="Text 10"/>
          <p:cNvSpPr/>
          <p:nvPr/>
        </p:nvSpPr>
        <p:spPr>
          <a:xfrm>
            <a:off x="566928" y="2313432"/>
            <a:ext cx="384048" cy="384048"/>
          </a:xfrm>
          <a:prstGeom prst="ellipse">
            <a:avLst/>
          </a:prstGeom>
          <a:solidFill>
            <a:srgbClr val="3BE8B0"/>
          </a:solidFill>
          <a:ln>
            <a:solidFill>
              <a:srgbClr val="3BE8B0"/>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1</a:t>
            </a:r>
            <a:endParaRPr lang="en-US" sz="1300" dirty="0"/>
          </a:p>
        </p:txBody>
      </p:sp>
      <p:sp>
        <p:nvSpPr>
          <p:cNvPr id="13" name="Text 11"/>
          <p:cNvSpPr/>
          <p:nvPr/>
        </p:nvSpPr>
        <p:spPr>
          <a:xfrm>
            <a:off x="1097280" y="2258568"/>
            <a:ext cx="2670048" cy="29260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Immediate Remediation</a:t>
            </a:r>
            <a:endParaRPr lang="en-US" sz="1300" dirty="0"/>
          </a:p>
        </p:txBody>
      </p:sp>
      <p:sp>
        <p:nvSpPr>
          <p:cNvPr id="14" name="Text 12"/>
          <p:cNvSpPr/>
          <p:nvPr/>
        </p:nvSpPr>
        <p:spPr>
          <a:xfrm>
            <a:off x="1097280" y="2551176"/>
            <a:ext cx="2670048" cy="274320"/>
          </a:xfrm>
          <a:prstGeom prst="rect">
            <a:avLst/>
          </a:prstGeom>
          <a:noFill/>
          <a:ln/>
        </p:spPr>
        <p:txBody>
          <a:bodyPr wrap="square" lIns="0" tIns="0" rIns="0" bIns="0" rtlCol="0" anchor="t"/>
          <a:lstStyle/>
          <a:p>
            <a:pPr indent="0" marL="0">
              <a:buNone/>
            </a:pPr>
            <a:r>
              <a:rPr lang="en-US" sz="1050" dirty="0">
                <a:solidFill>
                  <a:srgbClr val="9AA7D0"/>
                </a:solidFill>
                <a:latin typeface="Calibri" pitchFamily="34" charset="0"/>
                <a:ea typeface="Calibri" pitchFamily="34" charset="-122"/>
                <a:cs typeface="Calibri" pitchFamily="34" charset="-120"/>
              </a:rPr>
              <a:t>Eliminate classically-broken crypto</a:t>
            </a:r>
            <a:endParaRPr lang="en-US" sz="1050" dirty="0"/>
          </a:p>
        </p:txBody>
      </p:sp>
      <p:sp>
        <p:nvSpPr>
          <p:cNvPr id="15" name="Shape 13"/>
          <p:cNvSpPr/>
          <p:nvPr/>
        </p:nvSpPr>
        <p:spPr>
          <a:xfrm>
            <a:off x="4096512" y="2130552"/>
            <a:ext cx="2417064" cy="786384"/>
          </a:xfrm>
          <a:prstGeom prst="roundRect">
            <a:avLst>
              <a:gd name="adj" fmla="val 11628"/>
            </a:avLst>
          </a:prstGeom>
          <a:solidFill>
            <a:srgbClr val="3BE8B0">
              <a:alpha val="18000"/>
            </a:srgbClr>
          </a:solidFill>
          <a:ln w="15875">
            <a:solidFill>
              <a:srgbClr val="3BE8B0"/>
            </a:solidFill>
            <a:prstDash val="solid"/>
          </a:ln>
        </p:spPr>
      </p:sp>
      <p:sp>
        <p:nvSpPr>
          <p:cNvPr id="16" name="Text 14"/>
          <p:cNvSpPr/>
          <p:nvPr/>
        </p:nvSpPr>
        <p:spPr>
          <a:xfrm>
            <a:off x="4297680" y="2276856"/>
            <a:ext cx="1182624"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3.5 person-days</a:t>
            </a:r>
            <a:endParaRPr lang="en-US" sz="1250" dirty="0"/>
          </a:p>
        </p:txBody>
      </p:sp>
      <p:sp>
        <p:nvSpPr>
          <p:cNvPr id="17" name="Text 15"/>
          <p:cNvSpPr/>
          <p:nvPr/>
        </p:nvSpPr>
        <p:spPr>
          <a:xfrm>
            <a:off x="5462016" y="2276856"/>
            <a:ext cx="868680" cy="274320"/>
          </a:xfrm>
          <a:prstGeom prst="rect">
            <a:avLst/>
          </a:prstGeom>
          <a:noFill/>
          <a:ln/>
        </p:spPr>
        <p:txBody>
          <a:bodyPr wrap="square" lIns="0" tIns="0" rIns="0" bIns="0" rtlCol="0" anchor="t"/>
          <a:lstStyle/>
          <a:p>
            <a:pPr algn="r" indent="0" marL="0">
              <a:buNone/>
            </a:pPr>
            <a:r>
              <a:rPr lang="en-US" sz="1200" b="1" dirty="0">
                <a:solidFill>
                  <a:srgbClr val="3BE8B0"/>
                </a:solidFill>
                <a:latin typeface="Calibri" pitchFamily="34" charset="0"/>
                <a:ea typeface="Calibri" pitchFamily="34" charset="-122"/>
                <a:cs typeface="Calibri" pitchFamily="34" charset="-120"/>
              </a:rPr>
              <a:t>−28% risk</a:t>
            </a:r>
            <a:endParaRPr lang="en-US" sz="1200" dirty="0"/>
          </a:p>
        </p:txBody>
      </p:sp>
      <p:sp>
        <p:nvSpPr>
          <p:cNvPr id="18" name="Text 16"/>
          <p:cNvSpPr/>
          <p:nvPr/>
        </p:nvSpPr>
        <p:spPr>
          <a:xfrm>
            <a:off x="4297680" y="2606040"/>
            <a:ext cx="2014728" cy="256032"/>
          </a:xfrm>
          <a:prstGeom prst="rect">
            <a:avLst/>
          </a:prstGeom>
          <a:noFill/>
          <a:ln/>
        </p:spPr>
        <p:txBody>
          <a:bodyPr wrap="square" lIns="0" tIns="0" rIns="0" bIns="0" rtlCol="0" anchor="t"/>
          <a:lstStyle/>
          <a:p>
            <a:pPr indent="0" marL="0">
              <a:buNone/>
            </a:pPr>
            <a:r>
              <a:rPr lang="en-US" sz="1000" dirty="0">
                <a:solidFill>
                  <a:srgbClr val="9AA7D0"/>
                </a:solidFill>
                <a:latin typeface="Calibri" pitchFamily="34" charset="0"/>
                <a:ea typeface="Calibri" pitchFamily="34" charset="-122"/>
                <a:cs typeface="Calibri" pitchFamily="34" charset="-120"/>
              </a:rPr>
              <a:t>Low complexity · 95% compatible</a:t>
            </a:r>
            <a:endParaRPr lang="en-US" sz="1000" dirty="0"/>
          </a:p>
        </p:txBody>
      </p:sp>
      <p:sp>
        <p:nvSpPr>
          <p:cNvPr id="19" name="Text 17"/>
          <p:cNvSpPr/>
          <p:nvPr/>
        </p:nvSpPr>
        <p:spPr>
          <a:xfrm>
            <a:off x="566928" y="3319272"/>
            <a:ext cx="384048" cy="384048"/>
          </a:xfrm>
          <a:prstGeom prst="ellipse">
            <a:avLst/>
          </a:prstGeom>
          <a:solidFill>
            <a:srgbClr val="4CC9F0"/>
          </a:solidFill>
          <a:ln>
            <a:solidFill>
              <a:srgbClr val="4CC9F0"/>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2</a:t>
            </a:r>
            <a:endParaRPr lang="en-US" sz="1300" dirty="0"/>
          </a:p>
        </p:txBody>
      </p:sp>
      <p:sp>
        <p:nvSpPr>
          <p:cNvPr id="20" name="Text 18"/>
          <p:cNvSpPr/>
          <p:nvPr/>
        </p:nvSpPr>
        <p:spPr>
          <a:xfrm>
            <a:off x="1097280" y="3264408"/>
            <a:ext cx="2670048" cy="29260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Quantum-Safe Key Establishment</a:t>
            </a:r>
            <a:endParaRPr lang="en-US" sz="1300" dirty="0"/>
          </a:p>
        </p:txBody>
      </p:sp>
      <p:sp>
        <p:nvSpPr>
          <p:cNvPr id="21" name="Text 19"/>
          <p:cNvSpPr/>
          <p:nvPr/>
        </p:nvSpPr>
        <p:spPr>
          <a:xfrm>
            <a:off x="1097280" y="3557016"/>
            <a:ext cx="2670048" cy="274320"/>
          </a:xfrm>
          <a:prstGeom prst="rect">
            <a:avLst/>
          </a:prstGeom>
          <a:noFill/>
          <a:ln/>
        </p:spPr>
        <p:txBody>
          <a:bodyPr wrap="square" lIns="0" tIns="0" rIns="0" bIns="0" rtlCol="0" anchor="t"/>
          <a:lstStyle/>
          <a:p>
            <a:pPr indent="0" marL="0">
              <a:buNone/>
            </a:pPr>
            <a:r>
              <a:rPr lang="en-US" sz="1050" dirty="0">
                <a:solidFill>
                  <a:srgbClr val="9AA7D0"/>
                </a:solidFill>
                <a:latin typeface="Calibri" pitchFamily="34" charset="0"/>
                <a:ea typeface="Calibri" pitchFamily="34" charset="-122"/>
                <a:cs typeface="Calibri" pitchFamily="34" charset="-120"/>
              </a:rPr>
              <a:t>RSA / ECDH → ML-KEM-768</a:t>
            </a:r>
            <a:endParaRPr lang="en-US" sz="1050" dirty="0"/>
          </a:p>
        </p:txBody>
      </p:sp>
      <p:sp>
        <p:nvSpPr>
          <p:cNvPr id="22" name="Shape 20"/>
          <p:cNvSpPr/>
          <p:nvPr/>
        </p:nvSpPr>
        <p:spPr>
          <a:xfrm>
            <a:off x="4096512" y="3136392"/>
            <a:ext cx="2417064" cy="786384"/>
          </a:xfrm>
          <a:prstGeom prst="roundRect">
            <a:avLst>
              <a:gd name="adj" fmla="val 11628"/>
            </a:avLst>
          </a:prstGeom>
          <a:solidFill>
            <a:srgbClr val="4CC9F0">
              <a:alpha val="18000"/>
            </a:srgbClr>
          </a:solidFill>
          <a:ln w="15875">
            <a:solidFill>
              <a:srgbClr val="4CC9F0"/>
            </a:solidFill>
            <a:prstDash val="solid"/>
          </a:ln>
        </p:spPr>
      </p:sp>
      <p:sp>
        <p:nvSpPr>
          <p:cNvPr id="23" name="Text 21"/>
          <p:cNvSpPr/>
          <p:nvPr/>
        </p:nvSpPr>
        <p:spPr>
          <a:xfrm>
            <a:off x="4297680" y="3282696"/>
            <a:ext cx="1182624"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9.0 person-days</a:t>
            </a:r>
            <a:endParaRPr lang="en-US" sz="1250" dirty="0"/>
          </a:p>
        </p:txBody>
      </p:sp>
      <p:sp>
        <p:nvSpPr>
          <p:cNvPr id="24" name="Text 22"/>
          <p:cNvSpPr/>
          <p:nvPr/>
        </p:nvSpPr>
        <p:spPr>
          <a:xfrm>
            <a:off x="5462016" y="3282696"/>
            <a:ext cx="868680" cy="274320"/>
          </a:xfrm>
          <a:prstGeom prst="rect">
            <a:avLst/>
          </a:prstGeom>
          <a:noFill/>
          <a:ln/>
        </p:spPr>
        <p:txBody>
          <a:bodyPr wrap="square" lIns="0" tIns="0" rIns="0" bIns="0" rtlCol="0" anchor="t"/>
          <a:lstStyle/>
          <a:p>
            <a:pPr algn="r" indent="0" marL="0">
              <a:buNone/>
            </a:pPr>
            <a:r>
              <a:rPr lang="en-US" sz="1200" b="1" dirty="0">
                <a:solidFill>
                  <a:srgbClr val="4CC9F0"/>
                </a:solidFill>
                <a:latin typeface="Calibri" pitchFamily="34" charset="0"/>
                <a:ea typeface="Calibri" pitchFamily="34" charset="-122"/>
                <a:cs typeface="Calibri" pitchFamily="34" charset="-120"/>
              </a:rPr>
              <a:t>−24% risk</a:t>
            </a:r>
            <a:endParaRPr lang="en-US" sz="1200" dirty="0"/>
          </a:p>
        </p:txBody>
      </p:sp>
      <p:sp>
        <p:nvSpPr>
          <p:cNvPr id="25" name="Text 23"/>
          <p:cNvSpPr/>
          <p:nvPr/>
        </p:nvSpPr>
        <p:spPr>
          <a:xfrm>
            <a:off x="4297680" y="3611880"/>
            <a:ext cx="2014728" cy="256032"/>
          </a:xfrm>
          <a:prstGeom prst="rect">
            <a:avLst/>
          </a:prstGeom>
          <a:noFill/>
          <a:ln/>
        </p:spPr>
        <p:txBody>
          <a:bodyPr wrap="square" lIns="0" tIns="0" rIns="0" bIns="0" rtlCol="0" anchor="t"/>
          <a:lstStyle/>
          <a:p>
            <a:pPr indent="0" marL="0">
              <a:buNone/>
            </a:pPr>
            <a:r>
              <a:rPr lang="en-US" sz="1000" dirty="0">
                <a:solidFill>
                  <a:srgbClr val="9AA7D0"/>
                </a:solidFill>
                <a:latin typeface="Calibri" pitchFamily="34" charset="0"/>
                <a:ea typeface="Calibri" pitchFamily="34" charset="-122"/>
                <a:cs typeface="Calibri" pitchFamily="34" charset="-120"/>
              </a:rPr>
              <a:t>High complexity · 70% compatible</a:t>
            </a:r>
            <a:endParaRPr lang="en-US" sz="1000" dirty="0"/>
          </a:p>
        </p:txBody>
      </p:sp>
      <p:sp>
        <p:nvSpPr>
          <p:cNvPr id="26" name="Text 24"/>
          <p:cNvSpPr/>
          <p:nvPr/>
        </p:nvSpPr>
        <p:spPr>
          <a:xfrm>
            <a:off x="566928" y="4325112"/>
            <a:ext cx="384048" cy="384048"/>
          </a:xfrm>
          <a:prstGeom prst="ellipse">
            <a:avLst/>
          </a:prstGeom>
          <a:solidFill>
            <a:srgbClr val="9B8CFA"/>
          </a:solidFill>
          <a:ln>
            <a:solidFill>
              <a:srgbClr val="9B8CFA"/>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3</a:t>
            </a:r>
            <a:endParaRPr lang="en-US" sz="1300" dirty="0"/>
          </a:p>
        </p:txBody>
      </p:sp>
      <p:sp>
        <p:nvSpPr>
          <p:cNvPr id="27" name="Text 25"/>
          <p:cNvSpPr/>
          <p:nvPr/>
        </p:nvSpPr>
        <p:spPr>
          <a:xfrm>
            <a:off x="1097280" y="4270248"/>
            <a:ext cx="2670048" cy="29260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Quantum-Safe Signatures</a:t>
            </a:r>
            <a:endParaRPr lang="en-US" sz="1300" dirty="0"/>
          </a:p>
        </p:txBody>
      </p:sp>
      <p:sp>
        <p:nvSpPr>
          <p:cNvPr id="28" name="Text 26"/>
          <p:cNvSpPr/>
          <p:nvPr/>
        </p:nvSpPr>
        <p:spPr>
          <a:xfrm>
            <a:off x="1097280" y="4562856"/>
            <a:ext cx="2670048" cy="274320"/>
          </a:xfrm>
          <a:prstGeom prst="rect">
            <a:avLst/>
          </a:prstGeom>
          <a:noFill/>
          <a:ln/>
        </p:spPr>
        <p:txBody>
          <a:bodyPr wrap="square" lIns="0" tIns="0" rIns="0" bIns="0" rtlCol="0" anchor="t"/>
          <a:lstStyle/>
          <a:p>
            <a:pPr indent="0" marL="0">
              <a:buNone/>
            </a:pPr>
            <a:r>
              <a:rPr lang="en-US" sz="1050" dirty="0">
                <a:solidFill>
                  <a:srgbClr val="9AA7D0"/>
                </a:solidFill>
                <a:latin typeface="Calibri" pitchFamily="34" charset="0"/>
                <a:ea typeface="Calibri" pitchFamily="34" charset="-122"/>
                <a:cs typeface="Calibri" pitchFamily="34" charset="-120"/>
              </a:rPr>
              <a:t>RSA / ECDSA / EdDSA → ML-DSA-65</a:t>
            </a:r>
            <a:endParaRPr lang="en-US" sz="1050" dirty="0"/>
          </a:p>
        </p:txBody>
      </p:sp>
      <p:sp>
        <p:nvSpPr>
          <p:cNvPr id="29" name="Shape 27"/>
          <p:cNvSpPr/>
          <p:nvPr/>
        </p:nvSpPr>
        <p:spPr>
          <a:xfrm>
            <a:off x="6623304" y="4142232"/>
            <a:ext cx="4943856" cy="786384"/>
          </a:xfrm>
          <a:prstGeom prst="roundRect">
            <a:avLst>
              <a:gd name="adj" fmla="val 11628"/>
            </a:avLst>
          </a:prstGeom>
          <a:solidFill>
            <a:srgbClr val="9B8CFA">
              <a:alpha val="18000"/>
            </a:srgbClr>
          </a:solidFill>
          <a:ln w="15875">
            <a:solidFill>
              <a:srgbClr val="9B8CFA"/>
            </a:solidFill>
            <a:prstDash val="solid"/>
          </a:ln>
        </p:spPr>
      </p:sp>
      <p:sp>
        <p:nvSpPr>
          <p:cNvPr id="30" name="Text 28"/>
          <p:cNvSpPr/>
          <p:nvPr/>
        </p:nvSpPr>
        <p:spPr>
          <a:xfrm>
            <a:off x="6824472" y="4288536"/>
            <a:ext cx="3709416"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16.0 person-days</a:t>
            </a:r>
            <a:endParaRPr lang="en-US" sz="1250" dirty="0"/>
          </a:p>
        </p:txBody>
      </p:sp>
      <p:sp>
        <p:nvSpPr>
          <p:cNvPr id="31" name="Text 29"/>
          <p:cNvSpPr/>
          <p:nvPr/>
        </p:nvSpPr>
        <p:spPr>
          <a:xfrm>
            <a:off x="10515600" y="4288536"/>
            <a:ext cx="868680" cy="274320"/>
          </a:xfrm>
          <a:prstGeom prst="rect">
            <a:avLst/>
          </a:prstGeom>
          <a:noFill/>
          <a:ln/>
        </p:spPr>
        <p:txBody>
          <a:bodyPr wrap="square" lIns="0" tIns="0" rIns="0" bIns="0" rtlCol="0" anchor="t"/>
          <a:lstStyle/>
          <a:p>
            <a:pPr algn="r" indent="0" marL="0">
              <a:buNone/>
            </a:pPr>
            <a:r>
              <a:rPr lang="en-US" sz="1200" b="1" dirty="0">
                <a:solidFill>
                  <a:srgbClr val="9B8CFA"/>
                </a:solidFill>
                <a:latin typeface="Calibri" pitchFamily="34" charset="0"/>
                <a:ea typeface="Calibri" pitchFamily="34" charset="-122"/>
                <a:cs typeface="Calibri" pitchFamily="34" charset="-120"/>
              </a:rPr>
              <a:t>−48% risk</a:t>
            </a:r>
            <a:endParaRPr lang="en-US" sz="1200" dirty="0"/>
          </a:p>
        </p:txBody>
      </p:sp>
      <p:sp>
        <p:nvSpPr>
          <p:cNvPr id="32" name="Text 30"/>
          <p:cNvSpPr/>
          <p:nvPr/>
        </p:nvSpPr>
        <p:spPr>
          <a:xfrm>
            <a:off x="6824472" y="4617720"/>
            <a:ext cx="4541520" cy="256032"/>
          </a:xfrm>
          <a:prstGeom prst="rect">
            <a:avLst/>
          </a:prstGeom>
          <a:noFill/>
          <a:ln/>
        </p:spPr>
        <p:txBody>
          <a:bodyPr wrap="square" lIns="0" tIns="0" rIns="0" bIns="0" rtlCol="0" anchor="t"/>
          <a:lstStyle/>
          <a:p>
            <a:pPr indent="0" marL="0">
              <a:buNone/>
            </a:pPr>
            <a:r>
              <a:rPr lang="en-US" sz="1000" dirty="0">
                <a:solidFill>
                  <a:srgbClr val="9AA7D0"/>
                </a:solidFill>
                <a:latin typeface="Calibri" pitchFamily="34" charset="0"/>
                <a:ea typeface="Calibri" pitchFamily="34" charset="-122"/>
                <a:cs typeface="Calibri" pitchFamily="34" charset="-120"/>
              </a:rPr>
              <a:t>High complexity · 65% compatible</a:t>
            </a:r>
            <a:endParaRPr lang="en-US" sz="1000" dirty="0"/>
          </a:p>
        </p:txBody>
      </p:sp>
      <p:sp>
        <p:nvSpPr>
          <p:cNvPr id="33" name="Shape 31"/>
          <p:cNvSpPr/>
          <p:nvPr/>
        </p:nvSpPr>
        <p:spPr>
          <a:xfrm>
            <a:off x="566928" y="5184648"/>
            <a:ext cx="11055096" cy="969264"/>
          </a:xfrm>
          <a:prstGeom prst="roundRect">
            <a:avLst>
              <a:gd name="adj" fmla="val 11321"/>
            </a:avLst>
          </a:prstGeom>
          <a:solidFill>
            <a:srgbClr val="17224C"/>
          </a:solidFill>
          <a:ln w="12700">
            <a:solidFill>
              <a:srgbClr val="FFB547"/>
            </a:solidFill>
            <a:prstDash val="solid"/>
          </a:ln>
        </p:spPr>
      </p:sp>
      <p:sp>
        <p:nvSpPr>
          <p:cNvPr id="34" name="Text 32"/>
          <p:cNvSpPr/>
          <p:nvPr/>
        </p:nvSpPr>
        <p:spPr>
          <a:xfrm>
            <a:off x="822960" y="5468112"/>
            <a:ext cx="402336" cy="402336"/>
          </a:xfrm>
          <a:prstGeom prst="ellipse">
            <a:avLst/>
          </a:prstGeom>
          <a:solidFill>
            <a:srgbClr val="FFB547"/>
          </a:solidFill>
          <a:ln>
            <a:solidFill>
              <a:srgbClr val="FFB547"/>
            </a:solidFill>
          </a:ln>
        </p:spPr>
        <p:txBody>
          <a:bodyPr wrap="square" lIns="0" tIns="0" rIns="0" bIns="0" rtlCol="0" anchor="ctr"/>
          <a:lstStyle/>
          <a:p>
            <a:pPr algn="ctr" indent="0" marL="0">
              <a:buNone/>
            </a:pPr>
            <a:r>
              <a:rPr lang="en-US" sz="1500" b="1" dirty="0">
                <a:solidFill>
                  <a:srgbClr val="070C24"/>
                </a:solidFill>
                <a:latin typeface="Calibri" pitchFamily="34" charset="0"/>
                <a:ea typeface="Calibri" pitchFamily="34" charset="-122"/>
                <a:cs typeface="Calibri" pitchFamily="34" charset="-120"/>
              </a:rPr>
              <a:t>!</a:t>
            </a:r>
            <a:endParaRPr lang="en-US" sz="1500" dirty="0"/>
          </a:p>
        </p:txBody>
      </p:sp>
      <p:sp>
        <p:nvSpPr>
          <p:cNvPr id="35" name="Text 33"/>
          <p:cNvSpPr/>
          <p:nvPr/>
        </p:nvSpPr>
        <p:spPr>
          <a:xfrm>
            <a:off x="1371600" y="5349240"/>
            <a:ext cx="9957816"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Why key establishment is scheduled early, despite costing 9 person-days</a:t>
            </a:r>
            <a:endParaRPr lang="en-US" sz="1250" dirty="0"/>
          </a:p>
        </p:txBody>
      </p:sp>
      <p:sp>
        <p:nvSpPr>
          <p:cNvPr id="36" name="Text 34"/>
          <p:cNvSpPr/>
          <p:nvPr/>
        </p:nvSpPr>
        <p:spPr>
          <a:xfrm>
            <a:off x="1371600" y="5660136"/>
            <a:ext cx="9957816" cy="402336"/>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Encrypted data captured today can be decrypted once quantum hardware matures. Signatures can be migrated later — confidentiality cannot be migrated retroactively.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BEFORE YOU MIGRATE</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Impact modeled from real FIPS algorithm sizes</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PQC is not a drop-in swap. QuantumShield quantifies the cost before a single line changes.</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566928" y="1828800"/>
            <a:ext cx="6035040" cy="3364992"/>
          </a:xfrm>
          <a:prstGeom prst="roundRect">
            <a:avLst>
              <a:gd name="adj" fmla="val 3261"/>
            </a:avLst>
          </a:prstGeom>
          <a:solidFill>
            <a:srgbClr val="111A3D"/>
          </a:solidFill>
          <a:ln w="12700">
            <a:solidFill>
              <a:srgbClr val="2A3667"/>
            </a:solidFill>
            <a:prstDash val="solid"/>
          </a:ln>
        </p:spPr>
      </p:sp>
      <p:sp>
        <p:nvSpPr>
          <p:cNvPr id="8" name="Text 6"/>
          <p:cNvSpPr/>
          <p:nvPr/>
        </p:nvSpPr>
        <p:spPr>
          <a:xfrm>
            <a:off x="804672" y="2011680"/>
            <a:ext cx="5577840" cy="237744"/>
          </a:xfrm>
          <a:prstGeom prst="rect">
            <a:avLst/>
          </a:prstGeom>
          <a:noFill/>
          <a:ln/>
        </p:spPr>
        <p:txBody>
          <a:bodyPr wrap="square" lIns="0" tIns="0" rIns="0" bIns="0" rtlCol="0" anchor="t"/>
          <a:lstStyle/>
          <a:p>
            <a:pPr indent="0" marL="0">
              <a:buNone/>
            </a:pPr>
            <a:r>
              <a:rPr lang="en-US" sz="950" b="1" spc="140" kern="0" dirty="0">
                <a:solidFill>
                  <a:srgbClr val="9AA7D0"/>
                </a:solidFill>
                <a:latin typeface="Calibri" pitchFamily="34" charset="0"/>
                <a:ea typeface="Calibri" pitchFamily="34" charset="-122"/>
                <a:cs typeface="Calibri" pitchFamily="34" charset="-120"/>
              </a:rPr>
              <a:t>CRYPTOGRAPHIC MATERIAL GROWTH  ·  BYTES</a:t>
            </a:r>
            <a:endParaRPr lang="en-US" sz="950" dirty="0"/>
          </a:p>
        </p:txBody>
      </p:sp>
      <p:graphicFrame>
        <p:nvGraphicFramePr>
          <p:cNvPr id="9" name="Chart 0" descr=""/>
          <p:cNvGraphicFramePr/>
          <p:nvPr/>
        </p:nvGraphicFramePr>
        <p:xfrm>
          <a:off x="676656" y="2304288"/>
          <a:ext cx="5779008" cy="27432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848856" y="1828800"/>
            <a:ext cx="4773168" cy="745236"/>
          </a:xfrm>
          <a:prstGeom prst="roundRect">
            <a:avLst>
              <a:gd name="adj" fmla="val 14724"/>
            </a:avLst>
          </a:prstGeom>
          <a:solidFill>
            <a:srgbClr val="111A3D"/>
          </a:solidFill>
          <a:ln w="12700">
            <a:solidFill>
              <a:srgbClr val="2A3667"/>
            </a:solidFill>
            <a:prstDash val="solid"/>
          </a:ln>
        </p:spPr>
      </p:sp>
      <p:sp>
        <p:nvSpPr>
          <p:cNvPr id="11" name="Text 8"/>
          <p:cNvSpPr/>
          <p:nvPr/>
        </p:nvSpPr>
        <p:spPr>
          <a:xfrm>
            <a:off x="7068312" y="1938528"/>
            <a:ext cx="4334256" cy="310896"/>
          </a:xfrm>
          <a:prstGeom prst="rect">
            <a:avLst/>
          </a:prstGeom>
          <a:noFill/>
          <a:ln/>
        </p:spPr>
        <p:txBody>
          <a:bodyPr wrap="square" lIns="0" tIns="0" rIns="0" bIns="0" rtlCol="0" anchor="t"/>
          <a:lstStyle/>
          <a:p>
            <a:pPr indent="0" marL="0">
              <a:buNone/>
            </a:pPr>
            <a:r>
              <a:rPr lang="en-US" sz="2200" b="1" dirty="0">
                <a:solidFill>
                  <a:srgbClr val="FF5C7A"/>
                </a:solidFill>
                <a:latin typeface="Calibri" pitchFamily="34" charset="0"/>
                <a:ea typeface="Calibri" pitchFamily="34" charset="-122"/>
                <a:cs typeface="Calibri" pitchFamily="34" charset="-120"/>
              </a:rPr>
              <a:t>+3,219%</a:t>
            </a:r>
            <a:endParaRPr lang="en-US" sz="2200" dirty="0"/>
          </a:p>
        </p:txBody>
      </p:sp>
      <p:sp>
        <p:nvSpPr>
          <p:cNvPr id="12" name="Text 9"/>
          <p:cNvSpPr/>
          <p:nvPr/>
        </p:nvSpPr>
        <p:spPr>
          <a:xfrm>
            <a:off x="7068312" y="2249424"/>
            <a:ext cx="4334256" cy="182880"/>
          </a:xfrm>
          <a:prstGeom prst="rect">
            <a:avLst/>
          </a:prstGeom>
          <a:noFill/>
          <a:ln/>
        </p:spPr>
        <p:txBody>
          <a:bodyPr wrap="square" lIns="0" tIns="0" rIns="0" bIns="0" rtlCol="0" anchor="t"/>
          <a:lstStyle/>
          <a:p>
            <a:pPr indent="0" marL="0">
              <a:buNone/>
            </a:pPr>
            <a:r>
              <a:rPr lang="en-US" sz="850" b="1" spc="110" kern="0" dirty="0">
                <a:solidFill>
                  <a:srgbClr val="9AA7D0"/>
                </a:solidFill>
                <a:latin typeface="Calibri" pitchFamily="34" charset="0"/>
                <a:ea typeface="Calibri" pitchFamily="34" charset="-122"/>
                <a:cs typeface="Calibri" pitchFamily="34" charset="-120"/>
              </a:rPr>
              <a:t>PER-HANDSHAKE BYTES</a:t>
            </a:r>
            <a:endParaRPr lang="en-US" sz="850" dirty="0"/>
          </a:p>
        </p:txBody>
      </p:sp>
      <p:sp>
        <p:nvSpPr>
          <p:cNvPr id="13" name="Text 10"/>
          <p:cNvSpPr/>
          <p:nvPr/>
        </p:nvSpPr>
        <p:spPr>
          <a:xfrm>
            <a:off x="7068312" y="2423160"/>
            <a:ext cx="4334256" cy="201168"/>
          </a:xfrm>
          <a:prstGeom prst="rect">
            <a:avLst/>
          </a:prstGeom>
          <a:noFill/>
          <a:ln/>
        </p:spPr>
        <p:txBody>
          <a:bodyPr wrap="square" lIns="0" tIns="0" rIns="0" bIns="0" rtlCol="0" anchor="t"/>
          <a:lstStyle/>
          <a:p>
            <a:pPr indent="0" marL="0">
              <a:buNone/>
            </a:pPr>
            <a:r>
              <a:rPr lang="en-US" sz="950" dirty="0">
                <a:solidFill>
                  <a:srgbClr val="6B7AA8"/>
                </a:solidFill>
                <a:latin typeface="Calibri" pitchFamily="34" charset="0"/>
                <a:ea typeface="Calibri" pitchFamily="34" charset="-122"/>
                <a:cs typeface="Calibri" pitchFamily="34" charset="-120"/>
              </a:rPr>
              <a:t>227 B → 7,533 B on the wire</a:t>
            </a:r>
            <a:endParaRPr lang="en-US" sz="950" dirty="0"/>
          </a:p>
        </p:txBody>
      </p:sp>
      <p:sp>
        <p:nvSpPr>
          <p:cNvPr id="14" name="Shape 11"/>
          <p:cNvSpPr/>
          <p:nvPr/>
        </p:nvSpPr>
        <p:spPr>
          <a:xfrm>
            <a:off x="6848856" y="2702052"/>
            <a:ext cx="4773168" cy="745236"/>
          </a:xfrm>
          <a:prstGeom prst="roundRect">
            <a:avLst>
              <a:gd name="adj" fmla="val 14724"/>
            </a:avLst>
          </a:prstGeom>
          <a:solidFill>
            <a:srgbClr val="111A3D"/>
          </a:solidFill>
          <a:ln w="12700">
            <a:solidFill>
              <a:srgbClr val="2A3667"/>
            </a:solidFill>
            <a:prstDash val="solid"/>
          </a:ln>
        </p:spPr>
      </p:sp>
      <p:sp>
        <p:nvSpPr>
          <p:cNvPr id="15" name="Text 12"/>
          <p:cNvSpPr/>
          <p:nvPr/>
        </p:nvSpPr>
        <p:spPr>
          <a:xfrm>
            <a:off x="7068312" y="2811780"/>
            <a:ext cx="4334256" cy="310896"/>
          </a:xfrm>
          <a:prstGeom prst="rect">
            <a:avLst/>
          </a:prstGeom>
          <a:noFill/>
          <a:ln/>
        </p:spPr>
        <p:txBody>
          <a:bodyPr wrap="square" lIns="0" tIns="0" rIns="0" bIns="0" rtlCol="0" anchor="t"/>
          <a:lstStyle/>
          <a:p>
            <a:pPr indent="0" marL="0">
              <a:buNone/>
            </a:pPr>
            <a:r>
              <a:rPr lang="en-US" sz="2200" b="1" dirty="0">
                <a:solidFill>
                  <a:srgbClr val="FFB547"/>
                </a:solidFill>
                <a:latin typeface="Calibri" pitchFamily="34" charset="0"/>
                <a:ea typeface="Calibri" pitchFamily="34" charset="-122"/>
                <a:cs typeface="Calibri" pitchFamily="34" charset="-120"/>
              </a:rPr>
              <a:t>~7.3 GB</a:t>
            </a:r>
            <a:endParaRPr lang="en-US" sz="2200" dirty="0"/>
          </a:p>
        </p:txBody>
      </p:sp>
      <p:sp>
        <p:nvSpPr>
          <p:cNvPr id="16" name="Text 13"/>
          <p:cNvSpPr/>
          <p:nvPr/>
        </p:nvSpPr>
        <p:spPr>
          <a:xfrm>
            <a:off x="7068312" y="3122676"/>
            <a:ext cx="4334256" cy="182880"/>
          </a:xfrm>
          <a:prstGeom prst="rect">
            <a:avLst/>
          </a:prstGeom>
          <a:noFill/>
          <a:ln/>
        </p:spPr>
        <p:txBody>
          <a:bodyPr wrap="square" lIns="0" tIns="0" rIns="0" bIns="0" rtlCol="0" anchor="t"/>
          <a:lstStyle/>
          <a:p>
            <a:pPr indent="0" marL="0">
              <a:buNone/>
            </a:pPr>
            <a:r>
              <a:rPr lang="en-US" sz="850" b="1" spc="110" kern="0" dirty="0">
                <a:solidFill>
                  <a:srgbClr val="9AA7D0"/>
                </a:solidFill>
                <a:latin typeface="Calibri" pitchFamily="34" charset="0"/>
                <a:ea typeface="Calibri" pitchFamily="34" charset="-122"/>
                <a:cs typeface="Calibri" pitchFamily="34" charset="-120"/>
              </a:rPr>
              <a:t>EXTRA TRAFFIC PER DAY</a:t>
            </a:r>
            <a:endParaRPr lang="en-US" sz="850" dirty="0"/>
          </a:p>
        </p:txBody>
      </p:sp>
      <p:sp>
        <p:nvSpPr>
          <p:cNvPr id="17" name="Text 14"/>
          <p:cNvSpPr/>
          <p:nvPr/>
        </p:nvSpPr>
        <p:spPr>
          <a:xfrm>
            <a:off x="7068312" y="3296412"/>
            <a:ext cx="4334256" cy="201168"/>
          </a:xfrm>
          <a:prstGeom prst="rect">
            <a:avLst/>
          </a:prstGeom>
          <a:noFill/>
          <a:ln/>
        </p:spPr>
        <p:txBody>
          <a:bodyPr wrap="square" lIns="0" tIns="0" rIns="0" bIns="0" rtlCol="0" anchor="t"/>
          <a:lstStyle/>
          <a:p>
            <a:pPr indent="0" marL="0">
              <a:buNone/>
            </a:pPr>
            <a:r>
              <a:rPr lang="en-US" sz="950" dirty="0">
                <a:solidFill>
                  <a:srgbClr val="6B7AA8"/>
                </a:solidFill>
                <a:latin typeface="Calibri" pitchFamily="34" charset="0"/>
                <a:ea typeface="Calibri" pitchFamily="34" charset="-122"/>
                <a:cs typeface="Calibri" pitchFamily="34" charset="-120"/>
              </a:rPr>
              <a:t>at 1,000,000 handshakes/day</a:t>
            </a:r>
            <a:endParaRPr lang="en-US" sz="950" dirty="0"/>
          </a:p>
        </p:txBody>
      </p:sp>
      <p:sp>
        <p:nvSpPr>
          <p:cNvPr id="18" name="Shape 15"/>
          <p:cNvSpPr/>
          <p:nvPr/>
        </p:nvSpPr>
        <p:spPr>
          <a:xfrm>
            <a:off x="6848856" y="3575304"/>
            <a:ext cx="4773168" cy="745236"/>
          </a:xfrm>
          <a:prstGeom prst="roundRect">
            <a:avLst>
              <a:gd name="adj" fmla="val 14724"/>
            </a:avLst>
          </a:prstGeom>
          <a:solidFill>
            <a:srgbClr val="111A3D"/>
          </a:solidFill>
          <a:ln w="12700">
            <a:solidFill>
              <a:srgbClr val="2A3667"/>
            </a:solidFill>
            <a:prstDash val="solid"/>
          </a:ln>
        </p:spPr>
      </p:sp>
      <p:sp>
        <p:nvSpPr>
          <p:cNvPr id="19" name="Text 16"/>
          <p:cNvSpPr/>
          <p:nvPr/>
        </p:nvSpPr>
        <p:spPr>
          <a:xfrm>
            <a:off x="7068312" y="3685032"/>
            <a:ext cx="4334256" cy="310896"/>
          </a:xfrm>
          <a:prstGeom prst="rect">
            <a:avLst/>
          </a:prstGeom>
          <a:noFill/>
          <a:ln/>
        </p:spPr>
        <p:txBody>
          <a:bodyPr wrap="square" lIns="0" tIns="0" rIns="0" bIns="0" rtlCol="0" anchor="t"/>
          <a:lstStyle/>
          <a:p>
            <a:pPr indent="0" marL="0">
              <a:buNone/>
            </a:pPr>
            <a:r>
              <a:rPr lang="en-US" sz="1900" b="1" dirty="0">
                <a:solidFill>
                  <a:srgbClr val="3BE8B0"/>
                </a:solidFill>
                <a:latin typeface="Calibri" pitchFamily="34" charset="0"/>
                <a:ea typeface="Calibri" pitchFamily="34" charset="-122"/>
                <a:cs typeface="Calibri" pitchFamily="34" charset="-120"/>
              </a:rPr>
              <a:t>Low–Moderate</a:t>
            </a:r>
            <a:endParaRPr lang="en-US" sz="1900" dirty="0"/>
          </a:p>
        </p:txBody>
      </p:sp>
      <p:sp>
        <p:nvSpPr>
          <p:cNvPr id="20" name="Text 17"/>
          <p:cNvSpPr/>
          <p:nvPr/>
        </p:nvSpPr>
        <p:spPr>
          <a:xfrm>
            <a:off x="7068312" y="3995928"/>
            <a:ext cx="4334256" cy="182880"/>
          </a:xfrm>
          <a:prstGeom prst="rect">
            <a:avLst/>
          </a:prstGeom>
          <a:noFill/>
          <a:ln/>
        </p:spPr>
        <p:txBody>
          <a:bodyPr wrap="square" lIns="0" tIns="0" rIns="0" bIns="0" rtlCol="0" anchor="t"/>
          <a:lstStyle/>
          <a:p>
            <a:pPr indent="0" marL="0">
              <a:buNone/>
            </a:pPr>
            <a:r>
              <a:rPr lang="en-US" sz="850" b="1" spc="110" kern="0" dirty="0">
                <a:solidFill>
                  <a:srgbClr val="9AA7D0"/>
                </a:solidFill>
                <a:latin typeface="Calibri" pitchFamily="34" charset="0"/>
                <a:ea typeface="Calibri" pitchFamily="34" charset="-122"/>
                <a:cs typeface="Calibri" pitchFamily="34" charset="-120"/>
              </a:rPr>
              <a:t>LATENCY IMPACT</a:t>
            </a:r>
            <a:endParaRPr lang="en-US" sz="850" dirty="0"/>
          </a:p>
        </p:txBody>
      </p:sp>
      <p:sp>
        <p:nvSpPr>
          <p:cNvPr id="21" name="Text 18"/>
          <p:cNvSpPr/>
          <p:nvPr/>
        </p:nvSpPr>
        <p:spPr>
          <a:xfrm>
            <a:off x="7068312" y="4169664"/>
            <a:ext cx="4334256" cy="201168"/>
          </a:xfrm>
          <a:prstGeom prst="rect">
            <a:avLst/>
          </a:prstGeom>
          <a:noFill/>
          <a:ln/>
        </p:spPr>
        <p:txBody>
          <a:bodyPr wrap="square" lIns="0" tIns="0" rIns="0" bIns="0" rtlCol="0" anchor="t"/>
          <a:lstStyle/>
          <a:p>
            <a:pPr indent="0" marL="0">
              <a:buNone/>
            </a:pPr>
            <a:r>
              <a:rPr lang="en-US" sz="950" dirty="0">
                <a:solidFill>
                  <a:srgbClr val="6B7AA8"/>
                </a:solidFill>
                <a:latin typeface="Calibri" pitchFamily="34" charset="0"/>
                <a:ea typeface="Calibri" pitchFamily="34" charset="-122"/>
                <a:cs typeface="Calibri" pitchFamily="34" charset="-120"/>
              </a:rPr>
              <a:t>ML-KEM beats RSA on CPU — the cost is bandwidth</a:t>
            </a:r>
            <a:endParaRPr lang="en-US" sz="950" dirty="0"/>
          </a:p>
        </p:txBody>
      </p:sp>
      <p:sp>
        <p:nvSpPr>
          <p:cNvPr id="22" name="Shape 19"/>
          <p:cNvSpPr/>
          <p:nvPr/>
        </p:nvSpPr>
        <p:spPr>
          <a:xfrm>
            <a:off x="6848856" y="4448556"/>
            <a:ext cx="4773168" cy="745236"/>
          </a:xfrm>
          <a:prstGeom prst="roundRect">
            <a:avLst>
              <a:gd name="adj" fmla="val 14724"/>
            </a:avLst>
          </a:prstGeom>
          <a:solidFill>
            <a:srgbClr val="111A3D"/>
          </a:solidFill>
          <a:ln w="12700">
            <a:solidFill>
              <a:srgbClr val="2A3667"/>
            </a:solidFill>
            <a:prstDash val="solid"/>
          </a:ln>
        </p:spPr>
      </p:sp>
      <p:sp>
        <p:nvSpPr>
          <p:cNvPr id="23" name="Text 20"/>
          <p:cNvSpPr/>
          <p:nvPr/>
        </p:nvSpPr>
        <p:spPr>
          <a:xfrm>
            <a:off x="7068312" y="4558284"/>
            <a:ext cx="4334256" cy="310896"/>
          </a:xfrm>
          <a:prstGeom prst="rect">
            <a:avLst/>
          </a:prstGeom>
          <a:noFill/>
          <a:ln/>
        </p:spPr>
        <p:txBody>
          <a:bodyPr wrap="square" lIns="0" tIns="0" rIns="0" bIns="0" rtlCol="0" anchor="t"/>
          <a:lstStyle/>
          <a:p>
            <a:pPr indent="0" marL="0">
              <a:buNone/>
            </a:pPr>
            <a:r>
              <a:rPr lang="en-US" sz="2200" b="1" dirty="0">
                <a:solidFill>
                  <a:srgbClr val="4CC9F0"/>
                </a:solidFill>
                <a:latin typeface="Calibri" pitchFamily="34" charset="0"/>
                <a:ea typeface="Calibri" pitchFamily="34" charset="-122"/>
                <a:cs typeface="Calibri" pitchFamily="34" charset="-120"/>
              </a:rPr>
              <a:t>51 / 100</a:t>
            </a:r>
            <a:endParaRPr lang="en-US" sz="2200" dirty="0"/>
          </a:p>
        </p:txBody>
      </p:sp>
      <p:sp>
        <p:nvSpPr>
          <p:cNvPr id="24" name="Text 21"/>
          <p:cNvSpPr/>
          <p:nvPr/>
        </p:nvSpPr>
        <p:spPr>
          <a:xfrm>
            <a:off x="7068312" y="4869180"/>
            <a:ext cx="4334256" cy="182880"/>
          </a:xfrm>
          <a:prstGeom prst="rect">
            <a:avLst/>
          </a:prstGeom>
          <a:noFill/>
          <a:ln/>
        </p:spPr>
        <p:txBody>
          <a:bodyPr wrap="square" lIns="0" tIns="0" rIns="0" bIns="0" rtlCol="0" anchor="t"/>
          <a:lstStyle/>
          <a:p>
            <a:pPr indent="0" marL="0">
              <a:buNone/>
            </a:pPr>
            <a:r>
              <a:rPr lang="en-US" sz="850" b="1" spc="110" kern="0" dirty="0">
                <a:solidFill>
                  <a:srgbClr val="9AA7D0"/>
                </a:solidFill>
                <a:latin typeface="Calibri" pitchFamily="34" charset="0"/>
                <a:ea typeface="Calibri" pitchFamily="34" charset="-122"/>
                <a:cs typeface="Calibri" pitchFamily="34" charset="-120"/>
              </a:rPr>
              <a:t>COMPATIBILITY RISK</a:t>
            </a:r>
            <a:endParaRPr lang="en-US" sz="850" dirty="0"/>
          </a:p>
        </p:txBody>
      </p:sp>
      <p:sp>
        <p:nvSpPr>
          <p:cNvPr id="25" name="Text 22"/>
          <p:cNvSpPr/>
          <p:nvPr/>
        </p:nvSpPr>
        <p:spPr>
          <a:xfrm>
            <a:off x="7068312" y="5042916"/>
            <a:ext cx="4334256" cy="201168"/>
          </a:xfrm>
          <a:prstGeom prst="rect">
            <a:avLst/>
          </a:prstGeom>
          <a:noFill/>
          <a:ln/>
        </p:spPr>
        <p:txBody>
          <a:bodyPr wrap="square" lIns="0" tIns="0" rIns="0" bIns="0" rtlCol="0" anchor="t"/>
          <a:lstStyle/>
          <a:p>
            <a:pPr indent="0" marL="0">
              <a:buNone/>
            </a:pPr>
            <a:r>
              <a:rPr lang="en-US" sz="950" dirty="0">
                <a:solidFill>
                  <a:srgbClr val="6B7AA8"/>
                </a:solidFill>
                <a:latin typeface="Calibri" pitchFamily="34" charset="0"/>
                <a:ea typeface="Calibri" pitchFamily="34" charset="-122"/>
                <a:cs typeface="Calibri" pitchFamily="34" charset="-120"/>
              </a:rPr>
              <a:t>12 API sites to update · hybrid avoids downtime</a:t>
            </a:r>
            <a:endParaRPr lang="en-US" sz="950" dirty="0"/>
          </a:p>
        </p:txBody>
      </p:sp>
      <p:sp>
        <p:nvSpPr>
          <p:cNvPr id="26" name="Shape 23"/>
          <p:cNvSpPr/>
          <p:nvPr/>
        </p:nvSpPr>
        <p:spPr>
          <a:xfrm>
            <a:off x="566928" y="5394960"/>
            <a:ext cx="11055096" cy="786384"/>
          </a:xfrm>
          <a:prstGeom prst="roundRect">
            <a:avLst>
              <a:gd name="adj" fmla="val 13953"/>
            </a:avLst>
          </a:prstGeom>
          <a:solidFill>
            <a:srgbClr val="17224C"/>
          </a:solidFill>
          <a:ln w="12700">
            <a:solidFill>
              <a:srgbClr val="2A3667"/>
            </a:solidFill>
            <a:prstDash val="solid"/>
          </a:ln>
        </p:spPr>
      </p:sp>
      <p:sp>
        <p:nvSpPr>
          <p:cNvPr id="27" name="Text 24"/>
          <p:cNvSpPr/>
          <p:nvPr/>
        </p:nvSpPr>
        <p:spPr>
          <a:xfrm>
            <a:off x="841248" y="5394960"/>
            <a:ext cx="1280160" cy="786384"/>
          </a:xfrm>
          <a:prstGeom prst="rect">
            <a:avLst/>
          </a:prstGeom>
          <a:noFill/>
          <a:ln/>
        </p:spPr>
        <p:txBody>
          <a:bodyPr wrap="square" lIns="0" tIns="0" rIns="0" bIns="0" rtlCol="0" anchor="ctr"/>
          <a:lstStyle/>
          <a:p>
            <a:pPr indent="0" marL="0">
              <a:buNone/>
            </a:pPr>
            <a:r>
              <a:rPr lang="en-US" sz="1400" b="1" dirty="0">
                <a:solidFill>
                  <a:srgbClr val="3BE8B0"/>
                </a:solidFill>
                <a:latin typeface="Calibri" pitchFamily="34" charset="0"/>
                <a:ea typeface="Calibri" pitchFamily="34" charset="-122"/>
                <a:cs typeface="Calibri" pitchFamily="34" charset="-120"/>
              </a:rPr>
              <a:t>Deploy hybrid.</a:t>
            </a:r>
            <a:endParaRPr lang="en-US" sz="1400" dirty="0"/>
          </a:p>
        </p:txBody>
      </p:sp>
      <p:sp>
        <p:nvSpPr>
          <p:cNvPr id="28" name="Text 25"/>
          <p:cNvSpPr/>
          <p:nvPr/>
        </p:nvSpPr>
        <p:spPr>
          <a:xfrm>
            <a:off x="2212848" y="5394960"/>
            <a:ext cx="9134856" cy="786384"/>
          </a:xfrm>
          <a:prstGeom prst="rect">
            <a:avLst/>
          </a:prstGeom>
          <a:noFill/>
          <a:ln/>
        </p:spPr>
        <p:txBody>
          <a:bodyPr wrap="square" lIns="0" tIns="0" rIns="0" bIns="0" rtlCol="0" anchor="ctr"/>
          <a:lstStyle/>
          <a:p>
            <a:pPr indent="0" marL="0">
              <a:buNone/>
            </a:pPr>
            <a:r>
              <a:rPr lang="en-US" sz="1200" dirty="0">
                <a:solidFill>
                  <a:srgbClr val="9AA7D0"/>
                </a:solidFill>
                <a:latin typeface="Calibri" pitchFamily="34" charset="0"/>
                <a:ea typeface="Calibri" pitchFamily="34" charset="-122"/>
                <a:cs typeface="Calibri" pitchFamily="34" charset="-120"/>
              </a:rPr>
              <a:t>Classical and post-quantum together lets peers negotiate down during cutover — no hard switch, no extended downtime, and a per-service rollback path. Certificate reissuance needs only a short scheduled window.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PROVE IT</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Findings auto-mapped to 8 compliance frameworks</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The same 83 findings, re-expressed as the controls an auditor actually asks about.</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66928" y="1801368"/>
            <a:ext cx="2578608" cy="1389888"/>
          </a:xfrm>
          <a:prstGeom prst="roundRect">
            <a:avLst>
              <a:gd name="adj" fmla="val 7895"/>
            </a:avLst>
          </a:prstGeom>
          <a:solidFill>
            <a:srgbClr val="111A3D"/>
          </a:solidFill>
          <a:ln w="12700">
            <a:solidFill>
              <a:srgbClr val="2A3667"/>
            </a:solidFill>
            <a:prstDash val="solid"/>
          </a:ln>
        </p:spPr>
      </p:sp>
      <p:sp>
        <p:nvSpPr>
          <p:cNvPr id="8" name="Text 6"/>
          <p:cNvSpPr/>
          <p:nvPr/>
        </p:nvSpPr>
        <p:spPr>
          <a:xfrm>
            <a:off x="768096" y="1965960"/>
            <a:ext cx="1755648"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NIST PQC</a:t>
            </a:r>
            <a:endParaRPr lang="en-US" sz="1400" dirty="0"/>
          </a:p>
        </p:txBody>
      </p:sp>
      <p:sp>
        <p:nvSpPr>
          <p:cNvPr id="9" name="Text 7"/>
          <p:cNvSpPr/>
          <p:nvPr/>
        </p:nvSpPr>
        <p:spPr>
          <a:xfrm>
            <a:off x="2359152" y="1965960"/>
            <a:ext cx="56692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FAIL</a:t>
            </a:r>
            <a:endParaRPr lang="en-US" sz="850" dirty="0"/>
          </a:p>
        </p:txBody>
      </p:sp>
      <p:sp>
        <p:nvSpPr>
          <p:cNvPr id="10" name="Text 8"/>
          <p:cNvSpPr/>
          <p:nvPr/>
        </p:nvSpPr>
        <p:spPr>
          <a:xfrm>
            <a:off x="768096" y="2331720"/>
            <a:ext cx="2176272" cy="237744"/>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24 findings  ·  2 controls</a:t>
            </a:r>
            <a:endParaRPr lang="en-US" sz="1100" dirty="0"/>
          </a:p>
        </p:txBody>
      </p:sp>
      <p:sp>
        <p:nvSpPr>
          <p:cNvPr id="11" name="Text 9"/>
          <p:cNvSpPr/>
          <p:nvPr/>
        </p:nvSpPr>
        <p:spPr>
          <a:xfrm>
            <a:off x="768096" y="2606040"/>
            <a:ext cx="2176272" cy="438912"/>
          </a:xfrm>
          <a:prstGeom prst="rect">
            <a:avLst/>
          </a:prstGeom>
          <a:noFill/>
          <a:ln/>
        </p:spPr>
        <p:txBody>
          <a:bodyPr wrap="square" lIns="0" tIns="0" rIns="0" bIns="0" rtlCol="0" anchor="t"/>
          <a:lstStyle/>
          <a:p>
            <a:pPr indent="0" marL="0">
              <a:buNone/>
            </a:pPr>
            <a:r>
              <a:rPr lang="en-US" sz="1000" dirty="0">
                <a:solidFill>
                  <a:srgbClr val="4CC9F0"/>
                </a:solidFill>
                <a:latin typeface="Courier New" pitchFamily="34" charset="0"/>
                <a:ea typeface="Courier New" pitchFamily="34" charset="-122"/>
                <a:cs typeface="Courier New" pitchFamily="34" charset="-120"/>
              </a:rPr>
              <a:t>FIPS 203/204/205</a:t>
            </a:r>
            <a:endParaRPr lang="en-US" sz="1000" dirty="0"/>
          </a:p>
        </p:txBody>
      </p:sp>
      <p:sp>
        <p:nvSpPr>
          <p:cNvPr id="12" name="Shape 10"/>
          <p:cNvSpPr/>
          <p:nvPr/>
        </p:nvSpPr>
        <p:spPr>
          <a:xfrm>
            <a:off x="3392424" y="1801368"/>
            <a:ext cx="2578608" cy="1389888"/>
          </a:xfrm>
          <a:prstGeom prst="roundRect">
            <a:avLst>
              <a:gd name="adj" fmla="val 7895"/>
            </a:avLst>
          </a:prstGeom>
          <a:solidFill>
            <a:srgbClr val="111A3D"/>
          </a:solidFill>
          <a:ln w="12700">
            <a:solidFill>
              <a:srgbClr val="2A3667"/>
            </a:solidFill>
            <a:prstDash val="solid"/>
          </a:ln>
        </p:spPr>
      </p:sp>
      <p:sp>
        <p:nvSpPr>
          <p:cNvPr id="13" name="Text 11"/>
          <p:cNvSpPr/>
          <p:nvPr/>
        </p:nvSpPr>
        <p:spPr>
          <a:xfrm>
            <a:off x="3593592" y="1965960"/>
            <a:ext cx="1755648"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NIST 800-53</a:t>
            </a:r>
            <a:endParaRPr lang="en-US" sz="1400" dirty="0"/>
          </a:p>
        </p:txBody>
      </p:sp>
      <p:sp>
        <p:nvSpPr>
          <p:cNvPr id="14" name="Text 12"/>
          <p:cNvSpPr/>
          <p:nvPr/>
        </p:nvSpPr>
        <p:spPr>
          <a:xfrm>
            <a:off x="5184648" y="1965960"/>
            <a:ext cx="56692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FAIL</a:t>
            </a:r>
            <a:endParaRPr lang="en-US" sz="850" dirty="0"/>
          </a:p>
        </p:txBody>
      </p:sp>
      <p:sp>
        <p:nvSpPr>
          <p:cNvPr id="15" name="Text 13"/>
          <p:cNvSpPr/>
          <p:nvPr/>
        </p:nvSpPr>
        <p:spPr>
          <a:xfrm>
            <a:off x="3593592" y="2331720"/>
            <a:ext cx="2176272" cy="237744"/>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43 findings  ·  3 controls</a:t>
            </a:r>
            <a:endParaRPr lang="en-US" sz="1100" dirty="0"/>
          </a:p>
        </p:txBody>
      </p:sp>
      <p:sp>
        <p:nvSpPr>
          <p:cNvPr id="16" name="Text 14"/>
          <p:cNvSpPr/>
          <p:nvPr/>
        </p:nvSpPr>
        <p:spPr>
          <a:xfrm>
            <a:off x="3593592" y="2606040"/>
            <a:ext cx="2176272" cy="438912"/>
          </a:xfrm>
          <a:prstGeom prst="rect">
            <a:avLst/>
          </a:prstGeom>
          <a:noFill/>
          <a:ln/>
        </p:spPr>
        <p:txBody>
          <a:bodyPr wrap="square" lIns="0" tIns="0" rIns="0" bIns="0" rtlCol="0" anchor="t"/>
          <a:lstStyle/>
          <a:p>
            <a:pPr indent="0" marL="0">
              <a:buNone/>
            </a:pPr>
            <a:r>
              <a:rPr lang="en-US" sz="1000" dirty="0">
                <a:solidFill>
                  <a:srgbClr val="4CC9F0"/>
                </a:solidFill>
                <a:latin typeface="Courier New" pitchFamily="34" charset="0"/>
                <a:ea typeface="Courier New" pitchFamily="34" charset="-122"/>
                <a:cs typeface="Courier New" pitchFamily="34" charset="-120"/>
              </a:rPr>
              <a:t>SC-13 · SC-12 · SC-17</a:t>
            </a:r>
            <a:endParaRPr lang="en-US" sz="1000" dirty="0"/>
          </a:p>
        </p:txBody>
      </p:sp>
      <p:sp>
        <p:nvSpPr>
          <p:cNvPr id="17" name="Shape 15"/>
          <p:cNvSpPr/>
          <p:nvPr/>
        </p:nvSpPr>
        <p:spPr>
          <a:xfrm>
            <a:off x="6217920" y="1801368"/>
            <a:ext cx="2578608" cy="1389888"/>
          </a:xfrm>
          <a:prstGeom prst="roundRect">
            <a:avLst>
              <a:gd name="adj" fmla="val 7895"/>
            </a:avLst>
          </a:prstGeom>
          <a:solidFill>
            <a:srgbClr val="111A3D"/>
          </a:solidFill>
          <a:ln w="12700">
            <a:solidFill>
              <a:srgbClr val="2A3667"/>
            </a:solidFill>
            <a:prstDash val="solid"/>
          </a:ln>
        </p:spPr>
      </p:sp>
      <p:sp>
        <p:nvSpPr>
          <p:cNvPr id="18" name="Text 16"/>
          <p:cNvSpPr/>
          <p:nvPr/>
        </p:nvSpPr>
        <p:spPr>
          <a:xfrm>
            <a:off x="6419088" y="1965960"/>
            <a:ext cx="1755648"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OWASP ASVS</a:t>
            </a:r>
            <a:endParaRPr lang="en-US" sz="1400" dirty="0"/>
          </a:p>
        </p:txBody>
      </p:sp>
      <p:sp>
        <p:nvSpPr>
          <p:cNvPr id="19" name="Text 17"/>
          <p:cNvSpPr/>
          <p:nvPr/>
        </p:nvSpPr>
        <p:spPr>
          <a:xfrm>
            <a:off x="8010144" y="1965960"/>
            <a:ext cx="56692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FAIL</a:t>
            </a:r>
            <a:endParaRPr lang="en-US" sz="850" dirty="0"/>
          </a:p>
        </p:txBody>
      </p:sp>
      <p:sp>
        <p:nvSpPr>
          <p:cNvPr id="20" name="Text 18"/>
          <p:cNvSpPr/>
          <p:nvPr/>
        </p:nvSpPr>
        <p:spPr>
          <a:xfrm>
            <a:off x="6419088" y="2331720"/>
            <a:ext cx="2176272" cy="237744"/>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34 findings  ·  2 controls</a:t>
            </a:r>
            <a:endParaRPr lang="en-US" sz="1100" dirty="0"/>
          </a:p>
        </p:txBody>
      </p:sp>
      <p:sp>
        <p:nvSpPr>
          <p:cNvPr id="21" name="Text 19"/>
          <p:cNvSpPr/>
          <p:nvPr/>
        </p:nvSpPr>
        <p:spPr>
          <a:xfrm>
            <a:off x="6419088" y="2606040"/>
            <a:ext cx="2176272" cy="438912"/>
          </a:xfrm>
          <a:prstGeom prst="rect">
            <a:avLst/>
          </a:prstGeom>
          <a:noFill/>
          <a:ln/>
        </p:spPr>
        <p:txBody>
          <a:bodyPr wrap="square" lIns="0" tIns="0" rIns="0" bIns="0" rtlCol="0" anchor="t"/>
          <a:lstStyle/>
          <a:p>
            <a:pPr indent="0" marL="0">
              <a:buNone/>
            </a:pPr>
            <a:r>
              <a:rPr lang="en-US" sz="1000" dirty="0">
                <a:solidFill>
                  <a:srgbClr val="4CC9F0"/>
                </a:solidFill>
                <a:latin typeface="Courier New" pitchFamily="34" charset="0"/>
                <a:ea typeface="Courier New" pitchFamily="34" charset="-122"/>
                <a:cs typeface="Courier New" pitchFamily="34" charset="-120"/>
              </a:rPr>
              <a:t>V6.2 · V2.10</a:t>
            </a:r>
            <a:endParaRPr lang="en-US" sz="1000" dirty="0"/>
          </a:p>
        </p:txBody>
      </p:sp>
      <p:sp>
        <p:nvSpPr>
          <p:cNvPr id="22" name="Shape 20"/>
          <p:cNvSpPr/>
          <p:nvPr/>
        </p:nvSpPr>
        <p:spPr>
          <a:xfrm>
            <a:off x="9043416" y="1801368"/>
            <a:ext cx="2578608" cy="1389888"/>
          </a:xfrm>
          <a:prstGeom prst="roundRect">
            <a:avLst>
              <a:gd name="adj" fmla="val 7895"/>
            </a:avLst>
          </a:prstGeom>
          <a:solidFill>
            <a:srgbClr val="111A3D"/>
          </a:solidFill>
          <a:ln w="12700">
            <a:solidFill>
              <a:srgbClr val="2A3667"/>
            </a:solidFill>
            <a:prstDash val="solid"/>
          </a:ln>
        </p:spPr>
      </p:sp>
      <p:sp>
        <p:nvSpPr>
          <p:cNvPr id="23" name="Text 21"/>
          <p:cNvSpPr/>
          <p:nvPr/>
        </p:nvSpPr>
        <p:spPr>
          <a:xfrm>
            <a:off x="9244584" y="1965960"/>
            <a:ext cx="1755648"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OWASP Top 10</a:t>
            </a:r>
            <a:endParaRPr lang="en-US" sz="1400" dirty="0"/>
          </a:p>
        </p:txBody>
      </p:sp>
      <p:sp>
        <p:nvSpPr>
          <p:cNvPr id="24" name="Text 22"/>
          <p:cNvSpPr/>
          <p:nvPr/>
        </p:nvSpPr>
        <p:spPr>
          <a:xfrm>
            <a:off x="10835640" y="1965960"/>
            <a:ext cx="56692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FAIL</a:t>
            </a:r>
            <a:endParaRPr lang="en-US" sz="850" dirty="0"/>
          </a:p>
        </p:txBody>
      </p:sp>
      <p:sp>
        <p:nvSpPr>
          <p:cNvPr id="25" name="Text 23"/>
          <p:cNvSpPr/>
          <p:nvPr/>
        </p:nvSpPr>
        <p:spPr>
          <a:xfrm>
            <a:off x="9244584" y="2331720"/>
            <a:ext cx="2176272" cy="237744"/>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23 findings  ·  1 control</a:t>
            </a:r>
            <a:endParaRPr lang="en-US" sz="1100" dirty="0"/>
          </a:p>
        </p:txBody>
      </p:sp>
      <p:sp>
        <p:nvSpPr>
          <p:cNvPr id="26" name="Text 24"/>
          <p:cNvSpPr/>
          <p:nvPr/>
        </p:nvSpPr>
        <p:spPr>
          <a:xfrm>
            <a:off x="9244584" y="2606040"/>
            <a:ext cx="2176272" cy="438912"/>
          </a:xfrm>
          <a:prstGeom prst="rect">
            <a:avLst/>
          </a:prstGeom>
          <a:noFill/>
          <a:ln/>
        </p:spPr>
        <p:txBody>
          <a:bodyPr wrap="square" lIns="0" tIns="0" rIns="0" bIns="0" rtlCol="0" anchor="t"/>
          <a:lstStyle/>
          <a:p>
            <a:pPr indent="0" marL="0">
              <a:buNone/>
            </a:pPr>
            <a:r>
              <a:rPr lang="en-US" sz="1000" dirty="0">
                <a:solidFill>
                  <a:srgbClr val="4CC9F0"/>
                </a:solidFill>
                <a:latin typeface="Courier New" pitchFamily="34" charset="0"/>
                <a:ea typeface="Courier New" pitchFamily="34" charset="-122"/>
                <a:cs typeface="Courier New" pitchFamily="34" charset="-120"/>
              </a:rPr>
              <a:t>A02:2021</a:t>
            </a:r>
            <a:endParaRPr lang="en-US" sz="1000" dirty="0"/>
          </a:p>
        </p:txBody>
      </p:sp>
      <p:sp>
        <p:nvSpPr>
          <p:cNvPr id="27" name="Shape 25"/>
          <p:cNvSpPr/>
          <p:nvPr/>
        </p:nvSpPr>
        <p:spPr>
          <a:xfrm>
            <a:off x="566928" y="3438144"/>
            <a:ext cx="2578608" cy="1389888"/>
          </a:xfrm>
          <a:prstGeom prst="roundRect">
            <a:avLst>
              <a:gd name="adj" fmla="val 7895"/>
            </a:avLst>
          </a:prstGeom>
          <a:solidFill>
            <a:srgbClr val="111A3D"/>
          </a:solidFill>
          <a:ln w="12700">
            <a:solidFill>
              <a:srgbClr val="2A3667"/>
            </a:solidFill>
            <a:prstDash val="solid"/>
          </a:ln>
        </p:spPr>
      </p:sp>
      <p:sp>
        <p:nvSpPr>
          <p:cNvPr id="28" name="Text 26"/>
          <p:cNvSpPr/>
          <p:nvPr/>
        </p:nvSpPr>
        <p:spPr>
          <a:xfrm>
            <a:off x="768096" y="3602736"/>
            <a:ext cx="1755648"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PCI DSS</a:t>
            </a:r>
            <a:endParaRPr lang="en-US" sz="1400" dirty="0"/>
          </a:p>
        </p:txBody>
      </p:sp>
      <p:sp>
        <p:nvSpPr>
          <p:cNvPr id="29" name="Text 27"/>
          <p:cNvSpPr/>
          <p:nvPr/>
        </p:nvSpPr>
        <p:spPr>
          <a:xfrm>
            <a:off x="2359152" y="3602736"/>
            <a:ext cx="56692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FAIL</a:t>
            </a:r>
            <a:endParaRPr lang="en-US" sz="850" dirty="0"/>
          </a:p>
        </p:txBody>
      </p:sp>
      <p:sp>
        <p:nvSpPr>
          <p:cNvPr id="30" name="Text 28"/>
          <p:cNvSpPr/>
          <p:nvPr/>
        </p:nvSpPr>
        <p:spPr>
          <a:xfrm>
            <a:off x="768096" y="3968496"/>
            <a:ext cx="2176272" cy="237744"/>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34 findings  ·  2 controls</a:t>
            </a:r>
            <a:endParaRPr lang="en-US" sz="1100" dirty="0"/>
          </a:p>
        </p:txBody>
      </p:sp>
      <p:sp>
        <p:nvSpPr>
          <p:cNvPr id="31" name="Text 29"/>
          <p:cNvSpPr/>
          <p:nvPr/>
        </p:nvSpPr>
        <p:spPr>
          <a:xfrm>
            <a:off x="768096" y="4242816"/>
            <a:ext cx="2176272" cy="438912"/>
          </a:xfrm>
          <a:prstGeom prst="rect">
            <a:avLst/>
          </a:prstGeom>
          <a:noFill/>
          <a:ln/>
        </p:spPr>
        <p:txBody>
          <a:bodyPr wrap="square" lIns="0" tIns="0" rIns="0" bIns="0" rtlCol="0" anchor="t"/>
          <a:lstStyle/>
          <a:p>
            <a:pPr indent="0" marL="0">
              <a:buNone/>
            </a:pPr>
            <a:r>
              <a:rPr lang="en-US" sz="1000" dirty="0">
                <a:solidFill>
                  <a:srgbClr val="4CC9F0"/>
                </a:solidFill>
                <a:latin typeface="Courier New" pitchFamily="34" charset="0"/>
                <a:ea typeface="Courier New" pitchFamily="34" charset="-122"/>
                <a:cs typeface="Courier New" pitchFamily="34" charset="-120"/>
              </a:rPr>
              <a:t>4.2.1 · 3.5.1</a:t>
            </a:r>
            <a:endParaRPr lang="en-US" sz="1000" dirty="0"/>
          </a:p>
        </p:txBody>
      </p:sp>
      <p:sp>
        <p:nvSpPr>
          <p:cNvPr id="32" name="Shape 30"/>
          <p:cNvSpPr/>
          <p:nvPr/>
        </p:nvSpPr>
        <p:spPr>
          <a:xfrm>
            <a:off x="3392424" y="3438144"/>
            <a:ext cx="2578608" cy="1389888"/>
          </a:xfrm>
          <a:prstGeom prst="roundRect">
            <a:avLst>
              <a:gd name="adj" fmla="val 7895"/>
            </a:avLst>
          </a:prstGeom>
          <a:solidFill>
            <a:srgbClr val="111A3D"/>
          </a:solidFill>
          <a:ln w="12700">
            <a:solidFill>
              <a:srgbClr val="2A3667"/>
            </a:solidFill>
            <a:prstDash val="solid"/>
          </a:ln>
        </p:spPr>
      </p:sp>
      <p:sp>
        <p:nvSpPr>
          <p:cNvPr id="33" name="Text 31"/>
          <p:cNvSpPr/>
          <p:nvPr/>
        </p:nvSpPr>
        <p:spPr>
          <a:xfrm>
            <a:off x="3593592" y="3602736"/>
            <a:ext cx="1755648"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ISO 27001</a:t>
            </a:r>
            <a:endParaRPr lang="en-US" sz="1400" dirty="0"/>
          </a:p>
        </p:txBody>
      </p:sp>
      <p:sp>
        <p:nvSpPr>
          <p:cNvPr id="34" name="Text 32"/>
          <p:cNvSpPr/>
          <p:nvPr/>
        </p:nvSpPr>
        <p:spPr>
          <a:xfrm>
            <a:off x="5184648" y="3602736"/>
            <a:ext cx="56692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FAIL</a:t>
            </a:r>
            <a:endParaRPr lang="en-US" sz="850" dirty="0"/>
          </a:p>
        </p:txBody>
      </p:sp>
      <p:sp>
        <p:nvSpPr>
          <p:cNvPr id="35" name="Text 33"/>
          <p:cNvSpPr/>
          <p:nvPr/>
        </p:nvSpPr>
        <p:spPr>
          <a:xfrm>
            <a:off x="3593592" y="3968496"/>
            <a:ext cx="2176272" cy="237744"/>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31 findings  ·  2 controls</a:t>
            </a:r>
            <a:endParaRPr lang="en-US" sz="1100" dirty="0"/>
          </a:p>
        </p:txBody>
      </p:sp>
      <p:sp>
        <p:nvSpPr>
          <p:cNvPr id="36" name="Text 34"/>
          <p:cNvSpPr/>
          <p:nvPr/>
        </p:nvSpPr>
        <p:spPr>
          <a:xfrm>
            <a:off x="3593592" y="4242816"/>
            <a:ext cx="2176272" cy="438912"/>
          </a:xfrm>
          <a:prstGeom prst="rect">
            <a:avLst/>
          </a:prstGeom>
          <a:noFill/>
          <a:ln/>
        </p:spPr>
        <p:txBody>
          <a:bodyPr wrap="square" lIns="0" tIns="0" rIns="0" bIns="0" rtlCol="0" anchor="t"/>
          <a:lstStyle/>
          <a:p>
            <a:pPr indent="0" marL="0">
              <a:buNone/>
            </a:pPr>
            <a:r>
              <a:rPr lang="en-US" sz="1000" dirty="0">
                <a:solidFill>
                  <a:srgbClr val="4CC9F0"/>
                </a:solidFill>
                <a:latin typeface="Courier New" pitchFamily="34" charset="0"/>
                <a:ea typeface="Courier New" pitchFamily="34" charset="-122"/>
                <a:cs typeface="Courier New" pitchFamily="34" charset="-120"/>
              </a:rPr>
              <a:t>A.8.24 · A.5.33</a:t>
            </a:r>
            <a:endParaRPr lang="en-US" sz="1000" dirty="0"/>
          </a:p>
        </p:txBody>
      </p:sp>
      <p:sp>
        <p:nvSpPr>
          <p:cNvPr id="37" name="Shape 35"/>
          <p:cNvSpPr/>
          <p:nvPr/>
        </p:nvSpPr>
        <p:spPr>
          <a:xfrm>
            <a:off x="6217920" y="3438144"/>
            <a:ext cx="2578608" cy="1389888"/>
          </a:xfrm>
          <a:prstGeom prst="roundRect">
            <a:avLst>
              <a:gd name="adj" fmla="val 7895"/>
            </a:avLst>
          </a:prstGeom>
          <a:solidFill>
            <a:srgbClr val="111A3D"/>
          </a:solidFill>
          <a:ln w="12700">
            <a:solidFill>
              <a:srgbClr val="2A3667"/>
            </a:solidFill>
            <a:prstDash val="solid"/>
          </a:ln>
        </p:spPr>
      </p:sp>
      <p:sp>
        <p:nvSpPr>
          <p:cNvPr id="38" name="Text 36"/>
          <p:cNvSpPr/>
          <p:nvPr/>
        </p:nvSpPr>
        <p:spPr>
          <a:xfrm>
            <a:off x="6419088" y="3602736"/>
            <a:ext cx="1755648"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SOC 2</a:t>
            </a:r>
            <a:endParaRPr lang="en-US" sz="1400" dirty="0"/>
          </a:p>
        </p:txBody>
      </p:sp>
      <p:sp>
        <p:nvSpPr>
          <p:cNvPr id="39" name="Text 37"/>
          <p:cNvSpPr/>
          <p:nvPr/>
        </p:nvSpPr>
        <p:spPr>
          <a:xfrm>
            <a:off x="8010144" y="3602736"/>
            <a:ext cx="56692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FAIL</a:t>
            </a:r>
            <a:endParaRPr lang="en-US" sz="850" dirty="0"/>
          </a:p>
        </p:txBody>
      </p:sp>
      <p:sp>
        <p:nvSpPr>
          <p:cNvPr id="40" name="Text 38"/>
          <p:cNvSpPr/>
          <p:nvPr/>
        </p:nvSpPr>
        <p:spPr>
          <a:xfrm>
            <a:off x="6419088" y="3968496"/>
            <a:ext cx="2176272" cy="237744"/>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23 findings  ·  1 control</a:t>
            </a:r>
            <a:endParaRPr lang="en-US" sz="1100" dirty="0"/>
          </a:p>
        </p:txBody>
      </p:sp>
      <p:sp>
        <p:nvSpPr>
          <p:cNvPr id="41" name="Text 39"/>
          <p:cNvSpPr/>
          <p:nvPr/>
        </p:nvSpPr>
        <p:spPr>
          <a:xfrm>
            <a:off x="6419088" y="4242816"/>
            <a:ext cx="2176272" cy="438912"/>
          </a:xfrm>
          <a:prstGeom prst="rect">
            <a:avLst/>
          </a:prstGeom>
          <a:noFill/>
          <a:ln/>
        </p:spPr>
        <p:txBody>
          <a:bodyPr wrap="square" lIns="0" tIns="0" rIns="0" bIns="0" rtlCol="0" anchor="t"/>
          <a:lstStyle/>
          <a:p>
            <a:pPr indent="0" marL="0">
              <a:buNone/>
            </a:pPr>
            <a:r>
              <a:rPr lang="en-US" sz="1000" dirty="0">
                <a:solidFill>
                  <a:srgbClr val="4CC9F0"/>
                </a:solidFill>
                <a:latin typeface="Courier New" pitchFamily="34" charset="0"/>
                <a:ea typeface="Courier New" pitchFamily="34" charset="-122"/>
                <a:cs typeface="Courier New" pitchFamily="34" charset="-120"/>
              </a:rPr>
              <a:t>CC6.1</a:t>
            </a:r>
            <a:endParaRPr lang="en-US" sz="1000" dirty="0"/>
          </a:p>
        </p:txBody>
      </p:sp>
      <p:sp>
        <p:nvSpPr>
          <p:cNvPr id="42" name="Shape 40"/>
          <p:cNvSpPr/>
          <p:nvPr/>
        </p:nvSpPr>
        <p:spPr>
          <a:xfrm>
            <a:off x="9043416" y="3438144"/>
            <a:ext cx="2578608" cy="1389888"/>
          </a:xfrm>
          <a:prstGeom prst="roundRect">
            <a:avLst>
              <a:gd name="adj" fmla="val 7895"/>
            </a:avLst>
          </a:prstGeom>
          <a:solidFill>
            <a:srgbClr val="111A3D"/>
          </a:solidFill>
          <a:ln w="12700">
            <a:solidFill>
              <a:srgbClr val="2A3667"/>
            </a:solidFill>
            <a:prstDash val="solid"/>
          </a:ln>
        </p:spPr>
      </p:sp>
      <p:sp>
        <p:nvSpPr>
          <p:cNvPr id="43" name="Text 41"/>
          <p:cNvSpPr/>
          <p:nvPr/>
        </p:nvSpPr>
        <p:spPr>
          <a:xfrm>
            <a:off x="9244584" y="3602736"/>
            <a:ext cx="1755648"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CIS Controls</a:t>
            </a:r>
            <a:endParaRPr lang="en-US" sz="1400" dirty="0"/>
          </a:p>
        </p:txBody>
      </p:sp>
      <p:sp>
        <p:nvSpPr>
          <p:cNvPr id="44" name="Text 42"/>
          <p:cNvSpPr/>
          <p:nvPr/>
        </p:nvSpPr>
        <p:spPr>
          <a:xfrm>
            <a:off x="10835640" y="3602736"/>
            <a:ext cx="566928" cy="256032"/>
          </a:xfrm>
          <a:prstGeom prst="roundRect">
            <a:avLst>
              <a:gd name="adj" fmla="val 25000"/>
            </a:avLst>
          </a:prstGeom>
          <a:solidFill>
            <a:srgbClr val="17224C"/>
          </a:solidFill>
          <a:ln w="12700">
            <a:solidFill>
              <a:srgbClr val="FF5C7A"/>
            </a:solidFill>
          </a:ln>
        </p:spPr>
        <p:txBody>
          <a:bodyPr wrap="square" lIns="38100" tIns="38100" rIns="38100" bIns="38100" rtlCol="0" anchor="ctr"/>
          <a:lstStyle/>
          <a:p>
            <a:pPr algn="ctr" indent="0" marL="0">
              <a:buNone/>
            </a:pPr>
            <a:r>
              <a:rPr lang="en-US" sz="850" b="1" dirty="0">
                <a:solidFill>
                  <a:srgbClr val="FF5C7A"/>
                </a:solidFill>
                <a:latin typeface="Calibri" pitchFamily="34" charset="0"/>
                <a:ea typeface="Calibri" pitchFamily="34" charset="-122"/>
                <a:cs typeface="Calibri" pitchFamily="34" charset="-120"/>
              </a:rPr>
              <a:t>FAIL</a:t>
            </a:r>
            <a:endParaRPr lang="en-US" sz="850" dirty="0"/>
          </a:p>
        </p:txBody>
      </p:sp>
      <p:sp>
        <p:nvSpPr>
          <p:cNvPr id="45" name="Text 43"/>
          <p:cNvSpPr/>
          <p:nvPr/>
        </p:nvSpPr>
        <p:spPr>
          <a:xfrm>
            <a:off x="9244584" y="3968496"/>
            <a:ext cx="2176272" cy="237744"/>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23 findings  ·  1 control</a:t>
            </a:r>
            <a:endParaRPr lang="en-US" sz="1100" dirty="0"/>
          </a:p>
        </p:txBody>
      </p:sp>
      <p:sp>
        <p:nvSpPr>
          <p:cNvPr id="46" name="Text 44"/>
          <p:cNvSpPr/>
          <p:nvPr/>
        </p:nvSpPr>
        <p:spPr>
          <a:xfrm>
            <a:off x="9244584" y="4242816"/>
            <a:ext cx="2176272" cy="438912"/>
          </a:xfrm>
          <a:prstGeom prst="rect">
            <a:avLst/>
          </a:prstGeom>
          <a:noFill/>
          <a:ln/>
        </p:spPr>
        <p:txBody>
          <a:bodyPr wrap="square" lIns="0" tIns="0" rIns="0" bIns="0" rtlCol="0" anchor="t"/>
          <a:lstStyle/>
          <a:p>
            <a:pPr indent="0" marL="0">
              <a:buNone/>
            </a:pPr>
            <a:r>
              <a:rPr lang="en-US" sz="1000" dirty="0">
                <a:solidFill>
                  <a:srgbClr val="4CC9F0"/>
                </a:solidFill>
                <a:latin typeface="Courier New" pitchFamily="34" charset="0"/>
                <a:ea typeface="Courier New" pitchFamily="34" charset="-122"/>
                <a:cs typeface="Courier New" pitchFamily="34" charset="-120"/>
              </a:rPr>
              <a:t>3.11</a:t>
            </a:r>
            <a:endParaRPr lang="en-US" sz="1000" dirty="0"/>
          </a:p>
        </p:txBody>
      </p:sp>
      <p:sp>
        <p:nvSpPr>
          <p:cNvPr id="47" name="Shape 45"/>
          <p:cNvSpPr/>
          <p:nvPr/>
        </p:nvSpPr>
        <p:spPr>
          <a:xfrm>
            <a:off x="566928" y="5129784"/>
            <a:ext cx="11055096" cy="960120"/>
          </a:xfrm>
          <a:prstGeom prst="roundRect">
            <a:avLst>
              <a:gd name="adj" fmla="val 11429"/>
            </a:avLst>
          </a:prstGeom>
          <a:solidFill>
            <a:srgbClr val="17224C"/>
          </a:solidFill>
          <a:ln w="12700">
            <a:solidFill>
              <a:srgbClr val="2A3667"/>
            </a:solidFill>
            <a:prstDash val="solid"/>
          </a:ln>
        </p:spPr>
      </p:sp>
      <p:sp>
        <p:nvSpPr>
          <p:cNvPr id="48" name="Text 46"/>
          <p:cNvSpPr/>
          <p:nvPr/>
        </p:nvSpPr>
        <p:spPr>
          <a:xfrm>
            <a:off x="841248" y="5129784"/>
            <a:ext cx="1371600" cy="960120"/>
          </a:xfrm>
          <a:prstGeom prst="rect">
            <a:avLst/>
          </a:prstGeom>
          <a:noFill/>
          <a:ln/>
        </p:spPr>
        <p:txBody>
          <a:bodyPr wrap="square" lIns="0" tIns="0" rIns="0" bIns="0" rtlCol="0" anchor="ctr"/>
          <a:lstStyle/>
          <a:p>
            <a:pPr indent="0" marL="0">
              <a:buNone/>
            </a:pPr>
            <a:r>
              <a:rPr lang="en-US" sz="1500" b="1" dirty="0">
                <a:solidFill>
                  <a:srgbClr val="9AA7D0"/>
                </a:solidFill>
                <a:latin typeface="Calibri" pitchFamily="34" charset="0"/>
                <a:ea typeface="Calibri" pitchFamily="34" charset="-122"/>
                <a:cs typeface="Calibri" pitchFamily="34" charset="-120"/>
              </a:rPr>
              <a:t>0 passed</a:t>
            </a:r>
            <a:endParaRPr lang="en-US" sz="1500" dirty="0"/>
          </a:p>
        </p:txBody>
      </p:sp>
      <p:sp>
        <p:nvSpPr>
          <p:cNvPr id="49" name="Text 47"/>
          <p:cNvSpPr/>
          <p:nvPr/>
        </p:nvSpPr>
        <p:spPr>
          <a:xfrm>
            <a:off x="2258568" y="5129784"/>
            <a:ext cx="1371600" cy="960120"/>
          </a:xfrm>
          <a:prstGeom prst="rect">
            <a:avLst/>
          </a:prstGeom>
          <a:noFill/>
          <a:ln/>
        </p:spPr>
        <p:txBody>
          <a:bodyPr wrap="square" lIns="0" tIns="0" rIns="0" bIns="0" rtlCol="0" anchor="ctr"/>
          <a:lstStyle/>
          <a:p>
            <a:pPr indent="0" marL="0">
              <a:buNone/>
            </a:pPr>
            <a:r>
              <a:rPr lang="en-US" sz="1500" b="1" dirty="0">
                <a:solidFill>
                  <a:srgbClr val="9AA7D0"/>
                </a:solidFill>
                <a:latin typeface="Calibri" pitchFamily="34" charset="0"/>
                <a:ea typeface="Calibri" pitchFamily="34" charset="-122"/>
                <a:cs typeface="Calibri" pitchFamily="34" charset="-120"/>
              </a:rPr>
              <a:t>0 partial</a:t>
            </a:r>
            <a:endParaRPr lang="en-US" sz="1500" dirty="0"/>
          </a:p>
        </p:txBody>
      </p:sp>
      <p:sp>
        <p:nvSpPr>
          <p:cNvPr id="50" name="Text 48"/>
          <p:cNvSpPr/>
          <p:nvPr/>
        </p:nvSpPr>
        <p:spPr>
          <a:xfrm>
            <a:off x="3675888" y="5129784"/>
            <a:ext cx="1371600" cy="960120"/>
          </a:xfrm>
          <a:prstGeom prst="rect">
            <a:avLst/>
          </a:prstGeom>
          <a:noFill/>
          <a:ln/>
        </p:spPr>
        <p:txBody>
          <a:bodyPr wrap="square" lIns="0" tIns="0" rIns="0" bIns="0" rtlCol="0" anchor="ctr"/>
          <a:lstStyle/>
          <a:p>
            <a:pPr indent="0" marL="0">
              <a:buNone/>
            </a:pPr>
            <a:r>
              <a:rPr lang="en-US" sz="1500" b="1" dirty="0">
                <a:solidFill>
                  <a:srgbClr val="FF5C7A"/>
                </a:solidFill>
                <a:latin typeface="Calibri" pitchFamily="34" charset="0"/>
                <a:ea typeface="Calibri" pitchFamily="34" charset="-122"/>
                <a:cs typeface="Calibri" pitchFamily="34" charset="-120"/>
              </a:rPr>
              <a:t>8 failed</a:t>
            </a:r>
            <a:endParaRPr lang="en-US" sz="1500" dirty="0"/>
          </a:p>
        </p:txBody>
      </p:sp>
      <p:sp>
        <p:nvSpPr>
          <p:cNvPr id="51" name="Text 49"/>
          <p:cNvSpPr/>
          <p:nvPr/>
        </p:nvSpPr>
        <p:spPr>
          <a:xfrm>
            <a:off x="5230368" y="5129784"/>
            <a:ext cx="6117336" cy="9601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 framework has a cryptographic control that this estate fails — and each one now has evidence attached to it.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BEYOND SOURCE CODE</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Certificates, dependencies and SBOM</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Cryptographic risk does not stop at code you wrote — it lives in your PKI and your supply chain.</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66928" y="1828800"/>
            <a:ext cx="5404104" cy="3200400"/>
          </a:xfrm>
          <a:prstGeom prst="roundRect">
            <a:avLst>
              <a:gd name="adj" fmla="val 3429"/>
            </a:avLst>
          </a:prstGeom>
          <a:solidFill>
            <a:srgbClr val="111A3D"/>
          </a:solidFill>
          <a:ln w="12700">
            <a:solidFill>
              <a:srgbClr val="2A3667"/>
            </a:solidFill>
            <a:prstDash val="solid"/>
          </a:ln>
        </p:spPr>
      </p:sp>
      <p:sp>
        <p:nvSpPr>
          <p:cNvPr id="8" name="Text 6"/>
          <p:cNvSpPr/>
          <p:nvPr/>
        </p:nvSpPr>
        <p:spPr>
          <a:xfrm>
            <a:off x="786384" y="2029968"/>
            <a:ext cx="822960" cy="274320"/>
          </a:xfrm>
          <a:prstGeom prst="roundRect">
            <a:avLst>
              <a:gd name="adj" fmla="val 23333"/>
            </a:avLst>
          </a:prstGeom>
          <a:solidFill>
            <a:srgbClr val="17224C"/>
          </a:solidFill>
          <a:ln w="12700">
            <a:solidFill>
              <a:srgbClr val="4CC9F0"/>
            </a:solidFill>
          </a:ln>
        </p:spPr>
        <p:txBody>
          <a:bodyPr wrap="square" lIns="38100" tIns="38100" rIns="38100" bIns="38100" rtlCol="0" anchor="ctr"/>
          <a:lstStyle/>
          <a:p>
            <a:pPr algn="ctr" indent="0" marL="0">
              <a:buNone/>
            </a:pPr>
            <a:r>
              <a:rPr lang="en-US" sz="900" b="1" dirty="0">
                <a:solidFill>
                  <a:srgbClr val="4CC9F0"/>
                </a:solidFill>
                <a:latin typeface="Calibri" pitchFamily="34" charset="0"/>
                <a:ea typeface="Calibri" pitchFamily="34" charset="-122"/>
                <a:cs typeface="Calibri" pitchFamily="34" charset="-120"/>
              </a:rPr>
              <a:t>X.509</a:t>
            </a:r>
            <a:endParaRPr lang="en-US" sz="900" dirty="0"/>
          </a:p>
        </p:txBody>
      </p:sp>
      <p:sp>
        <p:nvSpPr>
          <p:cNvPr id="9" name="Text 7"/>
          <p:cNvSpPr/>
          <p:nvPr/>
        </p:nvSpPr>
        <p:spPr>
          <a:xfrm>
            <a:off x="1700784" y="2029968"/>
            <a:ext cx="4032504" cy="2743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Certificate intelligence</a:t>
            </a:r>
            <a:endParaRPr lang="en-US" sz="1700" dirty="0"/>
          </a:p>
        </p:txBody>
      </p:sp>
      <p:sp>
        <p:nvSpPr>
          <p:cNvPr id="10" name="Shape 8"/>
          <p:cNvSpPr/>
          <p:nvPr/>
        </p:nvSpPr>
        <p:spPr>
          <a:xfrm>
            <a:off x="786384" y="2487168"/>
            <a:ext cx="2391156" cy="822960"/>
          </a:xfrm>
          <a:prstGeom prst="roundRect">
            <a:avLst>
              <a:gd name="adj" fmla="val 13333"/>
            </a:avLst>
          </a:prstGeom>
          <a:solidFill>
            <a:srgbClr val="17224C"/>
          </a:solidFill>
          <a:ln w="12700">
            <a:solidFill>
              <a:srgbClr val="17224C"/>
            </a:solidFill>
            <a:prstDash val="solid"/>
          </a:ln>
        </p:spPr>
      </p:sp>
      <p:sp>
        <p:nvSpPr>
          <p:cNvPr id="11" name="Text 9"/>
          <p:cNvSpPr/>
          <p:nvPr/>
        </p:nvSpPr>
        <p:spPr>
          <a:xfrm>
            <a:off x="950976" y="2596896"/>
            <a:ext cx="2061972" cy="365760"/>
          </a:xfrm>
          <a:prstGeom prst="rect">
            <a:avLst/>
          </a:prstGeom>
          <a:noFill/>
          <a:ln/>
        </p:spPr>
        <p:txBody>
          <a:bodyPr wrap="square" lIns="0" tIns="0" rIns="0" bIns="0" rtlCol="0" anchor="t"/>
          <a:lstStyle/>
          <a:p>
            <a:pPr indent="0" marL="0">
              <a:buNone/>
            </a:pPr>
            <a:r>
              <a:rPr lang="en-US" sz="2400" b="1" dirty="0">
                <a:solidFill>
                  <a:srgbClr val="4CC9F0"/>
                </a:solidFill>
                <a:latin typeface="Calibri" pitchFamily="34" charset="0"/>
                <a:ea typeface="Calibri" pitchFamily="34" charset="-122"/>
                <a:cs typeface="Calibri" pitchFamily="34" charset="-120"/>
              </a:rPr>
              <a:t>4</a:t>
            </a:r>
            <a:endParaRPr lang="en-US" sz="2400" dirty="0"/>
          </a:p>
        </p:txBody>
      </p:sp>
      <p:sp>
        <p:nvSpPr>
          <p:cNvPr id="12" name="Text 10"/>
          <p:cNvSpPr/>
          <p:nvPr/>
        </p:nvSpPr>
        <p:spPr>
          <a:xfrm>
            <a:off x="950976" y="2980944"/>
            <a:ext cx="2061972" cy="219456"/>
          </a:xfrm>
          <a:prstGeom prst="rect">
            <a:avLst/>
          </a:prstGeom>
          <a:noFill/>
          <a:ln/>
        </p:spPr>
        <p:txBody>
          <a:bodyPr wrap="square" lIns="0" tIns="0" rIns="0" bIns="0" rtlCol="0" anchor="t"/>
          <a:lstStyle/>
          <a:p>
            <a:pPr indent="0" marL="0">
              <a:buNone/>
            </a:pPr>
            <a:r>
              <a:rPr lang="en-US" sz="850" b="1" spc="100" kern="0" dirty="0">
                <a:solidFill>
                  <a:srgbClr val="9AA7D0"/>
                </a:solidFill>
                <a:latin typeface="Calibri" pitchFamily="34" charset="0"/>
                <a:ea typeface="Calibri" pitchFamily="34" charset="-122"/>
                <a:cs typeface="Calibri" pitchFamily="34" charset="-120"/>
              </a:rPr>
              <a:t>CERTIFICATES</a:t>
            </a:r>
            <a:endParaRPr lang="en-US" sz="850" dirty="0"/>
          </a:p>
        </p:txBody>
      </p:sp>
      <p:sp>
        <p:nvSpPr>
          <p:cNvPr id="13" name="Shape 11"/>
          <p:cNvSpPr/>
          <p:nvPr/>
        </p:nvSpPr>
        <p:spPr>
          <a:xfrm>
            <a:off x="3360420" y="2487168"/>
            <a:ext cx="2391156" cy="822960"/>
          </a:xfrm>
          <a:prstGeom prst="roundRect">
            <a:avLst>
              <a:gd name="adj" fmla="val 13333"/>
            </a:avLst>
          </a:prstGeom>
          <a:solidFill>
            <a:srgbClr val="17224C"/>
          </a:solidFill>
          <a:ln w="12700">
            <a:solidFill>
              <a:srgbClr val="17224C"/>
            </a:solidFill>
            <a:prstDash val="solid"/>
          </a:ln>
        </p:spPr>
      </p:sp>
      <p:sp>
        <p:nvSpPr>
          <p:cNvPr id="14" name="Text 12"/>
          <p:cNvSpPr/>
          <p:nvPr/>
        </p:nvSpPr>
        <p:spPr>
          <a:xfrm>
            <a:off x="3525012" y="2596896"/>
            <a:ext cx="2061972" cy="365760"/>
          </a:xfrm>
          <a:prstGeom prst="rect">
            <a:avLst/>
          </a:prstGeom>
          <a:noFill/>
          <a:ln/>
        </p:spPr>
        <p:txBody>
          <a:bodyPr wrap="square" lIns="0" tIns="0" rIns="0" bIns="0" rtlCol="0" anchor="t"/>
          <a:lstStyle/>
          <a:p>
            <a:pPr indent="0" marL="0">
              <a:buNone/>
            </a:pPr>
            <a:r>
              <a:rPr lang="en-US" sz="2400" b="1" dirty="0">
                <a:solidFill>
                  <a:srgbClr val="4CC9F0"/>
                </a:solidFill>
                <a:latin typeface="Calibri" pitchFamily="34" charset="0"/>
                <a:ea typeface="Calibri" pitchFamily="34" charset="-122"/>
                <a:cs typeface="Calibri" pitchFamily="34" charset="-120"/>
              </a:rPr>
              <a:t>1</a:t>
            </a:r>
            <a:endParaRPr lang="en-US" sz="2400" dirty="0"/>
          </a:p>
        </p:txBody>
      </p:sp>
      <p:sp>
        <p:nvSpPr>
          <p:cNvPr id="15" name="Text 13"/>
          <p:cNvSpPr/>
          <p:nvPr/>
        </p:nvSpPr>
        <p:spPr>
          <a:xfrm>
            <a:off x="3525012" y="2980944"/>
            <a:ext cx="2061972" cy="219456"/>
          </a:xfrm>
          <a:prstGeom prst="rect">
            <a:avLst/>
          </a:prstGeom>
          <a:noFill/>
          <a:ln/>
        </p:spPr>
        <p:txBody>
          <a:bodyPr wrap="square" lIns="0" tIns="0" rIns="0" bIns="0" rtlCol="0" anchor="t"/>
          <a:lstStyle/>
          <a:p>
            <a:pPr indent="0" marL="0">
              <a:buNone/>
            </a:pPr>
            <a:r>
              <a:rPr lang="en-US" sz="850" b="1" spc="100" kern="0" dirty="0">
                <a:solidFill>
                  <a:srgbClr val="9AA7D0"/>
                </a:solidFill>
                <a:latin typeface="Calibri" pitchFamily="34" charset="0"/>
                <a:ea typeface="Calibri" pitchFamily="34" charset="-122"/>
                <a:cs typeface="Calibri" pitchFamily="34" charset="-120"/>
              </a:rPr>
              <a:t>EXPIRED</a:t>
            </a:r>
            <a:endParaRPr lang="en-US" sz="850" dirty="0"/>
          </a:p>
        </p:txBody>
      </p:sp>
      <p:sp>
        <p:nvSpPr>
          <p:cNvPr id="16" name="Shape 14"/>
          <p:cNvSpPr/>
          <p:nvPr/>
        </p:nvSpPr>
        <p:spPr>
          <a:xfrm>
            <a:off x="786384" y="3456432"/>
            <a:ext cx="2391156" cy="822960"/>
          </a:xfrm>
          <a:prstGeom prst="roundRect">
            <a:avLst>
              <a:gd name="adj" fmla="val 13333"/>
            </a:avLst>
          </a:prstGeom>
          <a:solidFill>
            <a:srgbClr val="17224C"/>
          </a:solidFill>
          <a:ln w="12700">
            <a:solidFill>
              <a:srgbClr val="17224C"/>
            </a:solidFill>
            <a:prstDash val="solid"/>
          </a:ln>
        </p:spPr>
      </p:sp>
      <p:sp>
        <p:nvSpPr>
          <p:cNvPr id="17" name="Text 15"/>
          <p:cNvSpPr/>
          <p:nvPr/>
        </p:nvSpPr>
        <p:spPr>
          <a:xfrm>
            <a:off x="950976" y="3566160"/>
            <a:ext cx="2061972" cy="365760"/>
          </a:xfrm>
          <a:prstGeom prst="rect">
            <a:avLst/>
          </a:prstGeom>
          <a:noFill/>
          <a:ln/>
        </p:spPr>
        <p:txBody>
          <a:bodyPr wrap="square" lIns="0" tIns="0" rIns="0" bIns="0" rtlCol="0" anchor="t"/>
          <a:lstStyle/>
          <a:p>
            <a:pPr indent="0" marL="0">
              <a:buNone/>
            </a:pPr>
            <a:r>
              <a:rPr lang="en-US" sz="2400" b="1" dirty="0">
                <a:solidFill>
                  <a:srgbClr val="4CC9F0"/>
                </a:solidFill>
                <a:latin typeface="Calibri" pitchFamily="34" charset="0"/>
                <a:ea typeface="Calibri" pitchFamily="34" charset="-122"/>
                <a:cs typeface="Calibri" pitchFamily="34" charset="-120"/>
              </a:rPr>
              <a:t>4</a:t>
            </a:r>
            <a:endParaRPr lang="en-US" sz="2400" dirty="0"/>
          </a:p>
        </p:txBody>
      </p:sp>
      <p:sp>
        <p:nvSpPr>
          <p:cNvPr id="18" name="Text 16"/>
          <p:cNvSpPr/>
          <p:nvPr/>
        </p:nvSpPr>
        <p:spPr>
          <a:xfrm>
            <a:off x="950976" y="3950208"/>
            <a:ext cx="2061972" cy="219456"/>
          </a:xfrm>
          <a:prstGeom prst="rect">
            <a:avLst/>
          </a:prstGeom>
          <a:noFill/>
          <a:ln/>
        </p:spPr>
        <p:txBody>
          <a:bodyPr wrap="square" lIns="0" tIns="0" rIns="0" bIns="0" rtlCol="0" anchor="t"/>
          <a:lstStyle/>
          <a:p>
            <a:pPr indent="0" marL="0">
              <a:buNone/>
            </a:pPr>
            <a:r>
              <a:rPr lang="en-US" sz="850" b="1" spc="100" kern="0" dirty="0">
                <a:solidFill>
                  <a:srgbClr val="9AA7D0"/>
                </a:solidFill>
                <a:latin typeface="Calibri" pitchFamily="34" charset="0"/>
                <a:ea typeface="Calibri" pitchFamily="34" charset="-122"/>
                <a:cs typeface="Calibri" pitchFamily="34" charset="-120"/>
              </a:rPr>
              <a:t>QUANTUM-VULNERABLE</a:t>
            </a:r>
            <a:endParaRPr lang="en-US" sz="850" dirty="0"/>
          </a:p>
        </p:txBody>
      </p:sp>
      <p:sp>
        <p:nvSpPr>
          <p:cNvPr id="19" name="Shape 17"/>
          <p:cNvSpPr/>
          <p:nvPr/>
        </p:nvSpPr>
        <p:spPr>
          <a:xfrm>
            <a:off x="3360420" y="3456432"/>
            <a:ext cx="2391156" cy="822960"/>
          </a:xfrm>
          <a:prstGeom prst="roundRect">
            <a:avLst>
              <a:gd name="adj" fmla="val 13333"/>
            </a:avLst>
          </a:prstGeom>
          <a:solidFill>
            <a:srgbClr val="17224C"/>
          </a:solidFill>
          <a:ln w="12700">
            <a:solidFill>
              <a:srgbClr val="17224C"/>
            </a:solidFill>
            <a:prstDash val="solid"/>
          </a:ln>
        </p:spPr>
      </p:sp>
      <p:sp>
        <p:nvSpPr>
          <p:cNvPr id="20" name="Text 18"/>
          <p:cNvSpPr/>
          <p:nvPr/>
        </p:nvSpPr>
        <p:spPr>
          <a:xfrm>
            <a:off x="3525012" y="3566160"/>
            <a:ext cx="2061972" cy="365760"/>
          </a:xfrm>
          <a:prstGeom prst="rect">
            <a:avLst/>
          </a:prstGeom>
          <a:noFill/>
          <a:ln/>
        </p:spPr>
        <p:txBody>
          <a:bodyPr wrap="square" lIns="0" tIns="0" rIns="0" bIns="0" rtlCol="0" anchor="t"/>
          <a:lstStyle/>
          <a:p>
            <a:pPr indent="0" marL="0">
              <a:buNone/>
            </a:pPr>
            <a:r>
              <a:rPr lang="en-US" sz="2400" b="1" dirty="0">
                <a:solidFill>
                  <a:srgbClr val="4CC9F0"/>
                </a:solidFill>
                <a:latin typeface="Calibri" pitchFamily="34" charset="0"/>
                <a:ea typeface="Calibri" pitchFamily="34" charset="-122"/>
                <a:cs typeface="Calibri" pitchFamily="34" charset="-120"/>
              </a:rPr>
              <a:t>1</a:t>
            </a:r>
            <a:endParaRPr lang="en-US" sz="2400" dirty="0"/>
          </a:p>
        </p:txBody>
      </p:sp>
      <p:sp>
        <p:nvSpPr>
          <p:cNvPr id="21" name="Text 19"/>
          <p:cNvSpPr/>
          <p:nvPr/>
        </p:nvSpPr>
        <p:spPr>
          <a:xfrm>
            <a:off x="3525012" y="3950208"/>
            <a:ext cx="2061972" cy="219456"/>
          </a:xfrm>
          <a:prstGeom prst="rect">
            <a:avLst/>
          </a:prstGeom>
          <a:noFill/>
          <a:ln/>
        </p:spPr>
        <p:txBody>
          <a:bodyPr wrap="square" lIns="0" tIns="0" rIns="0" bIns="0" rtlCol="0" anchor="t"/>
          <a:lstStyle/>
          <a:p>
            <a:pPr indent="0" marL="0">
              <a:buNone/>
            </a:pPr>
            <a:r>
              <a:rPr lang="en-US" sz="850" b="1" spc="100" kern="0" dirty="0">
                <a:solidFill>
                  <a:srgbClr val="9AA7D0"/>
                </a:solidFill>
                <a:latin typeface="Calibri" pitchFamily="34" charset="0"/>
                <a:ea typeface="Calibri" pitchFamily="34" charset="-122"/>
                <a:cs typeface="Calibri" pitchFamily="34" charset="-120"/>
              </a:rPr>
              <a:t>EXPIRING ≤ 30 DAYS</a:t>
            </a:r>
            <a:endParaRPr lang="en-US" sz="850" dirty="0"/>
          </a:p>
        </p:txBody>
      </p:sp>
      <p:sp>
        <p:nvSpPr>
          <p:cNvPr id="22" name="Text 20"/>
          <p:cNvSpPr/>
          <p:nvPr/>
        </p:nvSpPr>
        <p:spPr>
          <a:xfrm>
            <a:off x="786384" y="4370832"/>
            <a:ext cx="4965192" cy="548640"/>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Real X.509 parsing via the cryptography library — key algorithm, size, validity and signature algorithm. 0 are PQC-ready.</a:t>
            </a:r>
            <a:endParaRPr lang="en-US" sz="1100" dirty="0"/>
          </a:p>
        </p:txBody>
      </p:sp>
      <p:sp>
        <p:nvSpPr>
          <p:cNvPr id="23" name="Shape 21"/>
          <p:cNvSpPr/>
          <p:nvPr/>
        </p:nvSpPr>
        <p:spPr>
          <a:xfrm>
            <a:off x="6217920" y="1828800"/>
            <a:ext cx="5404104" cy="3200400"/>
          </a:xfrm>
          <a:prstGeom prst="roundRect">
            <a:avLst>
              <a:gd name="adj" fmla="val 3429"/>
            </a:avLst>
          </a:prstGeom>
          <a:solidFill>
            <a:srgbClr val="111A3D"/>
          </a:solidFill>
          <a:ln w="12700">
            <a:solidFill>
              <a:srgbClr val="2A3667"/>
            </a:solidFill>
            <a:prstDash val="solid"/>
          </a:ln>
        </p:spPr>
      </p:sp>
      <p:sp>
        <p:nvSpPr>
          <p:cNvPr id="24" name="Text 22"/>
          <p:cNvSpPr/>
          <p:nvPr/>
        </p:nvSpPr>
        <p:spPr>
          <a:xfrm>
            <a:off x="6437376" y="2029968"/>
            <a:ext cx="822960" cy="274320"/>
          </a:xfrm>
          <a:prstGeom prst="roundRect">
            <a:avLst>
              <a:gd name="adj" fmla="val 23333"/>
            </a:avLst>
          </a:prstGeom>
          <a:solidFill>
            <a:srgbClr val="17224C"/>
          </a:solidFill>
          <a:ln w="12700">
            <a:solidFill>
              <a:srgbClr val="9B8CFA"/>
            </a:solidFill>
          </a:ln>
        </p:spPr>
        <p:txBody>
          <a:bodyPr wrap="square" lIns="38100" tIns="38100" rIns="38100" bIns="38100" rtlCol="0" anchor="ctr"/>
          <a:lstStyle/>
          <a:p>
            <a:pPr algn="ctr" indent="0" marL="0">
              <a:buNone/>
            </a:pPr>
            <a:r>
              <a:rPr lang="en-US" sz="900" b="1" dirty="0">
                <a:solidFill>
                  <a:srgbClr val="9B8CFA"/>
                </a:solidFill>
                <a:latin typeface="Calibri" pitchFamily="34" charset="0"/>
                <a:ea typeface="Calibri" pitchFamily="34" charset="-122"/>
                <a:cs typeface="Calibri" pitchFamily="34" charset="-120"/>
              </a:rPr>
              <a:t>SBOM</a:t>
            </a:r>
            <a:endParaRPr lang="en-US" sz="900" dirty="0"/>
          </a:p>
        </p:txBody>
      </p:sp>
      <p:sp>
        <p:nvSpPr>
          <p:cNvPr id="25" name="Text 23"/>
          <p:cNvSpPr/>
          <p:nvPr/>
        </p:nvSpPr>
        <p:spPr>
          <a:xfrm>
            <a:off x="7351776" y="2029968"/>
            <a:ext cx="4032504" cy="2743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Dependencies &amp; SBOM</a:t>
            </a:r>
            <a:endParaRPr lang="en-US" sz="1700" dirty="0"/>
          </a:p>
        </p:txBody>
      </p:sp>
      <p:sp>
        <p:nvSpPr>
          <p:cNvPr id="26" name="Shape 24"/>
          <p:cNvSpPr/>
          <p:nvPr/>
        </p:nvSpPr>
        <p:spPr>
          <a:xfrm>
            <a:off x="6437376" y="2487168"/>
            <a:ext cx="2391156" cy="822960"/>
          </a:xfrm>
          <a:prstGeom prst="roundRect">
            <a:avLst>
              <a:gd name="adj" fmla="val 13333"/>
            </a:avLst>
          </a:prstGeom>
          <a:solidFill>
            <a:srgbClr val="17224C"/>
          </a:solidFill>
          <a:ln w="12700">
            <a:solidFill>
              <a:srgbClr val="17224C"/>
            </a:solidFill>
            <a:prstDash val="solid"/>
          </a:ln>
        </p:spPr>
      </p:sp>
      <p:sp>
        <p:nvSpPr>
          <p:cNvPr id="27" name="Text 25"/>
          <p:cNvSpPr/>
          <p:nvPr/>
        </p:nvSpPr>
        <p:spPr>
          <a:xfrm>
            <a:off x="6601968" y="2596896"/>
            <a:ext cx="2061972" cy="365760"/>
          </a:xfrm>
          <a:prstGeom prst="rect">
            <a:avLst/>
          </a:prstGeom>
          <a:noFill/>
          <a:ln/>
        </p:spPr>
        <p:txBody>
          <a:bodyPr wrap="square" lIns="0" tIns="0" rIns="0" bIns="0" rtlCol="0" anchor="t"/>
          <a:lstStyle/>
          <a:p>
            <a:pPr indent="0" marL="0">
              <a:buNone/>
            </a:pPr>
            <a:r>
              <a:rPr lang="en-US" sz="2400" b="1" dirty="0">
                <a:solidFill>
                  <a:srgbClr val="9B8CFA"/>
                </a:solidFill>
                <a:latin typeface="Calibri" pitchFamily="34" charset="0"/>
                <a:ea typeface="Calibri" pitchFamily="34" charset="-122"/>
                <a:cs typeface="Calibri" pitchFamily="34" charset="-120"/>
              </a:rPr>
              <a:t>20</a:t>
            </a:r>
            <a:endParaRPr lang="en-US" sz="2400" dirty="0"/>
          </a:p>
        </p:txBody>
      </p:sp>
      <p:sp>
        <p:nvSpPr>
          <p:cNvPr id="28" name="Text 26"/>
          <p:cNvSpPr/>
          <p:nvPr/>
        </p:nvSpPr>
        <p:spPr>
          <a:xfrm>
            <a:off x="6601968" y="2980944"/>
            <a:ext cx="2061972" cy="219456"/>
          </a:xfrm>
          <a:prstGeom prst="rect">
            <a:avLst/>
          </a:prstGeom>
          <a:noFill/>
          <a:ln/>
        </p:spPr>
        <p:txBody>
          <a:bodyPr wrap="square" lIns="0" tIns="0" rIns="0" bIns="0" rtlCol="0" anchor="t"/>
          <a:lstStyle/>
          <a:p>
            <a:pPr indent="0" marL="0">
              <a:buNone/>
            </a:pPr>
            <a:r>
              <a:rPr lang="en-US" sz="850" b="1" spc="100" kern="0" dirty="0">
                <a:solidFill>
                  <a:srgbClr val="9AA7D0"/>
                </a:solidFill>
                <a:latin typeface="Calibri" pitchFamily="34" charset="0"/>
                <a:ea typeface="Calibri" pitchFamily="34" charset="-122"/>
                <a:cs typeface="Calibri" pitchFamily="34" charset="-120"/>
              </a:rPr>
              <a:t>PACKAGES</a:t>
            </a:r>
            <a:endParaRPr lang="en-US" sz="850" dirty="0"/>
          </a:p>
        </p:txBody>
      </p:sp>
      <p:sp>
        <p:nvSpPr>
          <p:cNvPr id="29" name="Shape 27"/>
          <p:cNvSpPr/>
          <p:nvPr/>
        </p:nvSpPr>
        <p:spPr>
          <a:xfrm>
            <a:off x="9011412" y="2487168"/>
            <a:ext cx="2391156" cy="822960"/>
          </a:xfrm>
          <a:prstGeom prst="roundRect">
            <a:avLst>
              <a:gd name="adj" fmla="val 13333"/>
            </a:avLst>
          </a:prstGeom>
          <a:solidFill>
            <a:srgbClr val="17224C"/>
          </a:solidFill>
          <a:ln w="12700">
            <a:solidFill>
              <a:srgbClr val="17224C"/>
            </a:solidFill>
            <a:prstDash val="solid"/>
          </a:ln>
        </p:spPr>
      </p:sp>
      <p:sp>
        <p:nvSpPr>
          <p:cNvPr id="30" name="Text 28"/>
          <p:cNvSpPr/>
          <p:nvPr/>
        </p:nvSpPr>
        <p:spPr>
          <a:xfrm>
            <a:off x="9176004" y="2596896"/>
            <a:ext cx="2061972" cy="365760"/>
          </a:xfrm>
          <a:prstGeom prst="rect">
            <a:avLst/>
          </a:prstGeom>
          <a:noFill/>
          <a:ln/>
        </p:spPr>
        <p:txBody>
          <a:bodyPr wrap="square" lIns="0" tIns="0" rIns="0" bIns="0" rtlCol="0" anchor="t"/>
          <a:lstStyle/>
          <a:p>
            <a:pPr indent="0" marL="0">
              <a:buNone/>
            </a:pPr>
            <a:r>
              <a:rPr lang="en-US" sz="2400" b="1" dirty="0">
                <a:solidFill>
                  <a:srgbClr val="9B8CFA"/>
                </a:solidFill>
                <a:latin typeface="Calibri" pitchFamily="34" charset="0"/>
                <a:ea typeface="Calibri" pitchFamily="34" charset="-122"/>
                <a:cs typeface="Calibri" pitchFamily="34" charset="-120"/>
              </a:rPr>
              <a:t>12</a:t>
            </a:r>
            <a:endParaRPr lang="en-US" sz="2400" dirty="0"/>
          </a:p>
        </p:txBody>
      </p:sp>
      <p:sp>
        <p:nvSpPr>
          <p:cNvPr id="31" name="Text 29"/>
          <p:cNvSpPr/>
          <p:nvPr/>
        </p:nvSpPr>
        <p:spPr>
          <a:xfrm>
            <a:off x="9176004" y="2980944"/>
            <a:ext cx="2061972" cy="219456"/>
          </a:xfrm>
          <a:prstGeom prst="rect">
            <a:avLst/>
          </a:prstGeom>
          <a:noFill/>
          <a:ln/>
        </p:spPr>
        <p:txBody>
          <a:bodyPr wrap="square" lIns="0" tIns="0" rIns="0" bIns="0" rtlCol="0" anchor="t"/>
          <a:lstStyle/>
          <a:p>
            <a:pPr indent="0" marL="0">
              <a:buNone/>
            </a:pPr>
            <a:r>
              <a:rPr lang="en-US" sz="850" b="1" spc="100" kern="0" dirty="0">
                <a:solidFill>
                  <a:srgbClr val="9AA7D0"/>
                </a:solidFill>
                <a:latin typeface="Calibri" pitchFamily="34" charset="0"/>
                <a:ea typeface="Calibri" pitchFamily="34" charset="-122"/>
                <a:cs typeface="Calibri" pitchFamily="34" charset="-120"/>
              </a:rPr>
              <a:t>FLAGGED</a:t>
            </a:r>
            <a:endParaRPr lang="en-US" sz="850" dirty="0"/>
          </a:p>
        </p:txBody>
      </p:sp>
      <p:sp>
        <p:nvSpPr>
          <p:cNvPr id="32" name="Shape 30"/>
          <p:cNvSpPr/>
          <p:nvPr/>
        </p:nvSpPr>
        <p:spPr>
          <a:xfrm>
            <a:off x="6437376" y="3456432"/>
            <a:ext cx="2391156" cy="822960"/>
          </a:xfrm>
          <a:prstGeom prst="roundRect">
            <a:avLst>
              <a:gd name="adj" fmla="val 13333"/>
            </a:avLst>
          </a:prstGeom>
          <a:solidFill>
            <a:srgbClr val="17224C"/>
          </a:solidFill>
          <a:ln w="12700">
            <a:solidFill>
              <a:srgbClr val="17224C"/>
            </a:solidFill>
            <a:prstDash val="solid"/>
          </a:ln>
        </p:spPr>
      </p:sp>
      <p:sp>
        <p:nvSpPr>
          <p:cNvPr id="33" name="Text 31"/>
          <p:cNvSpPr/>
          <p:nvPr/>
        </p:nvSpPr>
        <p:spPr>
          <a:xfrm>
            <a:off x="6601968" y="3566160"/>
            <a:ext cx="2061972" cy="365760"/>
          </a:xfrm>
          <a:prstGeom prst="rect">
            <a:avLst/>
          </a:prstGeom>
          <a:noFill/>
          <a:ln/>
        </p:spPr>
        <p:txBody>
          <a:bodyPr wrap="square" lIns="0" tIns="0" rIns="0" bIns="0" rtlCol="0" anchor="t"/>
          <a:lstStyle/>
          <a:p>
            <a:pPr indent="0" marL="0">
              <a:buNone/>
            </a:pPr>
            <a:r>
              <a:rPr lang="en-US" sz="2400" b="1" dirty="0">
                <a:solidFill>
                  <a:srgbClr val="9B8CFA"/>
                </a:solidFill>
                <a:latin typeface="Calibri" pitchFamily="34" charset="0"/>
                <a:ea typeface="Calibri" pitchFamily="34" charset="-122"/>
                <a:cs typeface="Calibri" pitchFamily="34" charset="-120"/>
              </a:rPr>
              <a:t>4</a:t>
            </a:r>
            <a:endParaRPr lang="en-US" sz="2400" dirty="0"/>
          </a:p>
        </p:txBody>
      </p:sp>
      <p:sp>
        <p:nvSpPr>
          <p:cNvPr id="34" name="Text 32"/>
          <p:cNvSpPr/>
          <p:nvPr/>
        </p:nvSpPr>
        <p:spPr>
          <a:xfrm>
            <a:off x="6601968" y="3950208"/>
            <a:ext cx="2061972" cy="219456"/>
          </a:xfrm>
          <a:prstGeom prst="rect">
            <a:avLst/>
          </a:prstGeom>
          <a:noFill/>
          <a:ln/>
        </p:spPr>
        <p:txBody>
          <a:bodyPr wrap="square" lIns="0" tIns="0" rIns="0" bIns="0" rtlCol="0" anchor="t"/>
          <a:lstStyle/>
          <a:p>
            <a:pPr indent="0" marL="0">
              <a:buNone/>
            </a:pPr>
            <a:r>
              <a:rPr lang="en-US" sz="850" b="1" spc="100" kern="0" dirty="0">
                <a:solidFill>
                  <a:srgbClr val="9AA7D0"/>
                </a:solidFill>
                <a:latin typeface="Calibri" pitchFamily="34" charset="0"/>
                <a:ea typeface="Calibri" pitchFamily="34" charset="-122"/>
                <a:cs typeface="Calibri" pitchFamily="34" charset="-120"/>
              </a:rPr>
              <a:t>MANIFESTS</a:t>
            </a:r>
            <a:endParaRPr lang="en-US" sz="850" dirty="0"/>
          </a:p>
        </p:txBody>
      </p:sp>
      <p:sp>
        <p:nvSpPr>
          <p:cNvPr id="35" name="Shape 33"/>
          <p:cNvSpPr/>
          <p:nvPr/>
        </p:nvSpPr>
        <p:spPr>
          <a:xfrm>
            <a:off x="9011412" y="3456432"/>
            <a:ext cx="2391156" cy="822960"/>
          </a:xfrm>
          <a:prstGeom prst="roundRect">
            <a:avLst>
              <a:gd name="adj" fmla="val 13333"/>
            </a:avLst>
          </a:prstGeom>
          <a:solidFill>
            <a:srgbClr val="17224C"/>
          </a:solidFill>
          <a:ln w="12700">
            <a:solidFill>
              <a:srgbClr val="17224C"/>
            </a:solidFill>
            <a:prstDash val="solid"/>
          </a:ln>
        </p:spPr>
      </p:sp>
      <p:sp>
        <p:nvSpPr>
          <p:cNvPr id="36" name="Text 34"/>
          <p:cNvSpPr/>
          <p:nvPr/>
        </p:nvSpPr>
        <p:spPr>
          <a:xfrm>
            <a:off x="9176004" y="3566160"/>
            <a:ext cx="2061972" cy="365760"/>
          </a:xfrm>
          <a:prstGeom prst="rect">
            <a:avLst/>
          </a:prstGeom>
          <a:noFill/>
          <a:ln/>
        </p:spPr>
        <p:txBody>
          <a:bodyPr wrap="square" lIns="0" tIns="0" rIns="0" bIns="0" rtlCol="0" anchor="t"/>
          <a:lstStyle/>
          <a:p>
            <a:pPr indent="0" marL="0">
              <a:buNone/>
            </a:pPr>
            <a:r>
              <a:rPr lang="en-US" sz="2400" b="1" dirty="0">
                <a:solidFill>
                  <a:srgbClr val="9B8CFA"/>
                </a:solidFill>
                <a:latin typeface="Calibri" pitchFamily="34" charset="0"/>
                <a:ea typeface="Calibri" pitchFamily="34" charset="-122"/>
                <a:cs typeface="Calibri" pitchFamily="34" charset="-120"/>
              </a:rPr>
              <a:t>F</a:t>
            </a:r>
            <a:endParaRPr lang="en-US" sz="2400" dirty="0"/>
          </a:p>
        </p:txBody>
      </p:sp>
      <p:sp>
        <p:nvSpPr>
          <p:cNvPr id="37" name="Text 35"/>
          <p:cNvSpPr/>
          <p:nvPr/>
        </p:nvSpPr>
        <p:spPr>
          <a:xfrm>
            <a:off x="9176004" y="3950208"/>
            <a:ext cx="2061972" cy="219456"/>
          </a:xfrm>
          <a:prstGeom prst="rect">
            <a:avLst/>
          </a:prstGeom>
          <a:noFill/>
          <a:ln/>
        </p:spPr>
        <p:txBody>
          <a:bodyPr wrap="square" lIns="0" tIns="0" rIns="0" bIns="0" rtlCol="0" anchor="t"/>
          <a:lstStyle/>
          <a:p>
            <a:pPr indent="0" marL="0">
              <a:buNone/>
            </a:pPr>
            <a:r>
              <a:rPr lang="en-US" sz="850" b="1" spc="100" kern="0" dirty="0">
                <a:solidFill>
                  <a:srgbClr val="9AA7D0"/>
                </a:solidFill>
                <a:latin typeface="Calibri" pitchFamily="34" charset="0"/>
                <a:ea typeface="Calibri" pitchFamily="34" charset="-122"/>
                <a:cs typeface="Calibri" pitchFamily="34" charset="-120"/>
              </a:rPr>
              <a:t>SUPPLY-CHAIN GRADE</a:t>
            </a:r>
            <a:endParaRPr lang="en-US" sz="850" dirty="0"/>
          </a:p>
        </p:txBody>
      </p:sp>
      <p:sp>
        <p:nvSpPr>
          <p:cNvPr id="38" name="Text 36"/>
          <p:cNvSpPr/>
          <p:nvPr/>
        </p:nvSpPr>
        <p:spPr>
          <a:xfrm>
            <a:off x="6437376" y="4370832"/>
            <a:ext cx="4965192" cy="548640"/>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Parses Cargo.toml, go.mod, package.json and requirements.txt; exports a CycloneDX SBOM with crypto advisories.</a:t>
            </a:r>
            <a:endParaRPr lang="en-US" sz="1100" dirty="0"/>
          </a:p>
        </p:txBody>
      </p:sp>
      <p:sp>
        <p:nvSpPr>
          <p:cNvPr id="39" name="Shape 37"/>
          <p:cNvSpPr/>
          <p:nvPr/>
        </p:nvSpPr>
        <p:spPr>
          <a:xfrm>
            <a:off x="566928" y="5266944"/>
            <a:ext cx="11055096" cy="822960"/>
          </a:xfrm>
          <a:prstGeom prst="roundRect">
            <a:avLst>
              <a:gd name="adj" fmla="val 13333"/>
            </a:avLst>
          </a:prstGeom>
          <a:solidFill>
            <a:srgbClr val="17224C"/>
          </a:solidFill>
          <a:ln w="12700">
            <a:solidFill>
              <a:srgbClr val="2A3667"/>
            </a:solidFill>
            <a:prstDash val="solid"/>
          </a:ln>
        </p:spPr>
      </p:sp>
      <p:sp>
        <p:nvSpPr>
          <p:cNvPr id="40" name="Text 38"/>
          <p:cNvSpPr/>
          <p:nvPr/>
        </p:nvSpPr>
        <p:spPr>
          <a:xfrm>
            <a:off x="841248" y="5266944"/>
            <a:ext cx="10506456" cy="8229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One scan, one posture — code, certificates and dependencies scored together instead of in three separate tools.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ENGINEERING</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 working platform, not a prototype</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Every number in this deck was pulled from the running system while building these slides.</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66928" y="1828800"/>
            <a:ext cx="4937760" cy="3246120"/>
          </a:xfrm>
          <a:prstGeom prst="roundRect">
            <a:avLst>
              <a:gd name="adj" fmla="val 3380"/>
            </a:avLst>
          </a:prstGeom>
          <a:solidFill>
            <a:srgbClr val="111A3D"/>
          </a:solidFill>
          <a:ln w="12700">
            <a:solidFill>
              <a:srgbClr val="2A3667"/>
            </a:solidFill>
            <a:prstDash val="solid"/>
          </a:ln>
        </p:spPr>
      </p:sp>
      <p:sp>
        <p:nvSpPr>
          <p:cNvPr id="8" name="Text 6"/>
          <p:cNvSpPr/>
          <p:nvPr/>
        </p:nvSpPr>
        <p:spPr>
          <a:xfrm>
            <a:off x="804672" y="2029968"/>
            <a:ext cx="4480560" cy="237744"/>
          </a:xfrm>
          <a:prstGeom prst="rect">
            <a:avLst/>
          </a:prstGeom>
          <a:noFill/>
          <a:ln/>
        </p:spPr>
        <p:txBody>
          <a:bodyPr wrap="square" lIns="0" tIns="0" rIns="0" bIns="0" rtlCol="0" anchor="t"/>
          <a:lstStyle/>
          <a:p>
            <a:pPr indent="0" marL="0">
              <a:buNone/>
            </a:pPr>
            <a:r>
              <a:rPr lang="en-US" sz="950" b="1" spc="160" kern="0" dirty="0">
                <a:solidFill>
                  <a:srgbClr val="3BE8B0"/>
                </a:solidFill>
                <a:latin typeface="Calibri" pitchFamily="34" charset="0"/>
                <a:ea typeface="Calibri" pitchFamily="34" charset="-122"/>
                <a:cs typeface="Calibri" pitchFamily="34" charset="-120"/>
              </a:rPr>
              <a:t>STACK</a:t>
            </a:r>
            <a:endParaRPr lang="en-US" sz="950" dirty="0"/>
          </a:p>
        </p:txBody>
      </p:sp>
      <p:sp>
        <p:nvSpPr>
          <p:cNvPr id="9" name="Text 7"/>
          <p:cNvSpPr/>
          <p:nvPr/>
        </p:nvSpPr>
        <p:spPr>
          <a:xfrm>
            <a:off x="804672" y="2395728"/>
            <a:ext cx="1188720" cy="219456"/>
          </a:xfrm>
          <a:prstGeom prst="rect">
            <a:avLst/>
          </a:prstGeom>
          <a:noFill/>
          <a:ln/>
        </p:spPr>
        <p:txBody>
          <a:bodyPr wrap="square" lIns="0" tIns="0" rIns="0" bIns="0" rtlCol="0" anchor="t"/>
          <a:lstStyle/>
          <a:p>
            <a:pPr indent="0" marL="0">
              <a:buNone/>
            </a:pPr>
            <a:r>
              <a:rPr lang="en-US" sz="900" b="1" spc="110" kern="0" dirty="0">
                <a:solidFill>
                  <a:srgbClr val="4CC9F0"/>
                </a:solidFill>
                <a:latin typeface="Calibri" pitchFamily="34" charset="0"/>
                <a:ea typeface="Calibri" pitchFamily="34" charset="-122"/>
                <a:cs typeface="Calibri" pitchFamily="34" charset="-120"/>
              </a:rPr>
              <a:t>BACKEND</a:t>
            </a:r>
            <a:endParaRPr lang="en-US" sz="900" dirty="0"/>
          </a:p>
        </p:txBody>
      </p:sp>
      <p:sp>
        <p:nvSpPr>
          <p:cNvPr id="10" name="Text 8"/>
          <p:cNvSpPr/>
          <p:nvPr/>
        </p:nvSpPr>
        <p:spPr>
          <a:xfrm>
            <a:off x="804672" y="2615184"/>
            <a:ext cx="4462272" cy="384048"/>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Python 3.14 · FastAPI · SQLAlchemy 2 · Pydantic v2 · SQLite</a:t>
            </a:r>
            <a:endParaRPr lang="en-US" sz="1150" dirty="0"/>
          </a:p>
        </p:txBody>
      </p:sp>
      <p:sp>
        <p:nvSpPr>
          <p:cNvPr id="11" name="Text 9"/>
          <p:cNvSpPr/>
          <p:nvPr/>
        </p:nvSpPr>
        <p:spPr>
          <a:xfrm>
            <a:off x="804672" y="3054096"/>
            <a:ext cx="1188720" cy="219456"/>
          </a:xfrm>
          <a:prstGeom prst="rect">
            <a:avLst/>
          </a:prstGeom>
          <a:noFill/>
          <a:ln/>
        </p:spPr>
        <p:txBody>
          <a:bodyPr wrap="square" lIns="0" tIns="0" rIns="0" bIns="0" rtlCol="0" anchor="t"/>
          <a:lstStyle/>
          <a:p>
            <a:pPr indent="0" marL="0">
              <a:buNone/>
            </a:pPr>
            <a:r>
              <a:rPr lang="en-US" sz="900" b="1" spc="110" kern="0" dirty="0">
                <a:solidFill>
                  <a:srgbClr val="4CC9F0"/>
                </a:solidFill>
                <a:latin typeface="Calibri" pitchFamily="34" charset="0"/>
                <a:ea typeface="Calibri" pitchFamily="34" charset="-122"/>
                <a:cs typeface="Calibri" pitchFamily="34" charset="-120"/>
              </a:rPr>
              <a:t>FRONTEND</a:t>
            </a:r>
            <a:endParaRPr lang="en-US" sz="900" dirty="0"/>
          </a:p>
        </p:txBody>
      </p:sp>
      <p:sp>
        <p:nvSpPr>
          <p:cNvPr id="12" name="Text 10"/>
          <p:cNvSpPr/>
          <p:nvPr/>
        </p:nvSpPr>
        <p:spPr>
          <a:xfrm>
            <a:off x="804672" y="3273552"/>
            <a:ext cx="4462272" cy="384048"/>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React 18 · TypeScript · Vite · Tailwind · Recharts</a:t>
            </a:r>
            <a:endParaRPr lang="en-US" sz="1150" dirty="0"/>
          </a:p>
        </p:txBody>
      </p:sp>
      <p:sp>
        <p:nvSpPr>
          <p:cNvPr id="13" name="Text 11"/>
          <p:cNvSpPr/>
          <p:nvPr/>
        </p:nvSpPr>
        <p:spPr>
          <a:xfrm>
            <a:off x="804672" y="3712464"/>
            <a:ext cx="1188720" cy="219456"/>
          </a:xfrm>
          <a:prstGeom prst="rect">
            <a:avLst/>
          </a:prstGeom>
          <a:noFill/>
          <a:ln/>
        </p:spPr>
        <p:txBody>
          <a:bodyPr wrap="square" lIns="0" tIns="0" rIns="0" bIns="0" rtlCol="0" anchor="t"/>
          <a:lstStyle/>
          <a:p>
            <a:pPr indent="0" marL="0">
              <a:buNone/>
            </a:pPr>
            <a:r>
              <a:rPr lang="en-US" sz="900" b="1" spc="110" kern="0" dirty="0">
                <a:solidFill>
                  <a:srgbClr val="4CC9F0"/>
                </a:solidFill>
                <a:latin typeface="Calibri" pitchFamily="34" charset="0"/>
                <a:ea typeface="Calibri" pitchFamily="34" charset="-122"/>
                <a:cs typeface="Calibri" pitchFamily="34" charset="-120"/>
              </a:rPr>
              <a:t>ANALYSIS</a:t>
            </a:r>
            <a:endParaRPr lang="en-US" sz="900" dirty="0"/>
          </a:p>
        </p:txBody>
      </p:sp>
      <p:sp>
        <p:nvSpPr>
          <p:cNvPr id="14" name="Text 12"/>
          <p:cNvSpPr/>
          <p:nvPr/>
        </p:nvSpPr>
        <p:spPr>
          <a:xfrm>
            <a:off x="804672" y="3931920"/>
            <a:ext cx="4462272" cy="384048"/>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Native ast module · cryptography · reportlab</a:t>
            </a:r>
            <a:endParaRPr lang="en-US" sz="1150" dirty="0"/>
          </a:p>
        </p:txBody>
      </p:sp>
      <p:sp>
        <p:nvSpPr>
          <p:cNvPr id="15" name="Text 13"/>
          <p:cNvSpPr/>
          <p:nvPr/>
        </p:nvSpPr>
        <p:spPr>
          <a:xfrm>
            <a:off x="804672" y="4370832"/>
            <a:ext cx="1188720" cy="219456"/>
          </a:xfrm>
          <a:prstGeom prst="rect">
            <a:avLst/>
          </a:prstGeom>
          <a:noFill/>
          <a:ln/>
        </p:spPr>
        <p:txBody>
          <a:bodyPr wrap="square" lIns="0" tIns="0" rIns="0" bIns="0" rtlCol="0" anchor="t"/>
          <a:lstStyle/>
          <a:p>
            <a:pPr indent="0" marL="0">
              <a:buNone/>
            </a:pPr>
            <a:r>
              <a:rPr lang="en-US" sz="900" b="1" spc="110" kern="0" dirty="0">
                <a:solidFill>
                  <a:srgbClr val="4CC9F0"/>
                </a:solidFill>
                <a:latin typeface="Calibri" pitchFamily="34" charset="0"/>
                <a:ea typeface="Calibri" pitchFamily="34" charset="-122"/>
                <a:cs typeface="Calibri" pitchFamily="34" charset="-120"/>
              </a:rPr>
              <a:t>DELIVERY</a:t>
            </a:r>
            <a:endParaRPr lang="en-US" sz="900" dirty="0"/>
          </a:p>
        </p:txBody>
      </p:sp>
      <p:sp>
        <p:nvSpPr>
          <p:cNvPr id="16" name="Text 14"/>
          <p:cNvSpPr/>
          <p:nvPr/>
        </p:nvSpPr>
        <p:spPr>
          <a:xfrm>
            <a:off x="804672" y="4590288"/>
            <a:ext cx="4462272" cy="384048"/>
          </a:xfrm>
          <a:prstGeom prst="rect">
            <a:avLst/>
          </a:prstGeom>
          <a:noFill/>
          <a:ln/>
        </p:spPr>
        <p:txBody>
          <a:bodyPr wrap="square" lIns="0" tIns="0" rIns="0" bIns="0" rtlCol="0" anchor="t"/>
          <a:lstStyle/>
          <a:p>
            <a:pPr indent="0" marL="0">
              <a:buNone/>
            </a:pPr>
            <a:r>
              <a:rPr lang="en-US" sz="1150" dirty="0">
                <a:solidFill>
                  <a:srgbClr val="9AA7D0"/>
                </a:solidFill>
                <a:latin typeface="Calibri" pitchFamily="34" charset="0"/>
                <a:ea typeface="Calibri" pitchFamily="34" charset="-122"/>
                <a:cs typeface="Calibri" pitchFamily="34" charset="-120"/>
              </a:rPr>
              <a:t>REST API · PDF, SARIF, CSV, JSON and Markdown export</a:t>
            </a:r>
            <a:endParaRPr lang="en-US" sz="1150" dirty="0"/>
          </a:p>
        </p:txBody>
      </p:sp>
      <p:sp>
        <p:nvSpPr>
          <p:cNvPr id="17" name="Shape 15"/>
          <p:cNvSpPr/>
          <p:nvPr/>
        </p:nvSpPr>
        <p:spPr>
          <a:xfrm>
            <a:off x="5751576" y="1828800"/>
            <a:ext cx="2825496" cy="1513332"/>
          </a:xfrm>
          <a:prstGeom prst="roundRect">
            <a:avLst>
              <a:gd name="adj" fmla="val 7251"/>
            </a:avLst>
          </a:prstGeom>
          <a:solidFill>
            <a:srgbClr val="111A3D"/>
          </a:solidFill>
          <a:ln w="12700">
            <a:solidFill>
              <a:srgbClr val="2A3667"/>
            </a:solidFill>
            <a:prstDash val="solid"/>
          </a:ln>
        </p:spPr>
      </p:sp>
      <p:sp>
        <p:nvSpPr>
          <p:cNvPr id="18" name="Text 16"/>
          <p:cNvSpPr/>
          <p:nvPr/>
        </p:nvSpPr>
        <p:spPr>
          <a:xfrm>
            <a:off x="5971032" y="2066544"/>
            <a:ext cx="2386584" cy="548640"/>
          </a:xfrm>
          <a:prstGeom prst="rect">
            <a:avLst/>
          </a:prstGeom>
          <a:noFill/>
          <a:ln/>
        </p:spPr>
        <p:txBody>
          <a:bodyPr wrap="square" lIns="0" tIns="0" rIns="0" bIns="0" rtlCol="0" anchor="t"/>
          <a:lstStyle/>
          <a:p>
            <a:pPr indent="0" marL="0">
              <a:buNone/>
            </a:pPr>
            <a:r>
              <a:rPr lang="en-US" sz="3000" b="1" dirty="0">
                <a:solidFill>
                  <a:srgbClr val="3BE8B0"/>
                </a:solidFill>
                <a:latin typeface="Calibri" pitchFamily="34" charset="0"/>
                <a:ea typeface="Calibri" pitchFamily="34" charset="-122"/>
                <a:cs typeface="Calibri" pitchFamily="34" charset="-120"/>
              </a:rPr>
              <a:t>32</a:t>
            </a:r>
            <a:endParaRPr lang="en-US" sz="3000" dirty="0"/>
          </a:p>
        </p:txBody>
      </p:sp>
      <p:sp>
        <p:nvSpPr>
          <p:cNvPr id="19" name="Text 17"/>
          <p:cNvSpPr/>
          <p:nvPr/>
        </p:nvSpPr>
        <p:spPr>
          <a:xfrm>
            <a:off x="5971032" y="2670048"/>
            <a:ext cx="2386584" cy="237744"/>
          </a:xfrm>
          <a:prstGeom prst="rect">
            <a:avLst/>
          </a:prstGeom>
          <a:noFill/>
          <a:ln/>
        </p:spPr>
        <p:txBody>
          <a:bodyPr wrap="square" lIns="0" tIns="0" rIns="0" bIns="0" rtlCol="0" anchor="t"/>
          <a:lstStyle/>
          <a:p>
            <a:pPr indent="0" marL="0">
              <a:buNone/>
            </a:pPr>
            <a:r>
              <a:rPr lang="en-US" sz="950" b="1" spc="120" kern="0" dirty="0">
                <a:solidFill>
                  <a:srgbClr val="9AA7D0"/>
                </a:solidFill>
                <a:latin typeface="Calibri" pitchFamily="34" charset="0"/>
                <a:ea typeface="Calibri" pitchFamily="34" charset="-122"/>
                <a:cs typeface="Calibri" pitchFamily="34" charset="-120"/>
              </a:rPr>
              <a:t>TESTS PASSING</a:t>
            </a:r>
            <a:endParaRPr lang="en-US" sz="950" dirty="0"/>
          </a:p>
        </p:txBody>
      </p:sp>
      <p:sp>
        <p:nvSpPr>
          <p:cNvPr id="20" name="Text 18"/>
          <p:cNvSpPr/>
          <p:nvPr/>
        </p:nvSpPr>
        <p:spPr>
          <a:xfrm>
            <a:off x="5971032" y="2926080"/>
            <a:ext cx="2386584" cy="329184"/>
          </a:xfrm>
          <a:prstGeom prst="rect">
            <a:avLst/>
          </a:prstGeom>
          <a:noFill/>
          <a:ln/>
        </p:spPr>
        <p:txBody>
          <a:bodyPr wrap="square" lIns="0" tIns="0" rIns="0" bIns="0" rtlCol="0" anchor="t"/>
          <a:lstStyle/>
          <a:p>
            <a:pPr indent="0" marL="0">
              <a:buNone/>
            </a:pPr>
            <a:r>
              <a:rPr lang="en-US" sz="1050" dirty="0">
                <a:solidFill>
                  <a:srgbClr val="6B7AA8"/>
                </a:solidFill>
                <a:latin typeface="Calibri" pitchFamily="34" charset="0"/>
                <a:ea typeface="Calibri" pitchFamily="34" charset="-122"/>
                <a:cs typeface="Calibri" pitchFamily="34" charset="-120"/>
              </a:rPr>
              <a:t>backend pytest suite, green</a:t>
            </a:r>
            <a:endParaRPr lang="en-US" sz="1050" dirty="0"/>
          </a:p>
        </p:txBody>
      </p:sp>
      <p:sp>
        <p:nvSpPr>
          <p:cNvPr id="21" name="Shape 19"/>
          <p:cNvSpPr/>
          <p:nvPr/>
        </p:nvSpPr>
        <p:spPr>
          <a:xfrm>
            <a:off x="8796528" y="1828800"/>
            <a:ext cx="2825496" cy="1513332"/>
          </a:xfrm>
          <a:prstGeom prst="roundRect">
            <a:avLst>
              <a:gd name="adj" fmla="val 7251"/>
            </a:avLst>
          </a:prstGeom>
          <a:solidFill>
            <a:srgbClr val="111A3D"/>
          </a:solidFill>
          <a:ln w="12700">
            <a:solidFill>
              <a:srgbClr val="2A3667"/>
            </a:solidFill>
            <a:prstDash val="solid"/>
          </a:ln>
        </p:spPr>
      </p:sp>
      <p:sp>
        <p:nvSpPr>
          <p:cNvPr id="22" name="Text 20"/>
          <p:cNvSpPr/>
          <p:nvPr/>
        </p:nvSpPr>
        <p:spPr>
          <a:xfrm>
            <a:off x="9015984" y="2066544"/>
            <a:ext cx="2386584" cy="548640"/>
          </a:xfrm>
          <a:prstGeom prst="rect">
            <a:avLst/>
          </a:prstGeom>
          <a:noFill/>
          <a:ln/>
        </p:spPr>
        <p:txBody>
          <a:bodyPr wrap="square" lIns="0" tIns="0" rIns="0" bIns="0" rtlCol="0" anchor="t"/>
          <a:lstStyle/>
          <a:p>
            <a:pPr indent="0" marL="0">
              <a:buNone/>
            </a:pPr>
            <a:r>
              <a:rPr lang="en-US" sz="3000" b="1" dirty="0">
                <a:solidFill>
                  <a:srgbClr val="4CC9F0"/>
                </a:solidFill>
                <a:latin typeface="Calibri" pitchFamily="34" charset="0"/>
                <a:ea typeface="Calibri" pitchFamily="34" charset="-122"/>
                <a:cs typeface="Calibri" pitchFamily="34" charset="-120"/>
              </a:rPr>
              <a:t>37</a:t>
            </a:r>
            <a:endParaRPr lang="en-US" sz="3000" dirty="0"/>
          </a:p>
        </p:txBody>
      </p:sp>
      <p:sp>
        <p:nvSpPr>
          <p:cNvPr id="23" name="Text 21"/>
          <p:cNvSpPr/>
          <p:nvPr/>
        </p:nvSpPr>
        <p:spPr>
          <a:xfrm>
            <a:off x="9015984" y="2670048"/>
            <a:ext cx="2386584" cy="237744"/>
          </a:xfrm>
          <a:prstGeom prst="rect">
            <a:avLst/>
          </a:prstGeom>
          <a:noFill/>
          <a:ln/>
        </p:spPr>
        <p:txBody>
          <a:bodyPr wrap="square" lIns="0" tIns="0" rIns="0" bIns="0" rtlCol="0" anchor="t"/>
          <a:lstStyle/>
          <a:p>
            <a:pPr indent="0" marL="0">
              <a:buNone/>
            </a:pPr>
            <a:r>
              <a:rPr lang="en-US" sz="950" b="1" spc="120" kern="0" dirty="0">
                <a:solidFill>
                  <a:srgbClr val="9AA7D0"/>
                </a:solidFill>
                <a:latin typeface="Calibri" pitchFamily="34" charset="0"/>
                <a:ea typeface="Calibri" pitchFamily="34" charset="-122"/>
                <a:cs typeface="Calibri" pitchFamily="34" charset="-120"/>
              </a:rPr>
              <a:t>API ENDPOINTS</a:t>
            </a:r>
            <a:endParaRPr lang="en-US" sz="950" dirty="0"/>
          </a:p>
        </p:txBody>
      </p:sp>
      <p:sp>
        <p:nvSpPr>
          <p:cNvPr id="24" name="Text 22"/>
          <p:cNvSpPr/>
          <p:nvPr/>
        </p:nvSpPr>
        <p:spPr>
          <a:xfrm>
            <a:off x="9015984" y="2926080"/>
            <a:ext cx="2386584" cy="329184"/>
          </a:xfrm>
          <a:prstGeom prst="rect">
            <a:avLst/>
          </a:prstGeom>
          <a:noFill/>
          <a:ln/>
        </p:spPr>
        <p:txBody>
          <a:bodyPr wrap="square" lIns="0" tIns="0" rIns="0" bIns="0" rtlCol="0" anchor="t"/>
          <a:lstStyle/>
          <a:p>
            <a:pPr indent="0" marL="0">
              <a:buNone/>
            </a:pPr>
            <a:r>
              <a:rPr lang="en-US" sz="1050" dirty="0">
                <a:solidFill>
                  <a:srgbClr val="6B7AA8"/>
                </a:solidFill>
                <a:latin typeface="Calibri" pitchFamily="34" charset="0"/>
                <a:ea typeface="Calibri" pitchFamily="34" charset="-122"/>
                <a:cs typeface="Calibri" pitchFamily="34" charset="-120"/>
              </a:rPr>
              <a:t>across 11 router modules</a:t>
            </a:r>
            <a:endParaRPr lang="en-US" sz="1050" dirty="0"/>
          </a:p>
        </p:txBody>
      </p:sp>
      <p:sp>
        <p:nvSpPr>
          <p:cNvPr id="25" name="Shape 23"/>
          <p:cNvSpPr/>
          <p:nvPr/>
        </p:nvSpPr>
        <p:spPr>
          <a:xfrm>
            <a:off x="5751576" y="3561588"/>
            <a:ext cx="2825496" cy="1513332"/>
          </a:xfrm>
          <a:prstGeom prst="roundRect">
            <a:avLst>
              <a:gd name="adj" fmla="val 7251"/>
            </a:avLst>
          </a:prstGeom>
          <a:solidFill>
            <a:srgbClr val="111A3D"/>
          </a:solidFill>
          <a:ln w="12700">
            <a:solidFill>
              <a:srgbClr val="2A3667"/>
            </a:solidFill>
            <a:prstDash val="solid"/>
          </a:ln>
        </p:spPr>
      </p:sp>
      <p:sp>
        <p:nvSpPr>
          <p:cNvPr id="26" name="Text 24"/>
          <p:cNvSpPr/>
          <p:nvPr/>
        </p:nvSpPr>
        <p:spPr>
          <a:xfrm>
            <a:off x="5971032" y="3799332"/>
            <a:ext cx="2386584" cy="548640"/>
          </a:xfrm>
          <a:prstGeom prst="rect">
            <a:avLst/>
          </a:prstGeom>
          <a:noFill/>
          <a:ln/>
        </p:spPr>
        <p:txBody>
          <a:bodyPr wrap="square" lIns="0" tIns="0" rIns="0" bIns="0" rtlCol="0" anchor="t"/>
          <a:lstStyle/>
          <a:p>
            <a:pPr indent="0" marL="0">
              <a:buNone/>
            </a:pPr>
            <a:r>
              <a:rPr lang="en-US" sz="3000" b="1" dirty="0">
                <a:solidFill>
                  <a:srgbClr val="9B8CFA"/>
                </a:solidFill>
                <a:latin typeface="Calibri" pitchFamily="34" charset="0"/>
                <a:ea typeface="Calibri" pitchFamily="34" charset="-122"/>
                <a:cs typeface="Calibri" pitchFamily="34" charset="-120"/>
              </a:rPr>
              <a:t>62 → 23</a:t>
            </a:r>
            <a:endParaRPr lang="en-US" sz="3000" dirty="0"/>
          </a:p>
        </p:txBody>
      </p:sp>
      <p:sp>
        <p:nvSpPr>
          <p:cNvPr id="27" name="Text 25"/>
          <p:cNvSpPr/>
          <p:nvPr/>
        </p:nvSpPr>
        <p:spPr>
          <a:xfrm>
            <a:off x="5971032" y="4402836"/>
            <a:ext cx="2386584" cy="237744"/>
          </a:xfrm>
          <a:prstGeom prst="rect">
            <a:avLst/>
          </a:prstGeom>
          <a:noFill/>
          <a:ln/>
        </p:spPr>
        <p:txBody>
          <a:bodyPr wrap="square" lIns="0" tIns="0" rIns="0" bIns="0" rtlCol="0" anchor="t"/>
          <a:lstStyle/>
          <a:p>
            <a:pPr indent="0" marL="0">
              <a:buNone/>
            </a:pPr>
            <a:r>
              <a:rPr lang="en-US" sz="950" b="1" spc="120" kern="0" dirty="0">
                <a:solidFill>
                  <a:srgbClr val="9AA7D0"/>
                </a:solidFill>
                <a:latin typeface="Calibri" pitchFamily="34" charset="0"/>
                <a:ea typeface="Calibri" pitchFamily="34" charset="-122"/>
                <a:cs typeface="Calibri" pitchFamily="34" charset="-120"/>
              </a:rPr>
              <a:t>LIVE GITHUB REPO SCAN</a:t>
            </a:r>
            <a:endParaRPr lang="en-US" sz="950" dirty="0"/>
          </a:p>
        </p:txBody>
      </p:sp>
      <p:sp>
        <p:nvSpPr>
          <p:cNvPr id="28" name="Text 26"/>
          <p:cNvSpPr/>
          <p:nvPr/>
        </p:nvSpPr>
        <p:spPr>
          <a:xfrm>
            <a:off x="5971032" y="4658868"/>
            <a:ext cx="2386584" cy="329184"/>
          </a:xfrm>
          <a:prstGeom prst="rect">
            <a:avLst/>
          </a:prstGeom>
          <a:noFill/>
          <a:ln/>
        </p:spPr>
        <p:txBody>
          <a:bodyPr wrap="square" lIns="0" tIns="0" rIns="0" bIns="0" rtlCol="0" anchor="t"/>
          <a:lstStyle/>
          <a:p>
            <a:pPr indent="0" marL="0">
              <a:buNone/>
            </a:pPr>
            <a:r>
              <a:rPr lang="en-US" sz="1050" dirty="0">
                <a:solidFill>
                  <a:srgbClr val="6B7AA8"/>
                </a:solidFill>
                <a:latin typeface="Calibri" pitchFamily="34" charset="0"/>
                <a:ea typeface="Calibri" pitchFamily="34" charset="-122"/>
                <a:cs typeface="Calibri" pitchFamily="34" charset="-120"/>
              </a:rPr>
              <a:t>files scanned → findings, on pyjwt</a:t>
            </a:r>
            <a:endParaRPr lang="en-US" sz="1050" dirty="0"/>
          </a:p>
        </p:txBody>
      </p:sp>
      <p:sp>
        <p:nvSpPr>
          <p:cNvPr id="29" name="Shape 27"/>
          <p:cNvSpPr/>
          <p:nvPr/>
        </p:nvSpPr>
        <p:spPr>
          <a:xfrm>
            <a:off x="8796528" y="3561588"/>
            <a:ext cx="2825496" cy="1513332"/>
          </a:xfrm>
          <a:prstGeom prst="roundRect">
            <a:avLst>
              <a:gd name="adj" fmla="val 7251"/>
            </a:avLst>
          </a:prstGeom>
          <a:solidFill>
            <a:srgbClr val="111A3D"/>
          </a:solidFill>
          <a:ln w="12700">
            <a:solidFill>
              <a:srgbClr val="2A3667"/>
            </a:solidFill>
            <a:prstDash val="solid"/>
          </a:ln>
        </p:spPr>
      </p:sp>
      <p:sp>
        <p:nvSpPr>
          <p:cNvPr id="30" name="Text 28"/>
          <p:cNvSpPr/>
          <p:nvPr/>
        </p:nvSpPr>
        <p:spPr>
          <a:xfrm>
            <a:off x="9015984" y="3799332"/>
            <a:ext cx="2386584" cy="548640"/>
          </a:xfrm>
          <a:prstGeom prst="rect">
            <a:avLst/>
          </a:prstGeom>
          <a:noFill/>
          <a:ln/>
        </p:spPr>
        <p:txBody>
          <a:bodyPr wrap="square" lIns="0" tIns="0" rIns="0" bIns="0" rtlCol="0" anchor="t"/>
          <a:lstStyle/>
          <a:p>
            <a:pPr indent="0" marL="0">
              <a:buNone/>
            </a:pPr>
            <a:r>
              <a:rPr lang="en-US" sz="3000" b="1" dirty="0">
                <a:solidFill>
                  <a:srgbClr val="FFB547"/>
                </a:solidFill>
                <a:latin typeface="Calibri" pitchFamily="34" charset="0"/>
                <a:ea typeface="Calibri" pitchFamily="34" charset="-122"/>
                <a:cs typeface="Calibri" pitchFamily="34" charset="-120"/>
              </a:rPr>
              <a:t>0</a:t>
            </a:r>
            <a:endParaRPr lang="en-US" sz="3000" dirty="0"/>
          </a:p>
        </p:txBody>
      </p:sp>
      <p:sp>
        <p:nvSpPr>
          <p:cNvPr id="31" name="Text 29"/>
          <p:cNvSpPr/>
          <p:nvPr/>
        </p:nvSpPr>
        <p:spPr>
          <a:xfrm>
            <a:off x="9015984" y="4402836"/>
            <a:ext cx="2386584" cy="237744"/>
          </a:xfrm>
          <a:prstGeom prst="rect">
            <a:avLst/>
          </a:prstGeom>
          <a:noFill/>
          <a:ln/>
        </p:spPr>
        <p:txBody>
          <a:bodyPr wrap="square" lIns="0" tIns="0" rIns="0" bIns="0" rtlCol="0" anchor="t"/>
          <a:lstStyle/>
          <a:p>
            <a:pPr indent="0" marL="0">
              <a:buNone/>
            </a:pPr>
            <a:r>
              <a:rPr lang="en-US" sz="950" b="1" spc="120" kern="0" dirty="0">
                <a:solidFill>
                  <a:srgbClr val="9AA7D0"/>
                </a:solidFill>
                <a:latin typeface="Calibri" pitchFamily="34" charset="0"/>
                <a:ea typeface="Calibri" pitchFamily="34" charset="-122"/>
                <a:cs typeface="Calibri" pitchFamily="34" charset="-120"/>
              </a:rPr>
              <a:t>EXTERNAL API KEYS</a:t>
            </a:r>
            <a:endParaRPr lang="en-US" sz="950" dirty="0"/>
          </a:p>
        </p:txBody>
      </p:sp>
      <p:sp>
        <p:nvSpPr>
          <p:cNvPr id="32" name="Text 30"/>
          <p:cNvSpPr/>
          <p:nvPr/>
        </p:nvSpPr>
        <p:spPr>
          <a:xfrm>
            <a:off x="9015984" y="4658868"/>
            <a:ext cx="2386584" cy="329184"/>
          </a:xfrm>
          <a:prstGeom prst="rect">
            <a:avLst/>
          </a:prstGeom>
          <a:noFill/>
          <a:ln/>
        </p:spPr>
        <p:txBody>
          <a:bodyPr wrap="square" lIns="0" tIns="0" rIns="0" bIns="0" rtlCol="0" anchor="t"/>
          <a:lstStyle/>
          <a:p>
            <a:pPr indent="0" marL="0">
              <a:buNone/>
            </a:pPr>
            <a:r>
              <a:rPr lang="en-US" sz="1050" dirty="0">
                <a:solidFill>
                  <a:srgbClr val="6B7AA8"/>
                </a:solidFill>
                <a:latin typeface="Calibri" pitchFamily="34" charset="0"/>
                <a:ea typeface="Calibri" pitchFamily="34" charset="-122"/>
                <a:cs typeface="Calibri" pitchFamily="34" charset="-120"/>
              </a:rPr>
              <a:t>the AI advisor runs fully offline</a:t>
            </a:r>
            <a:endParaRPr lang="en-US" sz="1050" dirty="0"/>
          </a:p>
        </p:txBody>
      </p:sp>
      <p:sp>
        <p:nvSpPr>
          <p:cNvPr id="33" name="Shape 31"/>
          <p:cNvSpPr/>
          <p:nvPr/>
        </p:nvSpPr>
        <p:spPr>
          <a:xfrm>
            <a:off x="566928" y="5312664"/>
            <a:ext cx="11055096" cy="786384"/>
          </a:xfrm>
          <a:prstGeom prst="roundRect">
            <a:avLst>
              <a:gd name="adj" fmla="val 13953"/>
            </a:avLst>
          </a:prstGeom>
          <a:solidFill>
            <a:srgbClr val="17224C"/>
          </a:solidFill>
          <a:ln w="12700">
            <a:solidFill>
              <a:srgbClr val="2A3667"/>
            </a:solidFill>
            <a:prstDash val="solid"/>
          </a:ln>
        </p:spPr>
      </p:sp>
      <p:sp>
        <p:nvSpPr>
          <p:cNvPr id="34" name="Text 32"/>
          <p:cNvSpPr/>
          <p:nvPr/>
        </p:nvSpPr>
        <p:spPr>
          <a:xfrm>
            <a:off x="841248" y="5312664"/>
            <a:ext cx="10506456" cy="786384"/>
          </a:xfrm>
          <a:prstGeom prst="rect">
            <a:avLst/>
          </a:prstGeom>
          <a:noFill/>
          <a:ln/>
        </p:spPr>
        <p:txBody>
          <a:bodyPr wrap="square" lIns="0" tIns="0" rIns="0" bIns="0" rtlCol="0" anchor="ctr"/>
          <a:lstStyle/>
          <a:p>
            <a:pPr indent="0" marL="0">
              <a:buNone/>
            </a:pPr>
            <a:r>
              <a:rPr lang="en-US" sz="1250" dirty="0">
                <a:solidFill>
                  <a:srgbClr val="9AA7D0"/>
                </a:solidFill>
                <a:latin typeface="Calibri" pitchFamily="34" charset="0"/>
                <a:ea typeface="Calibri" pitchFamily="34" charset="-122"/>
                <a:cs typeface="Calibri" pitchFamily="34" charset="-120"/>
              </a:rPr>
              <a:t>Point it at a public GitHub URL and it clones, scans and scores the repository — with an SSRF guard that blocks internal and metadata addresses.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C24"/>
        </a:solidFill>
      </p:bgPr>
    </p:bg>
    <p:spTree>
      <p:nvGrpSpPr>
        <p:cNvPr id="1" name=""/>
        <p:cNvGrpSpPr/>
        <p:nvPr/>
      </p:nvGrpSpPr>
      <p:grpSpPr>
        <a:xfrm>
          <a:off x="0" y="0"/>
          <a:ext cx="0" cy="0"/>
          <a:chOff x="0" y="0"/>
          <a:chExt cx="0" cy="0"/>
        </a:xfrm>
      </p:grpSpPr>
      <p:sp>
        <p:nvSpPr>
          <p:cNvPr id="2" name="Text 0"/>
          <p:cNvSpPr/>
          <p:nvPr/>
        </p:nvSpPr>
        <p:spPr>
          <a:xfrm>
            <a:off x="566928" y="457200"/>
            <a:ext cx="11055096" cy="219456"/>
          </a:xfrm>
          <a:prstGeom prst="rect">
            <a:avLst/>
          </a:prstGeom>
          <a:noFill/>
          <a:ln/>
        </p:spPr>
        <p:txBody>
          <a:bodyPr wrap="square" lIns="0" tIns="0" rIns="0" bIns="0" rtlCol="0" anchor="ctr"/>
          <a:lstStyle/>
          <a:p>
            <a:pPr indent="0" marL="0">
              <a:buNone/>
            </a:pPr>
            <a:r>
              <a:rPr lang="en-US" sz="1100" b="1" spc="260" kern="0" dirty="0">
                <a:solidFill>
                  <a:srgbClr val="3BE8B0"/>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566928" y="713232"/>
            <a:ext cx="11055096"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Where QuantumShield goes next</a:t>
            </a:r>
            <a:endParaRPr lang="en-US" sz="3200" dirty="0"/>
          </a:p>
        </p:txBody>
      </p:sp>
      <p:sp>
        <p:nvSpPr>
          <p:cNvPr id="4" name="Text 2"/>
          <p:cNvSpPr/>
          <p:nvPr/>
        </p:nvSpPr>
        <p:spPr>
          <a:xfrm>
            <a:off x="566928" y="1298448"/>
            <a:ext cx="10689336" cy="310896"/>
          </a:xfrm>
          <a:prstGeom prst="rect">
            <a:avLst/>
          </a:prstGeom>
          <a:noFill/>
          <a:ln/>
        </p:spPr>
        <p:txBody>
          <a:bodyPr wrap="square" lIns="0" tIns="0" rIns="0" bIns="0" rtlCol="0" anchor="ctr"/>
          <a:lstStyle/>
          <a:p>
            <a:pPr indent="0" marL="0">
              <a:buNone/>
            </a:pPr>
            <a:r>
              <a:rPr lang="en-US" sz="1400" dirty="0">
                <a:solidFill>
                  <a:srgbClr val="9AA7D0"/>
                </a:solidFill>
                <a:latin typeface="Calibri" pitchFamily="34" charset="0"/>
                <a:ea typeface="Calibri" pitchFamily="34" charset="-122"/>
                <a:cs typeface="Calibri" pitchFamily="34" charset="-120"/>
              </a:rPr>
              <a:t>The vertical slice is complete and running. These are the deliberate next increments.</a:t>
            </a:r>
            <a:endParaRPr lang="en-US" sz="1400" dirty="0"/>
          </a:p>
        </p:txBody>
      </p:sp>
      <p:sp>
        <p:nvSpPr>
          <p:cNvPr id="5" name="Text 3"/>
          <p:cNvSpPr/>
          <p:nvPr/>
        </p:nvSpPr>
        <p:spPr>
          <a:xfrm>
            <a:off x="566928" y="6382512"/>
            <a:ext cx="5486400" cy="256032"/>
          </a:xfrm>
          <a:prstGeom prst="rect">
            <a:avLst/>
          </a:prstGeom>
          <a:noFill/>
          <a:ln/>
        </p:spPr>
        <p:txBody>
          <a:bodyPr wrap="square" lIns="0" tIns="0" rIns="0" bIns="0" rtlCol="0" anchor="ctr"/>
          <a:lstStyle/>
          <a:p>
            <a:pPr indent="0" marL="0">
              <a:buNone/>
            </a:pPr>
            <a:r>
              <a:rPr lang="en-US" sz="900" dirty="0">
                <a:solidFill>
                  <a:srgbClr val="6B7AA8"/>
                </a:solidFill>
                <a:latin typeface="Calibri" pitchFamily="34" charset="0"/>
                <a:ea typeface="Calibri" pitchFamily="34" charset="-122"/>
                <a:cs typeface="Calibri" pitchFamily="34" charset="-120"/>
              </a:rPr>
              <a:t>QuantumShield  ·  QUANT-A-THAN 2026</a:t>
            </a:r>
            <a:endParaRPr lang="en-US" sz="900" dirty="0"/>
          </a:p>
        </p:txBody>
      </p:sp>
      <p:sp>
        <p:nvSpPr>
          <p:cNvPr id="6" name="Text 4"/>
          <p:cNvSpPr/>
          <p:nvPr/>
        </p:nvSpPr>
        <p:spPr>
          <a:xfrm>
            <a:off x="10707624" y="6382512"/>
            <a:ext cx="914400" cy="256032"/>
          </a:xfrm>
          <a:prstGeom prst="rect">
            <a:avLst/>
          </a:prstGeom>
          <a:noFill/>
          <a:ln/>
        </p:spPr>
        <p:txBody>
          <a:bodyPr wrap="square" lIns="0" tIns="0" rIns="0" bIns="0" rtlCol="0" anchor="ctr"/>
          <a:lstStyle/>
          <a:p>
            <a:pPr algn="r" indent="0" marL="0">
              <a:buNone/>
            </a:pPr>
            <a:r>
              <a:rPr lang="en-US" sz="900" dirty="0">
                <a:solidFill>
                  <a:srgbClr val="6B7AA8"/>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566928" y="1920240"/>
            <a:ext cx="2578608" cy="2606040"/>
          </a:xfrm>
          <a:prstGeom prst="roundRect">
            <a:avLst>
              <a:gd name="adj" fmla="val 4255"/>
            </a:avLst>
          </a:prstGeom>
          <a:solidFill>
            <a:srgbClr val="111A3D"/>
          </a:solidFill>
          <a:ln w="12700">
            <a:solidFill>
              <a:srgbClr val="2A3667"/>
            </a:solidFill>
            <a:prstDash val="solid"/>
          </a:ln>
        </p:spPr>
      </p:sp>
      <p:sp>
        <p:nvSpPr>
          <p:cNvPr id="8" name="Text 6"/>
          <p:cNvSpPr/>
          <p:nvPr/>
        </p:nvSpPr>
        <p:spPr>
          <a:xfrm>
            <a:off x="786384" y="2157984"/>
            <a:ext cx="402336" cy="402336"/>
          </a:xfrm>
          <a:prstGeom prst="ellipse">
            <a:avLst/>
          </a:prstGeom>
          <a:solidFill>
            <a:srgbClr val="3BE8B0"/>
          </a:solidFill>
          <a:ln>
            <a:solidFill>
              <a:srgbClr val="3BE8B0"/>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86384" y="2706624"/>
            <a:ext cx="2139696" cy="34747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Broader AST coverage</a:t>
            </a:r>
            <a:endParaRPr lang="en-US" sz="1500" dirty="0"/>
          </a:p>
        </p:txBody>
      </p:sp>
      <p:sp>
        <p:nvSpPr>
          <p:cNvPr id="10" name="Text 8"/>
          <p:cNvSpPr/>
          <p:nvPr/>
        </p:nvSpPr>
        <p:spPr>
          <a:xfrm>
            <a:off x="786384" y="3127248"/>
            <a:ext cx="2139696" cy="1234440"/>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Extend true AST analysis and taint tracking from Python to JavaScript, Java and Go, with call-graph reachability.</a:t>
            </a:r>
            <a:endParaRPr lang="en-US" sz="1100" dirty="0"/>
          </a:p>
        </p:txBody>
      </p:sp>
      <p:sp>
        <p:nvSpPr>
          <p:cNvPr id="11" name="Shape 9"/>
          <p:cNvSpPr/>
          <p:nvPr/>
        </p:nvSpPr>
        <p:spPr>
          <a:xfrm>
            <a:off x="3392424" y="1920240"/>
            <a:ext cx="2578608" cy="2606040"/>
          </a:xfrm>
          <a:prstGeom prst="roundRect">
            <a:avLst>
              <a:gd name="adj" fmla="val 4255"/>
            </a:avLst>
          </a:prstGeom>
          <a:solidFill>
            <a:srgbClr val="111A3D"/>
          </a:solidFill>
          <a:ln w="12700">
            <a:solidFill>
              <a:srgbClr val="2A3667"/>
            </a:solidFill>
            <a:prstDash val="solid"/>
          </a:ln>
        </p:spPr>
      </p:sp>
      <p:sp>
        <p:nvSpPr>
          <p:cNvPr id="12" name="Text 10"/>
          <p:cNvSpPr/>
          <p:nvPr/>
        </p:nvSpPr>
        <p:spPr>
          <a:xfrm>
            <a:off x="3611880" y="2157984"/>
            <a:ext cx="402336" cy="402336"/>
          </a:xfrm>
          <a:prstGeom prst="ellipse">
            <a:avLst/>
          </a:prstGeom>
          <a:solidFill>
            <a:srgbClr val="4CC9F0"/>
          </a:solidFill>
          <a:ln>
            <a:solidFill>
              <a:srgbClr val="4CC9F0"/>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611880" y="2706624"/>
            <a:ext cx="2139696" cy="34747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Continuous assurance</a:t>
            </a:r>
            <a:endParaRPr lang="en-US" sz="1500" dirty="0"/>
          </a:p>
        </p:txBody>
      </p:sp>
      <p:sp>
        <p:nvSpPr>
          <p:cNvPr id="14" name="Text 12"/>
          <p:cNvSpPr/>
          <p:nvPr/>
        </p:nvSpPr>
        <p:spPr>
          <a:xfrm>
            <a:off x="3611880" y="3127248"/>
            <a:ext cx="2139696" cy="1234440"/>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CI/CD gating that fails a build on new quantum-vulnerable crypto, plus scheduled re-scans and drift alerts.</a:t>
            </a:r>
            <a:endParaRPr lang="en-US" sz="1100" dirty="0"/>
          </a:p>
        </p:txBody>
      </p:sp>
      <p:sp>
        <p:nvSpPr>
          <p:cNvPr id="15" name="Shape 13"/>
          <p:cNvSpPr/>
          <p:nvPr/>
        </p:nvSpPr>
        <p:spPr>
          <a:xfrm>
            <a:off x="6217920" y="1920240"/>
            <a:ext cx="2578608" cy="2606040"/>
          </a:xfrm>
          <a:prstGeom prst="roundRect">
            <a:avLst>
              <a:gd name="adj" fmla="val 4255"/>
            </a:avLst>
          </a:prstGeom>
          <a:solidFill>
            <a:srgbClr val="111A3D"/>
          </a:solidFill>
          <a:ln w="12700">
            <a:solidFill>
              <a:srgbClr val="2A3667"/>
            </a:solidFill>
            <a:prstDash val="solid"/>
          </a:ln>
        </p:spPr>
      </p:sp>
      <p:sp>
        <p:nvSpPr>
          <p:cNvPr id="16" name="Text 14"/>
          <p:cNvSpPr/>
          <p:nvPr/>
        </p:nvSpPr>
        <p:spPr>
          <a:xfrm>
            <a:off x="6437376" y="2157984"/>
            <a:ext cx="402336" cy="402336"/>
          </a:xfrm>
          <a:prstGeom prst="ellipse">
            <a:avLst/>
          </a:prstGeom>
          <a:solidFill>
            <a:srgbClr val="9B8CFA"/>
          </a:solidFill>
          <a:ln>
            <a:solidFill>
              <a:srgbClr val="9B8CFA"/>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437376" y="2706624"/>
            <a:ext cx="2139696" cy="34747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Infrastructure discovery</a:t>
            </a:r>
            <a:endParaRPr lang="en-US" sz="1500" dirty="0"/>
          </a:p>
        </p:txBody>
      </p:sp>
      <p:sp>
        <p:nvSpPr>
          <p:cNvPr id="18" name="Text 16"/>
          <p:cNvSpPr/>
          <p:nvPr/>
        </p:nvSpPr>
        <p:spPr>
          <a:xfrm>
            <a:off x="6437376" y="3127248"/>
            <a:ext cx="2139696" cy="1234440"/>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Live TLS endpoint scanning, Kubernetes and cloud KMS inventory — crypto in transit, not only crypto in code.</a:t>
            </a:r>
            <a:endParaRPr lang="en-US" sz="1100" dirty="0"/>
          </a:p>
        </p:txBody>
      </p:sp>
      <p:sp>
        <p:nvSpPr>
          <p:cNvPr id="19" name="Shape 17"/>
          <p:cNvSpPr/>
          <p:nvPr/>
        </p:nvSpPr>
        <p:spPr>
          <a:xfrm>
            <a:off x="9043416" y="1920240"/>
            <a:ext cx="2578608" cy="2606040"/>
          </a:xfrm>
          <a:prstGeom prst="roundRect">
            <a:avLst>
              <a:gd name="adj" fmla="val 4255"/>
            </a:avLst>
          </a:prstGeom>
          <a:solidFill>
            <a:srgbClr val="111A3D"/>
          </a:solidFill>
          <a:ln w="12700">
            <a:solidFill>
              <a:srgbClr val="2A3667"/>
            </a:solidFill>
            <a:prstDash val="solid"/>
          </a:ln>
        </p:spPr>
      </p:sp>
      <p:sp>
        <p:nvSpPr>
          <p:cNvPr id="20" name="Text 18"/>
          <p:cNvSpPr/>
          <p:nvPr/>
        </p:nvSpPr>
        <p:spPr>
          <a:xfrm>
            <a:off x="9262872" y="2157984"/>
            <a:ext cx="402336" cy="402336"/>
          </a:xfrm>
          <a:prstGeom prst="ellipse">
            <a:avLst/>
          </a:prstGeom>
          <a:solidFill>
            <a:srgbClr val="FFB547"/>
          </a:solidFill>
          <a:ln>
            <a:solidFill>
              <a:srgbClr val="FFB547"/>
            </a:solidFill>
          </a:ln>
        </p:spPr>
        <p:txBody>
          <a:bodyPr wrap="square" lIns="0" tIns="0" rIns="0" bIns="0" rtlCol="0" anchor="ctr"/>
          <a:lstStyle/>
          <a:p>
            <a:pPr algn="ctr" indent="0" marL="0">
              <a:buNone/>
            </a:pPr>
            <a:r>
              <a:rPr lang="en-US" sz="1300" b="1" dirty="0">
                <a:solidFill>
                  <a:srgbClr val="070C24"/>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9262872" y="2706624"/>
            <a:ext cx="2139696" cy="34747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Enterprise deployment</a:t>
            </a:r>
            <a:endParaRPr lang="en-US" sz="1500" dirty="0"/>
          </a:p>
        </p:txBody>
      </p:sp>
      <p:sp>
        <p:nvSpPr>
          <p:cNvPr id="22" name="Text 20"/>
          <p:cNvSpPr/>
          <p:nvPr/>
        </p:nvSpPr>
        <p:spPr>
          <a:xfrm>
            <a:off x="9262872" y="3127248"/>
            <a:ext cx="2139696" cy="1234440"/>
          </a:xfrm>
          <a:prstGeom prst="rect">
            <a:avLst/>
          </a:prstGeom>
          <a:noFill/>
          <a:ln/>
        </p:spPr>
        <p:txBody>
          <a:bodyPr wrap="square" lIns="0" tIns="0" rIns="0" bIns="0" rtlCol="0" anchor="t"/>
          <a:lstStyle/>
          <a:p>
            <a:pPr indent="0" marL="0">
              <a:buNone/>
            </a:pPr>
            <a:r>
              <a:rPr lang="en-US" sz="1100" dirty="0">
                <a:solidFill>
                  <a:srgbClr val="9AA7D0"/>
                </a:solidFill>
                <a:latin typeface="Calibri" pitchFamily="34" charset="0"/>
                <a:ea typeface="Calibri" pitchFamily="34" charset="-122"/>
                <a:cs typeface="Calibri" pitchFamily="34" charset="-120"/>
              </a:rPr>
              <a:t>Postgres and Redis, SSO with RBAC, multi-tenant projects, and containerized deployment with observability.</a:t>
            </a:r>
            <a:endParaRPr lang="en-US" sz="1100" dirty="0"/>
          </a:p>
        </p:txBody>
      </p:sp>
      <p:sp>
        <p:nvSpPr>
          <p:cNvPr id="23" name="Shape 21"/>
          <p:cNvSpPr/>
          <p:nvPr/>
        </p:nvSpPr>
        <p:spPr>
          <a:xfrm>
            <a:off x="566928" y="4837176"/>
            <a:ext cx="11055096" cy="896112"/>
          </a:xfrm>
          <a:prstGeom prst="roundRect">
            <a:avLst>
              <a:gd name="adj" fmla="val 12245"/>
            </a:avLst>
          </a:prstGeom>
          <a:solidFill>
            <a:srgbClr val="17224C"/>
          </a:solidFill>
          <a:ln w="12700">
            <a:solidFill>
              <a:srgbClr val="3BE8B0"/>
            </a:solidFill>
            <a:prstDash val="solid"/>
          </a:ln>
        </p:spPr>
      </p:sp>
      <p:sp>
        <p:nvSpPr>
          <p:cNvPr id="24" name="Text 22"/>
          <p:cNvSpPr/>
          <p:nvPr/>
        </p:nvSpPr>
        <p:spPr>
          <a:xfrm>
            <a:off x="841248" y="4837176"/>
            <a:ext cx="10506456" cy="8961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Aligned with NIST PQC  ·  CNSA 2.0  ·  India's National Quantum Mission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C24"/>
        </a:solidFill>
      </p:bgPr>
    </p:bg>
    <p:spTree>
      <p:nvGrpSpPr>
        <p:cNvPr id="1" name=""/>
        <p:cNvGrpSpPr/>
        <p:nvPr/>
      </p:nvGrpSpPr>
      <p:grpSpPr>
        <a:xfrm>
          <a:off x="0" y="0"/>
          <a:ext cx="0" cy="0"/>
          <a:chOff x="0" y="0"/>
          <a:chExt cx="0" cy="0"/>
        </a:xfrm>
      </p:grpSpPr>
      <p:sp>
        <p:nvSpPr>
          <p:cNvPr id="2" name="Shape 0"/>
          <p:cNvSpPr/>
          <p:nvPr/>
        </p:nvSpPr>
        <p:spPr>
          <a:xfrm>
            <a:off x="7680960" y="2583180"/>
            <a:ext cx="3840480" cy="1417320"/>
          </a:xfrm>
          <a:prstGeom prst="ellipse">
            <a:avLst/>
          </a:prstGeom>
          <a:ln w="19050">
            <a:solidFill>
              <a:srgbClr val="4CC9F0">
                <a:alpha val="55000"/>
              </a:srgbClr>
            </a:solidFill>
            <a:prstDash val="solid"/>
          </a:ln>
        </p:spPr>
      </p:sp>
      <p:sp>
        <p:nvSpPr>
          <p:cNvPr id="3" name="Shape 1"/>
          <p:cNvSpPr/>
          <p:nvPr/>
        </p:nvSpPr>
        <p:spPr>
          <a:xfrm rot="3600000">
            <a:off x="7680960" y="2583180"/>
            <a:ext cx="3840480" cy="1417320"/>
          </a:xfrm>
          <a:prstGeom prst="ellipse">
            <a:avLst/>
          </a:prstGeom>
          <a:ln w="19050">
            <a:solidFill>
              <a:srgbClr val="9B8CFA">
                <a:alpha val="55000"/>
              </a:srgbClr>
            </a:solidFill>
            <a:prstDash val="solid"/>
          </a:ln>
        </p:spPr>
      </p:sp>
      <p:sp>
        <p:nvSpPr>
          <p:cNvPr id="4" name="Shape 2"/>
          <p:cNvSpPr/>
          <p:nvPr/>
        </p:nvSpPr>
        <p:spPr>
          <a:xfrm rot="7200000">
            <a:off x="7680960" y="2583180"/>
            <a:ext cx="3840480" cy="1417320"/>
          </a:xfrm>
          <a:prstGeom prst="ellipse">
            <a:avLst/>
          </a:prstGeom>
          <a:ln w="19050">
            <a:solidFill>
              <a:srgbClr val="3BE8B0">
                <a:alpha val="55000"/>
              </a:srgbClr>
            </a:solidFill>
            <a:prstDash val="solid"/>
          </a:ln>
        </p:spPr>
      </p:sp>
      <p:sp>
        <p:nvSpPr>
          <p:cNvPr id="5" name="Shape 3"/>
          <p:cNvSpPr/>
          <p:nvPr/>
        </p:nvSpPr>
        <p:spPr>
          <a:xfrm>
            <a:off x="9445752" y="3136392"/>
            <a:ext cx="310896" cy="310896"/>
          </a:xfrm>
          <a:prstGeom prst="ellipse">
            <a:avLst/>
          </a:prstGeom>
          <a:solidFill>
            <a:srgbClr val="3BE8B0"/>
          </a:solidFill>
          <a:ln w="12700">
            <a:solidFill>
              <a:srgbClr val="3BE8B0"/>
            </a:solidFill>
            <a:prstDash val="solid"/>
          </a:ln>
        </p:spPr>
      </p:sp>
      <p:sp>
        <p:nvSpPr>
          <p:cNvPr id="6" name="Text 4"/>
          <p:cNvSpPr/>
          <p:nvPr/>
        </p:nvSpPr>
        <p:spPr>
          <a:xfrm>
            <a:off x="795528" y="2011680"/>
            <a:ext cx="6858000" cy="274320"/>
          </a:xfrm>
          <a:prstGeom prst="rect">
            <a:avLst/>
          </a:prstGeom>
          <a:noFill/>
          <a:ln/>
        </p:spPr>
        <p:txBody>
          <a:bodyPr wrap="square" lIns="0" tIns="0" rIns="0" bIns="0" rtlCol="0" anchor="ctr"/>
          <a:lstStyle/>
          <a:p>
            <a:pPr indent="0" marL="0">
              <a:buNone/>
            </a:pPr>
            <a:r>
              <a:rPr lang="en-US" sz="1150" b="1" spc="260" kern="0" dirty="0">
                <a:solidFill>
                  <a:srgbClr val="3BE8B0"/>
                </a:solidFill>
                <a:latin typeface="Calibri" pitchFamily="34" charset="0"/>
                <a:ea typeface="Calibri" pitchFamily="34" charset="-122"/>
                <a:cs typeface="Calibri" pitchFamily="34" charset="-120"/>
              </a:rPr>
              <a:t>THANK YOU</a:t>
            </a:r>
            <a:endParaRPr lang="en-US" sz="1150" dirty="0"/>
          </a:p>
        </p:txBody>
      </p:sp>
      <p:sp>
        <p:nvSpPr>
          <p:cNvPr id="7" name="Text 5"/>
          <p:cNvSpPr/>
          <p:nvPr/>
        </p:nvSpPr>
        <p:spPr>
          <a:xfrm>
            <a:off x="768096" y="2359152"/>
            <a:ext cx="6949440" cy="841248"/>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QuantumShield</a:t>
            </a:r>
            <a:endParaRPr lang="en-US" sz="4600" dirty="0"/>
          </a:p>
        </p:txBody>
      </p:sp>
      <p:sp>
        <p:nvSpPr>
          <p:cNvPr id="8" name="Text 6"/>
          <p:cNvSpPr/>
          <p:nvPr/>
        </p:nvSpPr>
        <p:spPr>
          <a:xfrm>
            <a:off x="795528" y="3255264"/>
            <a:ext cx="6583680" cy="566928"/>
          </a:xfrm>
          <a:prstGeom prst="rect">
            <a:avLst/>
          </a:prstGeom>
          <a:noFill/>
          <a:ln/>
        </p:spPr>
        <p:txBody>
          <a:bodyPr wrap="square" lIns="0" tIns="0" rIns="0" bIns="0" rtlCol="0" anchor="t"/>
          <a:lstStyle/>
          <a:p>
            <a:pPr indent="0" marL="0">
              <a:buNone/>
            </a:pPr>
            <a:r>
              <a:rPr lang="en-US" sz="1700" dirty="0">
                <a:solidFill>
                  <a:srgbClr val="9AA7D0"/>
                </a:solidFill>
                <a:latin typeface="Calibri" pitchFamily="34" charset="0"/>
                <a:ea typeface="Calibri" pitchFamily="34" charset="-122"/>
                <a:cs typeface="Calibri" pitchFamily="34" charset="-120"/>
              </a:rPr>
              <a:t>Making organizations quantum-safe — before the adversary's clock runs out.</a:t>
            </a:r>
            <a:endParaRPr lang="en-US" sz="1700" dirty="0"/>
          </a:p>
        </p:txBody>
      </p:sp>
      <p:sp>
        <p:nvSpPr>
          <p:cNvPr id="9" name="Text 7"/>
          <p:cNvSpPr/>
          <p:nvPr/>
        </p:nvSpPr>
        <p:spPr>
          <a:xfrm>
            <a:off x="795528" y="4041648"/>
            <a:ext cx="1207008" cy="402336"/>
          </a:xfrm>
          <a:prstGeom prst="roundRect">
            <a:avLst>
              <a:gd name="adj" fmla="val 15909"/>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b="1" dirty="0">
                <a:solidFill>
                  <a:srgbClr val="4CC9F0"/>
                </a:solidFill>
                <a:latin typeface="Calibri" pitchFamily="34" charset="0"/>
                <a:ea typeface="Calibri" pitchFamily="34" charset="-122"/>
                <a:cs typeface="Calibri" pitchFamily="34" charset="-120"/>
              </a:rPr>
              <a:t>Discover</a:t>
            </a:r>
            <a:endParaRPr lang="en-US" sz="1050" dirty="0"/>
          </a:p>
        </p:txBody>
      </p:sp>
      <p:sp>
        <p:nvSpPr>
          <p:cNvPr id="10" name="Text 8"/>
          <p:cNvSpPr/>
          <p:nvPr/>
        </p:nvSpPr>
        <p:spPr>
          <a:xfrm>
            <a:off x="2130552" y="4041648"/>
            <a:ext cx="1207008" cy="402336"/>
          </a:xfrm>
          <a:prstGeom prst="roundRect">
            <a:avLst>
              <a:gd name="adj" fmla="val 15909"/>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b="1" dirty="0">
                <a:solidFill>
                  <a:srgbClr val="4CC9F0"/>
                </a:solidFill>
                <a:latin typeface="Calibri" pitchFamily="34" charset="0"/>
                <a:ea typeface="Calibri" pitchFamily="34" charset="-122"/>
                <a:cs typeface="Calibri" pitchFamily="34" charset="-120"/>
              </a:rPr>
              <a:t>Assess</a:t>
            </a:r>
            <a:endParaRPr lang="en-US" sz="1050" dirty="0"/>
          </a:p>
        </p:txBody>
      </p:sp>
      <p:sp>
        <p:nvSpPr>
          <p:cNvPr id="11" name="Text 9"/>
          <p:cNvSpPr/>
          <p:nvPr/>
        </p:nvSpPr>
        <p:spPr>
          <a:xfrm>
            <a:off x="3465576" y="4041648"/>
            <a:ext cx="1207008" cy="402336"/>
          </a:xfrm>
          <a:prstGeom prst="roundRect">
            <a:avLst>
              <a:gd name="adj" fmla="val 15909"/>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b="1" dirty="0">
                <a:solidFill>
                  <a:srgbClr val="4CC9F0"/>
                </a:solidFill>
                <a:latin typeface="Calibri" pitchFamily="34" charset="0"/>
                <a:ea typeface="Calibri" pitchFamily="34" charset="-122"/>
                <a:cs typeface="Calibri" pitchFamily="34" charset="-120"/>
              </a:rPr>
              <a:t>Simulate</a:t>
            </a:r>
            <a:endParaRPr lang="en-US" sz="1050" dirty="0"/>
          </a:p>
        </p:txBody>
      </p:sp>
      <p:sp>
        <p:nvSpPr>
          <p:cNvPr id="12" name="Text 10"/>
          <p:cNvSpPr/>
          <p:nvPr/>
        </p:nvSpPr>
        <p:spPr>
          <a:xfrm>
            <a:off x="4800600" y="4041648"/>
            <a:ext cx="1207008" cy="402336"/>
          </a:xfrm>
          <a:prstGeom prst="roundRect">
            <a:avLst>
              <a:gd name="adj" fmla="val 15909"/>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b="1" dirty="0">
                <a:solidFill>
                  <a:srgbClr val="4CC9F0"/>
                </a:solidFill>
                <a:latin typeface="Calibri" pitchFamily="34" charset="0"/>
                <a:ea typeface="Calibri" pitchFamily="34" charset="-122"/>
                <a:cs typeface="Calibri" pitchFamily="34" charset="-120"/>
              </a:rPr>
              <a:t>Plan</a:t>
            </a:r>
            <a:endParaRPr lang="en-US" sz="1050" dirty="0"/>
          </a:p>
        </p:txBody>
      </p:sp>
      <p:sp>
        <p:nvSpPr>
          <p:cNvPr id="13" name="Text 11"/>
          <p:cNvSpPr/>
          <p:nvPr/>
        </p:nvSpPr>
        <p:spPr>
          <a:xfrm>
            <a:off x="6135624" y="4041648"/>
            <a:ext cx="1207008" cy="402336"/>
          </a:xfrm>
          <a:prstGeom prst="roundRect">
            <a:avLst>
              <a:gd name="adj" fmla="val 15909"/>
            </a:avLst>
          </a:prstGeom>
          <a:solidFill>
            <a:srgbClr val="17224C"/>
          </a:solidFill>
          <a:ln w="12700">
            <a:solidFill>
              <a:srgbClr val="2A3667"/>
            </a:solidFill>
          </a:ln>
        </p:spPr>
        <p:txBody>
          <a:bodyPr wrap="square" lIns="38100" tIns="38100" rIns="38100" bIns="38100" rtlCol="0" anchor="ctr"/>
          <a:lstStyle/>
          <a:p>
            <a:pPr algn="ctr" indent="0" marL="0">
              <a:buNone/>
            </a:pPr>
            <a:r>
              <a:rPr lang="en-US" sz="1050" b="1" dirty="0">
                <a:solidFill>
                  <a:srgbClr val="4CC9F0"/>
                </a:solidFill>
                <a:latin typeface="Calibri" pitchFamily="34" charset="0"/>
                <a:ea typeface="Calibri" pitchFamily="34" charset="-122"/>
                <a:cs typeface="Calibri" pitchFamily="34" charset="-120"/>
              </a:rPr>
              <a:t>Prove</a:t>
            </a:r>
            <a:endParaRPr lang="en-US" sz="1050" dirty="0"/>
          </a:p>
        </p:txBody>
      </p:sp>
      <p:sp>
        <p:nvSpPr>
          <p:cNvPr id="14" name="Text 12"/>
          <p:cNvSpPr/>
          <p:nvPr/>
        </p:nvSpPr>
        <p:spPr>
          <a:xfrm>
            <a:off x="795528" y="5029200"/>
            <a:ext cx="6858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Your Name ]   ·   [ Institution / Organization ]</a:t>
            </a:r>
            <a:endParaRPr lang="en-US" sz="1300" dirty="0"/>
          </a:p>
        </p:txBody>
      </p:sp>
      <p:sp>
        <p:nvSpPr>
          <p:cNvPr id="15" name="Text 13"/>
          <p:cNvSpPr/>
          <p:nvPr/>
        </p:nvSpPr>
        <p:spPr>
          <a:xfrm>
            <a:off x="795528" y="6053328"/>
            <a:ext cx="10515600" cy="274320"/>
          </a:xfrm>
          <a:prstGeom prst="rect">
            <a:avLst/>
          </a:prstGeom>
          <a:noFill/>
          <a:ln/>
        </p:spPr>
        <p:txBody>
          <a:bodyPr wrap="square" lIns="0" tIns="0" rIns="0" bIns="0" rtlCol="0" anchor="ctr"/>
          <a:lstStyle/>
          <a:p>
            <a:pPr indent="0" marL="0">
              <a:buNone/>
            </a:pPr>
            <a:r>
              <a:rPr lang="en-US" sz="1000" dirty="0">
                <a:solidFill>
                  <a:srgbClr val="6B7AA8"/>
                </a:solidFill>
                <a:latin typeface="Calibri" pitchFamily="34" charset="0"/>
                <a:ea typeface="Calibri" pitchFamily="34" charset="-122"/>
                <a:cs typeface="Calibri" pitchFamily="34" charset="-120"/>
              </a:rPr>
              <a:t>RIT  ·  QUANT-A-THAN 2026  ·  National Quantum Mission  ·  Samgnya Technologies Foundation  ·  IBM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QuantumShield — Quantum-Safe Cryptography Platform</dc:title>
  <dc:subject>PptxGenJS Presentation</dc:subject>
  <dc:creator>QuantumShield</dc:creator>
  <cp:lastModifiedBy>QuantumShield</cp:lastModifiedBy>
  <cp:revision>1</cp:revision>
  <dcterms:created xsi:type="dcterms:W3CDTF">2026-07-24T18:18:43Z</dcterms:created>
  <dcterms:modified xsi:type="dcterms:W3CDTF">2026-07-24T18:18:43Z</dcterms:modified>
</cp:coreProperties>
</file>