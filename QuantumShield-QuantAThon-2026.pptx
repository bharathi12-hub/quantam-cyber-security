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reduction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Quick wins</c:v>
                  </c:pt>
                  <c:pt idx="1">
                    <c:v>P2 Key exch.</c:v>
                  </c:pt>
                  <c:pt idx="2">
                    <c:v>P3 Signatures</c:v>
                  </c:pt>
                  <c:pt idx="3">
                    <c:v>P4 Harden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25</c:v>
                </c:pt>
                <c:pt idx="2">
                  <c:v>17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QuantumShield: a post-quantum cryptography migration platform built for QUANT-A-THAN 2026. Replace the name/institution placeholders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Quantum computers break the public-key crypto behind nearly all secure communication. Harvest-now-decrypt-later means the risk is present-tense. The core gap: organizations have no inventory of their cryptographic assets, so they can't act on NIST's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Methodology. Five stages: Discover (multi-language AST + certs + dependencies + repo-by-URL), Assess (quantum-threat classification + weighted risk), Simulate (migration impact), Plan (phased roadmap), Prove (compliance). All wired to real backend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Innovation. The differentiators: quantum-threat-aware classification, AST + data-flow taint (not regex), a complete discover-to-compliance lifecycle in one product, simulation grounded in real FIPS sizes, an offline AI advisor that writes secure code, and compliance-as-code across 8 frameworks.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Outcomes. Organizations get a complete cryptographic inventory, a quantifiable quantum-risk posture, a prioritized and costed migration roadmap, and audit-ready compliance evidence. Numbers are from the working platform's demo scan and a live GitHub repo scan. Directly supports NIST PQC and the National Quantum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QuantumShield turns an invisible, urgent problem into a managed, auditable migration.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554480"/>
            <a:ext cx="3108960" cy="310896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920240"/>
            <a:ext cx="2377440" cy="2377440"/>
          </a:xfrm>
          <a:prstGeom prst="ellipse">
            <a:avLst/>
          </a:prstGeom>
          <a:solidFill>
            <a:srgbClr val="4F46E5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2286000"/>
            <a:ext cx="1645920" cy="1645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258775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338328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4"/>
          <p:cNvSpPr/>
          <p:nvPr/>
        </p:nvSpPr>
        <p:spPr>
          <a:xfrm>
            <a:off x="8458200" y="214884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Shape 5"/>
          <p:cNvSpPr/>
          <p:nvPr/>
        </p:nvSpPr>
        <p:spPr>
          <a:xfrm>
            <a:off x="8138160" y="416052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658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QUANT-A-THAN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024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pPr indent="0" marL="0">
              <a:buNone/>
            </a:pPr>
            <a:r>
              <a:rPr lang="en-US" sz="5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658368" y="2697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for quantum-safe cryptography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migration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post-quantum cryptography discovery, risk, simulation &amp; migration platform.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4709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58368" y="5468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Institution / Organization ]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" y="6263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association with   RIT  ·  National Quantum Mission  ·  Samgnya Technologies Foundation  ·  IBM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66928" cy="566928"/>
          </a:xfrm>
          <a:prstGeom prst="ellipse">
            <a:avLst/>
          </a:prstGeom>
          <a:solidFill>
            <a:srgbClr val="E07B39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72016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53619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breaks public-key crypto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16736" y="1865376"/>
            <a:ext cx="4306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RSA, ECC, ECDH and DSA — securing virtually all TLS, VPNs, PKI and code-signing — fall to a cryptographically relevant quantum computer.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15184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62585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78608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“Harvest now, decrypt later”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16736" y="2907792"/>
            <a:ext cx="4306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record encrypted data today to decrypt once quantum hardware matures. Anything with a long confidentiality lifetime is already exposed.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80500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621024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is invisible &amp; unmanaged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16736" y="3950208"/>
            <a:ext cx="4306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is scattered across source code, certificates, dependencies, configs and infrastructure — with no inventory of what exists or where.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700016"/>
            <a:ext cx="566928" cy="566928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847417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66344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standardized PQC — now what?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16736" y="4992624"/>
            <a:ext cx="4306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203/204/205 and CNSA 2.0 set the destination and the deadline, but organizations cannot migrate what they cannot see.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897880" y="1572768"/>
            <a:ext cx="2743200" cy="416052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95160" y="1874520"/>
            <a:ext cx="548640" cy="548640"/>
          </a:xfrm>
          <a:prstGeom prst="ellipse">
            <a:avLst/>
          </a:prstGeom>
          <a:solidFill>
            <a:srgbClr val="E07B39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806" y="2017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2648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migrate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can't see.</a:t>
            </a:r>
            <a:endParaRPr lang="en-US" sz="2100" dirty="0"/>
          </a:p>
        </p:txBody>
      </p:sp>
      <p:sp>
        <p:nvSpPr>
          <p:cNvPr id="24" name="Shape 17"/>
          <p:cNvSpPr/>
          <p:nvPr/>
        </p:nvSpPr>
        <p:spPr>
          <a:xfrm>
            <a:off x="6446520" y="3611880"/>
            <a:ext cx="16459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172200" y="3794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≈100%</a:t>
            </a:r>
            <a:endParaRPr lang="en-US" sz="3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today's public-key cryptography is quantum-vulnerable</a:t>
            </a:r>
            <a:endParaRPr lang="en-US" sz="3000" dirty="0"/>
          </a:p>
        </p:txBody>
      </p:sp>
      <p:sp>
        <p:nvSpPr>
          <p:cNvPr id="26" name="Text 19"/>
          <p:cNvSpPr/>
          <p:nvPr/>
        </p:nvSpPr>
        <p:spPr>
          <a:xfrm>
            <a:off x="617220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deadline is set by the adversary — not the calendar.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8" name="Text 21"/>
          <p:cNvSpPr/>
          <p:nvPr/>
        </p:nvSpPr>
        <p:spPr>
          <a:xfrm>
            <a:off x="274320" y="65288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 ·  QUANT-A-THAN 2026  ·  Innovate · Build · Transform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26480" y="6528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QuantumShield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48840" y="2240280"/>
            <a:ext cx="731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94760" y="2240280"/>
            <a:ext cx="731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40680" y="2240280"/>
            <a:ext cx="731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086600" y="2240280"/>
            <a:ext cx="731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234440" y="17830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202082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assets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80360" y="1783080"/>
            <a:ext cx="914400" cy="91440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20208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Assess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51460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risk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26280" y="1783080"/>
            <a:ext cx="914400" cy="914400"/>
          </a:xfrm>
          <a:prstGeom prst="ellipse">
            <a:avLst/>
          </a:prstGeom>
          <a:solidFill>
            <a:srgbClr val="E07B39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202082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06240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Simulate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16052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impact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72200" y="1783080"/>
            <a:ext cx="914400" cy="91440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202082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80644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818120" y="1783080"/>
            <a:ext cx="914400" cy="9144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202082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0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Prove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45236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3703320"/>
            <a:ext cx="4023360" cy="2148840"/>
          </a:xfrm>
          <a:prstGeom prst="roundRect">
            <a:avLst>
              <a:gd name="adj" fmla="val 3830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77240" y="38679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discover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777240" y="4270248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14400" y="42702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13 languages + IaC / CI / config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77240" y="4727448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14400" y="47274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 + data-flow taint tracking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77240" y="5184648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14400" y="51846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certificates · dependencies · SBOM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754880" y="3703320"/>
            <a:ext cx="3840480" cy="2148840"/>
          </a:xfrm>
          <a:prstGeom prst="roundRect">
            <a:avLst>
              <a:gd name="adj" fmla="val 3830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4983480" y="3867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act</a:t>
            </a:r>
            <a:endParaRPr lang="en-US" sz="1350" dirty="0"/>
          </a:p>
        </p:txBody>
      </p:sp>
      <p:sp>
        <p:nvSpPr>
          <p:cNvPr id="38" name="Shape 31"/>
          <p:cNvSpPr/>
          <p:nvPr/>
        </p:nvSpPr>
        <p:spPr>
          <a:xfrm>
            <a:off x="4983480" y="4270248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120640" y="42702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PQC → ML-KEM / ML-DSA / SLH-DSA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4983480" y="4727448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120640" y="47274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 scoring · roadmap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983480" y="5184648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120640" y="51846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· reports (PDF / SARIF / CSV)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repo by URL or paste code → modular FastAPI engines → real-time SOC-style dashboard.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6" name="Text 39"/>
          <p:cNvSpPr/>
          <p:nvPr/>
        </p:nvSpPr>
        <p:spPr>
          <a:xfrm>
            <a:off x="274320" y="65288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 ·  QUANT-A-THAN 2026  ·  Innovate · Build · Transform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6126480" y="6528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QuantumShield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24328" cy="1572768"/>
          </a:xfrm>
          <a:prstGeom prst="roundRect">
            <a:avLst>
              <a:gd name="adj" fmla="val 523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493776" cy="493776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1865742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0428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Quantum-threat-aware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596896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each finding: Shor-broken, Grover-weakened, or classically weak.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24328" cy="1572768"/>
          </a:xfrm>
          <a:prstGeom prst="roundRect">
            <a:avLst>
              <a:gd name="adj" fmla="val 5233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737360"/>
            <a:ext cx="493776" cy="493776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90" y="1865742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30428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regex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3008" y="2596896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+ data-flow taint traces a hardcoded key to its crypto sink.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624328" cy="1572768"/>
          </a:xfrm>
          <a:prstGeom prst="roundRect">
            <a:avLst>
              <a:gd name="adj" fmla="val 52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1737360"/>
            <a:ext cx="493776" cy="493776"/>
          </a:xfrm>
          <a:prstGeom prst="ellipse">
            <a:avLst/>
          </a:prstGeom>
          <a:solidFill>
            <a:srgbClr val="E07B39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90" y="1865742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30428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36208" y="2596896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simulate → plan → prove. Most tools only detect.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328416"/>
            <a:ext cx="2624328" cy="1572768"/>
          </a:xfrm>
          <a:prstGeom prst="roundRect">
            <a:avLst>
              <a:gd name="adj" fmla="val 52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511296"/>
            <a:ext cx="493776" cy="493776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3639678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0782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simulation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4370832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modeled from real FIPS 203/204/205 algorithm sizes.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91840" y="3328416"/>
            <a:ext cx="2624328" cy="1572768"/>
          </a:xfrm>
          <a:prstGeom prst="roundRect">
            <a:avLst>
              <a:gd name="adj" fmla="val 5233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3511296"/>
            <a:ext cx="493776" cy="493776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390" y="3639678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93008" y="40782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advisor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493008" y="4370832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secure-replacement code. Zero API keys, no data leaves.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35040" y="3328416"/>
            <a:ext cx="2624328" cy="1572768"/>
          </a:xfrm>
          <a:prstGeom prst="roundRect">
            <a:avLst>
              <a:gd name="adj" fmla="val 523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3511296"/>
            <a:ext cx="493776" cy="493776"/>
          </a:xfrm>
          <a:prstGeom prst="ellipse">
            <a:avLst/>
          </a:prstGeom>
          <a:solidFill>
            <a:srgbClr val="E07B39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590" y="3639678"/>
            <a:ext cx="237012" cy="237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36208" y="40782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Compliance-as-code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36208" y="4370832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Auto-maps findings to 8 frameworks (NIST, PCI, ISO, SOC 2, CIS).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48640" y="5138928"/>
            <a:ext cx="8046720" cy="658368"/>
          </a:xfrm>
          <a:prstGeom prst="roundRect">
            <a:avLst>
              <a:gd name="adj" fmla="val 12500"/>
            </a:avLst>
          </a:prstGeom>
          <a:solidFill>
            <a:srgbClr val="0B1020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266944"/>
            <a:ext cx="402336" cy="402336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47" y="5371551"/>
            <a:ext cx="193121" cy="19312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25880" y="51389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detection to a costed, auditable, executable migration plan — automatically.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9" name="Text 30"/>
          <p:cNvSpPr/>
          <p:nvPr/>
        </p:nvSpPr>
        <p:spPr>
          <a:xfrm>
            <a:off x="274320" y="65288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 ·  QUANT-A-THAN 2026  ·  Innovate · Build · Transform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6126480" y="6528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QuantumShield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190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across a demo estate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79192" y="157276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43784" y="17190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843784" y="22860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 mapped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0906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13232" y="36576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 · 47 person-days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79192" y="294436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43784" y="30906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843784" y="36576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 scan — 62 files, 23 findings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by migration phase</a:t>
            </a:r>
            <a:endParaRPr lang="en-US" sz="13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54880" y="1874520"/>
          <a:ext cx="3886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480560"/>
            <a:ext cx="2624328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4681728"/>
            <a:ext cx="457200" cy="4572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00600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98448" y="466344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crypto asset inventory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49808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key, cert, algorithm and dependency — discovered and searchable.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91840" y="4480560"/>
            <a:ext cx="2624328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493008" y="4681728"/>
            <a:ext cx="457200" cy="45720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480060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041648" y="466344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costed roadmap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493008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plan with effort, timeline, rollback and risk-reduction.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035040" y="4480560"/>
            <a:ext cx="2624328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36208" y="4681728"/>
            <a:ext cx="457200" cy="457200"/>
          </a:xfrm>
          <a:prstGeom prst="ellipse">
            <a:avLst/>
          </a:prstGeom>
          <a:solidFill>
            <a:srgbClr val="E07B39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800600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84848" y="466344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compliance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236208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mapped to NIST, PCI DSS, ISO 27001, SOC 2 &amp; more.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5943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</a:t>
            </a:r>
            <a:pPr algn="ctr" indent="0" marL="0">
              <a:buNone/>
            </a:pPr>
            <a:r>
              <a:rPr lang="en-US" sz="12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PQC · CNSA 2.0 · India's National Quantum Mission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0" y="6528816"/>
            <a:ext cx="9144000" cy="32918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5" name="Text 29"/>
          <p:cNvSpPr/>
          <p:nvPr/>
        </p:nvSpPr>
        <p:spPr>
          <a:xfrm>
            <a:off x="274320" y="65288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 ·  QUANT-A-THAN 2026  ·  Innovate · Build · Transform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126480" y="6528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QuantumShield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463040"/>
            <a:ext cx="2926080" cy="2926080"/>
          </a:xfrm>
          <a:prstGeom prst="ellipse">
            <a:avLst/>
          </a:prstGeom>
          <a:solidFill>
            <a:srgbClr val="4F46E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4754880"/>
            <a:ext cx="2743200" cy="27432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23444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B102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14721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pPr algn="ctr" indent="0" marL="0">
              <a:buNone/>
            </a:pPr>
            <a:r>
              <a:rPr lang="en-US" sz="16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6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pPr algn="ctr" indent="0" marL="0">
              <a:buNone/>
            </a:pPr>
            <a:r>
              <a:rPr lang="en-US" sz="16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pPr algn="ctr"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organizations quantum-safe — before the adversary's clock runs out.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 ·   [ Institution / Organization 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 ·  QUANT-A-THAN 2026  ·  National Quantum Mission  ·  Samgnya Technologies Foundation  ·  IBM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QuantumShield — QUANT-A-THAN 2026</dc:title>
  <dc:subject>PptxGenJS Presentation</dc:subject>
  <dc:creator>QuantumShield</dc:creator>
  <cp:lastModifiedBy>QuantumShield</cp:lastModifiedBy>
  <cp:revision>1</cp:revision>
  <dcterms:created xsi:type="dcterms:W3CDTF">2026-07-10T10:49:08Z</dcterms:created>
  <dcterms:modified xsi:type="dcterms:W3CDTF">2026-07-10T10:49:08Z</dcterms:modified>
</cp:coreProperties>
</file>